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1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72" r:id="rId9"/>
    <p:sldId id="271" r:id="rId10"/>
    <p:sldId id="264" r:id="rId11"/>
    <p:sldId id="301" r:id="rId12"/>
    <p:sldId id="267" r:id="rId13"/>
    <p:sldId id="268" r:id="rId14"/>
    <p:sldId id="269" r:id="rId15"/>
    <p:sldId id="303" r:id="rId16"/>
    <p:sldId id="270" r:id="rId17"/>
    <p:sldId id="308" r:id="rId18"/>
    <p:sldId id="304" r:id="rId19"/>
    <p:sldId id="309" r:id="rId2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4D6C75"/>
    <a:srgbClr val="DC2C3E"/>
    <a:srgbClr val="FBF8EF"/>
    <a:srgbClr val="B32131"/>
    <a:srgbClr val="003A4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6283" autoAdjust="0"/>
  </p:normalViewPr>
  <p:slideViewPr>
    <p:cSldViewPr snapToGrid="0">
      <p:cViewPr varScale="1">
        <p:scale>
          <a:sx n="112" d="100"/>
          <a:sy n="112" d="100"/>
        </p:scale>
        <p:origin x="552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4D9E173-1D9B-48B5-ADEA-8BF14241128E}" type="datetimeFigureOut">
              <a:rPr lang="en-GB" smtClean="0"/>
              <a:t>07/09/2026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7B4653C-1341-4758-8C45-3E46C5713BF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06088206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7B4653C-1341-4758-8C45-3E46C5713BF4}" type="slidenum">
              <a:rPr lang="en-GB" smtClean="0"/>
              <a:t>4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11666800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5F21394-ADFF-9232-F18A-FAFEB7DC82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7FDD780-07ED-3A15-3B35-30C2DA06193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B210501-9E68-3301-67D8-48FC1B78DF9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9075037-8EA2-122E-6AEA-E523BA32CCD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7B4653C-1341-4758-8C45-3E46C5713BF4}" type="slidenum">
              <a:rPr lang="en-GB" smtClean="0"/>
              <a:t>11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6122505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5E74D8-0C88-BDE4-0D29-094D2ED4212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296338D-F5A4-C007-8484-249A239245D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89C9B00-EDBD-E99D-00C2-AF291FD346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12352C-EDB6-42BC-B92C-3B12F65A37B4}" type="datetimeFigureOut">
              <a:rPr lang="en-GB" smtClean="0"/>
              <a:t>07/09/2026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C917BD9-61D1-55F4-7DA3-000A050DE5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7B99AB4-EA85-A4D3-6E8D-2A61EC9CC1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DE9B46-9803-44DB-AB3C-37CD573ECE9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2615543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6BAD34-384B-A6D4-016E-D95C19749F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D964F2F-4634-42C9-B1E6-B24C4906EDD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18231E4-0F64-8E8C-A4ED-4933CA6440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12352C-EDB6-42BC-B92C-3B12F65A37B4}" type="datetimeFigureOut">
              <a:rPr lang="en-GB" smtClean="0"/>
              <a:t>07/09/2026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6EB1228-87F2-2D47-3F49-922E4319FE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C1C5446-9A63-6CC3-8844-76BD81EF4B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DE9B46-9803-44DB-AB3C-37CD573ECE9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11786420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7B5676-BE44-1477-A1A9-F5F5EB88279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1292725-E8D1-218D-CD51-59658266CED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7130692-0213-4DA2-312B-9F4635A6020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12352C-EDB6-42BC-B92C-3B12F65A37B4}" type="datetimeFigureOut">
              <a:rPr lang="en-GB" smtClean="0"/>
              <a:t>07/09/2026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E2C8A31-87CF-07AB-591B-F88773B5B3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E2EC2BB-68C4-71EB-61D7-1CFCE77801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DE9B46-9803-44DB-AB3C-37CD573ECE9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17214611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CB88D5-C72A-7E08-E6FD-C3AD41D6C4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9809726-5A3E-ED60-E46D-A3B9ACAB39A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34EE990-23B6-3B3C-CD2C-0B5EF03CDC0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D7D81EE-11E5-C1F0-DFCF-5755477678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12352C-EDB6-42BC-B92C-3B12F65A37B4}" type="datetimeFigureOut">
              <a:rPr lang="en-GB" smtClean="0"/>
              <a:t>07/09/2026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B56D8BF-CEA6-136C-CA11-B12F9877CD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743EB43-5F9E-0192-6CAF-A4C9CC701E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DE9B46-9803-44DB-AB3C-37CD573ECE9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7264781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6F70FA-3FB5-BDFC-3343-FD17F196DC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294FC8B-1AB4-B37C-7671-CFF950E049A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D651923-918C-308F-A9F1-6362F3C219D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C8BD487-0624-F440-3901-887A27A3184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31F81FD-3811-A38B-9467-D3049D0DCC9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6805F40-88A3-8C62-2523-4E13FD617F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12352C-EDB6-42BC-B92C-3B12F65A37B4}" type="datetimeFigureOut">
              <a:rPr lang="en-GB" smtClean="0"/>
              <a:t>07/09/2026</a:t>
            </a:fld>
            <a:endParaRPr lang="en-GB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A4E623C-2598-891B-0E33-C40791ED5D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D2D2A64-5B18-F086-9499-81CBABB3A6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DE9B46-9803-44DB-AB3C-37CD573ECE9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8215198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C3CA02-7849-B889-0D59-7219842A3B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C6D67A0-7CAD-DF1E-E6AC-DB8926DA2C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12352C-EDB6-42BC-B92C-3B12F65A37B4}" type="datetimeFigureOut">
              <a:rPr lang="en-GB" smtClean="0"/>
              <a:t>07/09/2026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6321BC9-3BAF-E9EF-E7E6-49AFE23AAD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4466524-416A-A70A-8641-DA552EED7E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DE9B46-9803-44DB-AB3C-37CD573ECE9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26439978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08F138C8-8794-AE19-236C-CE845F74E4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12352C-EDB6-42BC-B92C-3B12F65A37B4}" type="datetimeFigureOut">
              <a:rPr lang="en-GB" smtClean="0"/>
              <a:t>07/09/2026</a:t>
            </a:fld>
            <a:endParaRPr lang="en-GB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77E5C21-93D7-84B1-3EC7-E1464CAA14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45A540A-5CF2-EF55-A2BB-6C142B2608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DE9B46-9803-44DB-AB3C-37CD573ECE9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10395114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CF6549-8EC7-3EE3-BCA6-95218817D63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A84D40E-BE07-31A4-79D7-30A208DB7B0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0D37D3B-DF43-03D7-CEB6-697D38190EA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094273E-C48F-08EA-A87B-569BB74750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12352C-EDB6-42BC-B92C-3B12F65A37B4}" type="datetimeFigureOut">
              <a:rPr lang="en-GB" smtClean="0"/>
              <a:t>07/09/2026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8D1C34A-116E-1D44-1E3F-C31B6B3066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00AB09F-1EF5-5210-78DD-648FE91360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DE9B46-9803-44DB-AB3C-37CD573ECE9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05620634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E5BAC9-67BC-F55A-5081-2035B7338B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D1871C5C-532E-33CE-75AA-32E1A0C011A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305EB0D-E0D4-2B29-9816-1D619F0996C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02C697D-10AD-0826-08CE-1E075C6D4E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12352C-EDB6-42BC-B92C-3B12F65A37B4}" type="datetimeFigureOut">
              <a:rPr lang="en-GB" smtClean="0"/>
              <a:t>07/09/2026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6FCC138-5C53-7FF0-C662-EC2CE29DC2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62C298A-6256-E3EA-5F87-763A1A59F4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DE9B46-9803-44DB-AB3C-37CD573ECE9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22706212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000DAE-F969-B26B-DDF6-D14A062951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585C4C2-978C-D624-5327-D7E050402FE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C60BAFE-46E2-7285-3F8D-18EF341740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12352C-EDB6-42BC-B92C-3B12F65A37B4}" type="datetimeFigureOut">
              <a:rPr lang="en-GB" smtClean="0"/>
              <a:t>07/09/2026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F6225D3-EAEF-782D-30AE-E2E9961CAA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C187718-AD05-FFC5-9FFA-9E755D0267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DE9B46-9803-44DB-AB3C-37CD573ECE9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59208423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7382B8D8-F50F-73DB-4D25-01C1C7E84D9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F1C56A6-6925-C3BF-CBD6-351F2C1C814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9E5C34C-E5ED-6222-2A07-0928E9C0F9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12352C-EDB6-42BC-B92C-3B12F65A37B4}" type="datetimeFigureOut">
              <a:rPr lang="en-GB" smtClean="0"/>
              <a:t>07/09/2026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E8C1211-44C4-1486-92CE-85F094E939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9C79890-1298-AD6A-C905-048FD5BFF0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DE9B46-9803-44DB-AB3C-37CD573ECE9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2236239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475CACE-3AD1-5AF4-026B-2E7A30210A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198ECBD-8ADC-5EF8-2ED4-23D09B3C627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EBF4ABD-519E-CEAB-6DA8-2F1FC796AFF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912352C-EDB6-42BC-B92C-3B12F65A37B4}" type="datetimeFigureOut">
              <a:rPr lang="en-GB" smtClean="0"/>
              <a:t>07/09/2026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3DCA9BD-5E7B-426C-AD7E-100F72C3949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0F993FA-B8C9-AD0D-5706-22B40A78671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2DE9B46-9803-44DB-AB3C-37CD573ECE9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22339162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2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0.png"/><Relationship Id="rId4" Type="http://schemas.openxmlformats.org/officeDocument/2006/relationships/image" Target="../media/image19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27.png"/><Relationship Id="rId3" Type="http://schemas.openxmlformats.org/officeDocument/2006/relationships/image" Target="../media/image22.png"/><Relationship Id="rId7" Type="http://schemas.openxmlformats.org/officeDocument/2006/relationships/image" Target="../media/image26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5.png"/><Relationship Id="rId5" Type="http://schemas.openxmlformats.org/officeDocument/2006/relationships/image" Target="../media/image24.png"/><Relationship Id="rId4" Type="http://schemas.openxmlformats.org/officeDocument/2006/relationships/image" Target="../media/image23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9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3.png"/><Relationship Id="rId5" Type="http://schemas.openxmlformats.org/officeDocument/2006/relationships/image" Target="../media/image32.png"/><Relationship Id="rId4" Type="http://schemas.openxmlformats.org/officeDocument/2006/relationships/image" Target="../media/image31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8.png"/><Relationship Id="rId4" Type="http://schemas.openxmlformats.org/officeDocument/2006/relationships/image" Target="../media/image37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png"/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3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5.png"/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6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8.png"/><Relationship Id="rId2" Type="http://schemas.openxmlformats.org/officeDocument/2006/relationships/image" Target="../media/image47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0.png"/><Relationship Id="rId4" Type="http://schemas.openxmlformats.org/officeDocument/2006/relationships/image" Target="../media/image49.png"/></Relationships>
</file>

<file path=ppt/slides/_rels/slide18.xml.rels><?xml version="1.0" encoding="UTF-8" standalone="yes"?>
<Relationships xmlns="http://schemas.openxmlformats.org/package/2006/relationships"><Relationship Id="rId8" Type="http://schemas.openxmlformats.org/officeDocument/2006/relationships/image" Target="../media/image54.png"/><Relationship Id="rId3" Type="http://schemas.openxmlformats.org/officeDocument/2006/relationships/image" Target="../media/image52.png"/><Relationship Id="rId7" Type="http://schemas.openxmlformats.org/officeDocument/2006/relationships/image" Target="../media/image46.png"/><Relationship Id="rId2" Type="http://schemas.openxmlformats.org/officeDocument/2006/relationships/image" Target="../media/image5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5.png"/><Relationship Id="rId11" Type="http://schemas.openxmlformats.org/officeDocument/2006/relationships/image" Target="../media/image57.png"/><Relationship Id="rId5" Type="http://schemas.openxmlformats.org/officeDocument/2006/relationships/image" Target="../media/image44.png"/><Relationship Id="rId10" Type="http://schemas.openxmlformats.org/officeDocument/2006/relationships/image" Target="../media/image56.png"/><Relationship Id="rId4" Type="http://schemas.openxmlformats.org/officeDocument/2006/relationships/image" Target="../media/image53.png"/><Relationship Id="rId9" Type="http://schemas.openxmlformats.org/officeDocument/2006/relationships/image" Target="../media/image55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9.png"/><Relationship Id="rId2" Type="http://schemas.openxmlformats.org/officeDocument/2006/relationships/image" Target="../media/image58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arallelogram 7">
            <a:extLst>
              <a:ext uri="{FF2B5EF4-FFF2-40B4-BE49-F238E27FC236}">
                <a16:creationId xmlns:a16="http://schemas.microsoft.com/office/drawing/2014/main" id="{BBFDA8F6-22EF-130D-6E45-BEC36D70865C}"/>
              </a:ext>
            </a:extLst>
          </p:cNvPr>
          <p:cNvSpPr/>
          <p:nvPr/>
        </p:nvSpPr>
        <p:spPr>
          <a:xfrm>
            <a:off x="-2797630" y="0"/>
            <a:ext cx="8492411" cy="6858000"/>
          </a:xfrm>
          <a:prstGeom prst="parallelogram">
            <a:avLst>
              <a:gd name="adj" fmla="val 40492"/>
            </a:avLst>
          </a:prstGeom>
          <a:solidFill>
            <a:srgbClr val="FBF8E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7" name="Parallelogram 6">
            <a:extLst>
              <a:ext uri="{FF2B5EF4-FFF2-40B4-BE49-F238E27FC236}">
                <a16:creationId xmlns:a16="http://schemas.microsoft.com/office/drawing/2014/main" id="{44DCF8FF-3F49-EB1B-C10C-E8FCF77CA37F}"/>
              </a:ext>
            </a:extLst>
          </p:cNvPr>
          <p:cNvSpPr/>
          <p:nvPr/>
        </p:nvSpPr>
        <p:spPr>
          <a:xfrm>
            <a:off x="120321" y="0"/>
            <a:ext cx="8492411" cy="6858000"/>
          </a:xfrm>
          <a:prstGeom prst="parallelogram">
            <a:avLst>
              <a:gd name="adj" fmla="val 35866"/>
            </a:avLst>
          </a:prstGeom>
          <a:solidFill>
            <a:srgbClr val="FBF8EF"/>
          </a:solidFill>
          <a:ln>
            <a:noFill/>
          </a:ln>
          <a:effectLst>
            <a:softEdge rad="3175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6" name="Freeform 34">
            <a:extLst>
              <a:ext uri="{FF2B5EF4-FFF2-40B4-BE49-F238E27FC236}">
                <a16:creationId xmlns:a16="http://schemas.microsoft.com/office/drawing/2014/main" id="{38F3AB5B-D248-68B0-4C8C-3DA171AF36C5}"/>
              </a:ext>
            </a:extLst>
          </p:cNvPr>
          <p:cNvSpPr/>
          <p:nvPr/>
        </p:nvSpPr>
        <p:spPr>
          <a:xfrm>
            <a:off x="-3117292" y="3862873"/>
            <a:ext cx="9405447" cy="3175826"/>
          </a:xfrm>
          <a:custGeom>
            <a:avLst/>
            <a:gdLst/>
            <a:ahLst/>
            <a:cxnLst/>
            <a:rect l="l" t="t" r="r" b="b"/>
            <a:pathLst>
              <a:path w="1703131" h="609600">
                <a:moveTo>
                  <a:pt x="240400" y="0"/>
                </a:moveTo>
                <a:lnTo>
                  <a:pt x="1665930" y="0"/>
                </a:lnTo>
                <a:cubicBezTo>
                  <a:pt x="1677888" y="0"/>
                  <a:pt x="1689117" y="5748"/>
                  <a:pt x="1696108" y="15449"/>
                </a:cubicBezTo>
                <a:cubicBezTo>
                  <a:pt x="1703100" y="25149"/>
                  <a:pt x="1705003" y="37620"/>
                  <a:pt x="1701221" y="48964"/>
                </a:cubicBezTo>
                <a:lnTo>
                  <a:pt x="1530664" y="560636"/>
                </a:lnTo>
                <a:cubicBezTo>
                  <a:pt x="1520917" y="589877"/>
                  <a:pt x="1493553" y="609600"/>
                  <a:pt x="1462730" y="609600"/>
                </a:cubicBezTo>
                <a:lnTo>
                  <a:pt x="37200" y="609600"/>
                </a:lnTo>
                <a:cubicBezTo>
                  <a:pt x="25242" y="609600"/>
                  <a:pt x="14014" y="603852"/>
                  <a:pt x="7022" y="594151"/>
                </a:cubicBezTo>
                <a:cubicBezTo>
                  <a:pt x="30" y="584451"/>
                  <a:pt x="-1872" y="571980"/>
                  <a:pt x="1909" y="560636"/>
                </a:cubicBezTo>
                <a:lnTo>
                  <a:pt x="172467" y="48964"/>
                </a:lnTo>
                <a:cubicBezTo>
                  <a:pt x="182214" y="19723"/>
                  <a:pt x="209578" y="0"/>
                  <a:pt x="240400" y="0"/>
                </a:cubicBezTo>
                <a:close/>
              </a:path>
            </a:pathLst>
          </a:custGeom>
          <a:solidFill>
            <a:srgbClr val="DC2C3E"/>
          </a:solidFill>
          <a:ln cap="rnd">
            <a:noFill/>
            <a:prstDash val="solid"/>
            <a:round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/>
          <a:lstStyle/>
          <a:p>
            <a:endParaRPr lang="en-GB" dirty="0"/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DBEC271F-E96E-D82A-1184-358BAD1104E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6685" y="2932267"/>
            <a:ext cx="4769594" cy="749907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26" name="Freeform 34">
            <a:extLst>
              <a:ext uri="{FF2B5EF4-FFF2-40B4-BE49-F238E27FC236}">
                <a16:creationId xmlns:a16="http://schemas.microsoft.com/office/drawing/2014/main" id="{74270586-F12A-9173-970F-72D85F678D82}"/>
              </a:ext>
            </a:extLst>
          </p:cNvPr>
          <p:cNvSpPr/>
          <p:nvPr/>
        </p:nvSpPr>
        <p:spPr>
          <a:xfrm>
            <a:off x="-1561212" y="-498904"/>
            <a:ext cx="9405447" cy="3175826"/>
          </a:xfrm>
          <a:custGeom>
            <a:avLst/>
            <a:gdLst/>
            <a:ahLst/>
            <a:cxnLst/>
            <a:rect l="l" t="t" r="r" b="b"/>
            <a:pathLst>
              <a:path w="1703131" h="609600">
                <a:moveTo>
                  <a:pt x="240400" y="0"/>
                </a:moveTo>
                <a:lnTo>
                  <a:pt x="1665930" y="0"/>
                </a:lnTo>
                <a:cubicBezTo>
                  <a:pt x="1677888" y="0"/>
                  <a:pt x="1689117" y="5748"/>
                  <a:pt x="1696108" y="15449"/>
                </a:cubicBezTo>
                <a:cubicBezTo>
                  <a:pt x="1703100" y="25149"/>
                  <a:pt x="1705003" y="37620"/>
                  <a:pt x="1701221" y="48964"/>
                </a:cubicBezTo>
                <a:lnTo>
                  <a:pt x="1530664" y="560636"/>
                </a:lnTo>
                <a:cubicBezTo>
                  <a:pt x="1520917" y="589877"/>
                  <a:pt x="1493553" y="609600"/>
                  <a:pt x="1462730" y="609600"/>
                </a:cubicBezTo>
                <a:lnTo>
                  <a:pt x="37200" y="609600"/>
                </a:lnTo>
                <a:cubicBezTo>
                  <a:pt x="25242" y="609600"/>
                  <a:pt x="14014" y="603852"/>
                  <a:pt x="7022" y="594151"/>
                </a:cubicBezTo>
                <a:cubicBezTo>
                  <a:pt x="30" y="584451"/>
                  <a:pt x="-1872" y="571980"/>
                  <a:pt x="1909" y="560636"/>
                </a:cubicBezTo>
                <a:lnTo>
                  <a:pt x="172467" y="48964"/>
                </a:lnTo>
                <a:cubicBezTo>
                  <a:pt x="182214" y="19723"/>
                  <a:pt x="209578" y="0"/>
                  <a:pt x="240400" y="0"/>
                </a:cubicBezTo>
                <a:close/>
              </a:path>
            </a:pathLst>
          </a:custGeom>
          <a:solidFill>
            <a:srgbClr val="DC2C3E"/>
          </a:solidFill>
          <a:ln cap="rnd">
            <a:noFill/>
            <a:prstDash val="solid"/>
            <a:round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/>
          <a:lstStyle/>
          <a:p>
            <a:endParaRPr lang="en-GB" dirty="0"/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DB13F3AB-1219-67C2-75D5-9D3C27991B72}"/>
              </a:ext>
            </a:extLst>
          </p:cNvPr>
          <p:cNvSpPr txBox="1"/>
          <p:nvPr/>
        </p:nvSpPr>
        <p:spPr>
          <a:xfrm>
            <a:off x="485144" y="4160239"/>
            <a:ext cx="5001256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4000" dirty="0">
                <a:solidFill>
                  <a:schemeClr val="bg1"/>
                </a:solidFill>
                <a:latin typeface="Montserrat" panose="00000500000000000000" pitchFamily="2" charset="0"/>
              </a:rPr>
              <a:t>Data Engineering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B8C2008C-F935-E1DC-56D5-FB0291FA4CD2}"/>
              </a:ext>
            </a:extLst>
          </p:cNvPr>
          <p:cNvSpPr txBox="1"/>
          <p:nvPr/>
        </p:nvSpPr>
        <p:spPr>
          <a:xfrm>
            <a:off x="522468" y="4798634"/>
            <a:ext cx="5001256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500" dirty="0">
                <a:solidFill>
                  <a:schemeClr val="bg1"/>
                </a:solidFill>
                <a:latin typeface="Montserrat" panose="00000500000000000000" pitchFamily="2" charset="0"/>
              </a:rPr>
              <a:t>By Jimmy Chung</a:t>
            </a:r>
          </a:p>
        </p:txBody>
      </p:sp>
      <p:pic>
        <p:nvPicPr>
          <p:cNvPr id="34" name="Picture 33">
            <a:extLst>
              <a:ext uri="{FF2B5EF4-FFF2-40B4-BE49-F238E27FC236}">
                <a16:creationId xmlns:a16="http://schemas.microsoft.com/office/drawing/2014/main" id="{D1917103-A180-09B4-AB9E-76E62C22525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61048" y="771458"/>
            <a:ext cx="8002117" cy="52394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2066144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Rectangle 58">
            <a:extLst>
              <a:ext uri="{FF2B5EF4-FFF2-40B4-BE49-F238E27FC236}">
                <a16:creationId xmlns:a16="http://schemas.microsoft.com/office/drawing/2014/main" id="{FDB3663B-C81C-2EE7-4B85-072E721FF787}"/>
              </a:ext>
            </a:extLst>
          </p:cNvPr>
          <p:cNvSpPr/>
          <p:nvPr/>
        </p:nvSpPr>
        <p:spPr>
          <a:xfrm>
            <a:off x="-1" y="3000872"/>
            <a:ext cx="12192001" cy="3857128"/>
          </a:xfrm>
          <a:prstGeom prst="rect">
            <a:avLst/>
          </a:prstGeom>
          <a:solidFill>
            <a:srgbClr val="FBF8EF"/>
          </a:solidFill>
          <a:ln>
            <a:noFill/>
          </a:ln>
          <a:effectLst>
            <a:softEdge rad="3175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40" name="Rectangle: Rounded Corners 39">
            <a:extLst>
              <a:ext uri="{FF2B5EF4-FFF2-40B4-BE49-F238E27FC236}">
                <a16:creationId xmlns:a16="http://schemas.microsoft.com/office/drawing/2014/main" id="{7A019AF9-8C9D-533F-C59D-B2776FF3885D}"/>
              </a:ext>
            </a:extLst>
          </p:cNvPr>
          <p:cNvSpPr/>
          <p:nvPr/>
        </p:nvSpPr>
        <p:spPr>
          <a:xfrm>
            <a:off x="-566742" y="2257427"/>
            <a:ext cx="5794771" cy="4198550"/>
          </a:xfrm>
          <a:prstGeom prst="roundRect">
            <a:avLst>
              <a:gd name="adj" fmla="val 8875"/>
            </a:avLst>
          </a:prstGeom>
          <a:solidFill>
            <a:srgbClr val="4D6C75"/>
          </a:solidFill>
          <a:ln>
            <a:noFill/>
          </a:ln>
          <a:effectLst>
            <a:outerShdw blurRad="50800" dist="38100" dir="5400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44" name="Freeform 6">
            <a:extLst>
              <a:ext uri="{FF2B5EF4-FFF2-40B4-BE49-F238E27FC236}">
                <a16:creationId xmlns:a16="http://schemas.microsoft.com/office/drawing/2014/main" id="{DB8B79A2-69F9-4CA8-8598-F1F02CB62B31}"/>
              </a:ext>
            </a:extLst>
          </p:cNvPr>
          <p:cNvSpPr/>
          <p:nvPr/>
        </p:nvSpPr>
        <p:spPr>
          <a:xfrm>
            <a:off x="4736341" y="3884240"/>
            <a:ext cx="972000" cy="972000"/>
          </a:xfrm>
          <a:custGeom>
            <a:avLst/>
            <a:gdLst/>
            <a:ahLst/>
            <a:cxnLst/>
            <a:rect l="l" t="t" r="r" b="b"/>
            <a:pathLst>
              <a:path w="698500" h="756971">
                <a:moveTo>
                  <a:pt x="438697" y="24128"/>
                </a:moveTo>
                <a:lnTo>
                  <a:pt x="609053" y="123244"/>
                </a:lnTo>
                <a:cubicBezTo>
                  <a:pt x="664431" y="155464"/>
                  <a:pt x="698500" y="214701"/>
                  <a:pt x="698500" y="278771"/>
                </a:cubicBezTo>
                <a:lnTo>
                  <a:pt x="698500" y="478201"/>
                </a:lnTo>
                <a:cubicBezTo>
                  <a:pt x="698500" y="542271"/>
                  <a:pt x="664431" y="601508"/>
                  <a:pt x="609053" y="633728"/>
                </a:cubicBezTo>
                <a:lnTo>
                  <a:pt x="438697" y="732844"/>
                </a:lnTo>
                <a:cubicBezTo>
                  <a:pt x="383405" y="765014"/>
                  <a:pt x="315095" y="765014"/>
                  <a:pt x="259803" y="732844"/>
                </a:cubicBezTo>
                <a:lnTo>
                  <a:pt x="89447" y="633728"/>
                </a:lnTo>
                <a:cubicBezTo>
                  <a:pt x="34069" y="601508"/>
                  <a:pt x="0" y="542271"/>
                  <a:pt x="0" y="478201"/>
                </a:cubicBezTo>
                <a:lnTo>
                  <a:pt x="0" y="278771"/>
                </a:lnTo>
                <a:cubicBezTo>
                  <a:pt x="0" y="214701"/>
                  <a:pt x="34069" y="155464"/>
                  <a:pt x="89447" y="123244"/>
                </a:cubicBezTo>
                <a:lnTo>
                  <a:pt x="259803" y="24128"/>
                </a:lnTo>
                <a:cubicBezTo>
                  <a:pt x="315095" y="-8042"/>
                  <a:pt x="383405" y="-8042"/>
                  <a:pt x="438697" y="24128"/>
                </a:cubicBezTo>
                <a:close/>
              </a:path>
            </a:pathLst>
          </a:custGeom>
          <a:solidFill>
            <a:srgbClr val="003A4B"/>
          </a:solidFill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52" name="Freeform 6">
            <a:extLst>
              <a:ext uri="{FF2B5EF4-FFF2-40B4-BE49-F238E27FC236}">
                <a16:creationId xmlns:a16="http://schemas.microsoft.com/office/drawing/2014/main" id="{0EE7F3C9-7E0F-D883-FCB6-6AC0EFB5AF49}"/>
              </a:ext>
            </a:extLst>
          </p:cNvPr>
          <p:cNvSpPr/>
          <p:nvPr/>
        </p:nvSpPr>
        <p:spPr>
          <a:xfrm>
            <a:off x="4805539" y="3963008"/>
            <a:ext cx="828000" cy="810000"/>
          </a:xfrm>
          <a:custGeom>
            <a:avLst/>
            <a:gdLst/>
            <a:ahLst/>
            <a:cxnLst/>
            <a:rect l="l" t="t" r="r" b="b"/>
            <a:pathLst>
              <a:path w="698500" h="756971">
                <a:moveTo>
                  <a:pt x="438697" y="24128"/>
                </a:moveTo>
                <a:lnTo>
                  <a:pt x="609053" y="123244"/>
                </a:lnTo>
                <a:cubicBezTo>
                  <a:pt x="664431" y="155464"/>
                  <a:pt x="698500" y="214701"/>
                  <a:pt x="698500" y="278771"/>
                </a:cubicBezTo>
                <a:lnTo>
                  <a:pt x="698500" y="478201"/>
                </a:lnTo>
                <a:cubicBezTo>
                  <a:pt x="698500" y="542271"/>
                  <a:pt x="664431" y="601508"/>
                  <a:pt x="609053" y="633728"/>
                </a:cubicBezTo>
                <a:lnTo>
                  <a:pt x="438697" y="732844"/>
                </a:lnTo>
                <a:cubicBezTo>
                  <a:pt x="383405" y="765014"/>
                  <a:pt x="315095" y="765014"/>
                  <a:pt x="259803" y="732844"/>
                </a:cubicBezTo>
                <a:lnTo>
                  <a:pt x="89447" y="633728"/>
                </a:lnTo>
                <a:cubicBezTo>
                  <a:pt x="34069" y="601508"/>
                  <a:pt x="0" y="542271"/>
                  <a:pt x="0" y="478201"/>
                </a:cubicBezTo>
                <a:lnTo>
                  <a:pt x="0" y="278771"/>
                </a:lnTo>
                <a:cubicBezTo>
                  <a:pt x="0" y="214701"/>
                  <a:pt x="34069" y="155464"/>
                  <a:pt x="89447" y="123244"/>
                </a:cubicBezTo>
                <a:lnTo>
                  <a:pt x="259803" y="24128"/>
                </a:lnTo>
                <a:cubicBezTo>
                  <a:pt x="315095" y="-8042"/>
                  <a:pt x="383405" y="-8042"/>
                  <a:pt x="438697" y="24128"/>
                </a:cubicBezTo>
                <a:close/>
              </a:path>
            </a:pathLst>
          </a:custGeom>
          <a:solidFill>
            <a:schemeClr val="bg1"/>
          </a:solidFill>
        </p:spPr>
        <p:txBody>
          <a:bodyPr/>
          <a:lstStyle/>
          <a:p>
            <a:endParaRPr lang="en-GB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81D09E2-EAC1-3A27-E325-47E2F8F7777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465733"/>
            <a:ext cx="10515600" cy="1325563"/>
          </a:xfrm>
        </p:spPr>
        <p:txBody>
          <a:bodyPr/>
          <a:lstStyle/>
          <a:p>
            <a:pPr algn="ctr"/>
            <a:r>
              <a:rPr lang="en-GB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Montserrat SemiBold" panose="020F0502020204030204" pitchFamily="2" charset="0"/>
              </a:rPr>
              <a:t>DELIVERABLE ALIGNMENT</a:t>
            </a:r>
          </a:p>
        </p:txBody>
      </p:sp>
      <p:sp>
        <p:nvSpPr>
          <p:cNvPr id="41" name="Rectangle: Rounded Corners 40">
            <a:extLst>
              <a:ext uri="{FF2B5EF4-FFF2-40B4-BE49-F238E27FC236}">
                <a16:creationId xmlns:a16="http://schemas.microsoft.com/office/drawing/2014/main" id="{06C09DBF-3E32-ED57-F029-A89C0BA66CEA}"/>
              </a:ext>
            </a:extLst>
          </p:cNvPr>
          <p:cNvSpPr/>
          <p:nvPr/>
        </p:nvSpPr>
        <p:spPr>
          <a:xfrm>
            <a:off x="6896261" y="2257427"/>
            <a:ext cx="5790948" cy="4198550"/>
          </a:xfrm>
          <a:prstGeom prst="roundRect">
            <a:avLst>
              <a:gd name="adj" fmla="val 8875"/>
            </a:avLst>
          </a:prstGeom>
          <a:solidFill>
            <a:srgbClr val="DC2C3E"/>
          </a:solidFill>
          <a:ln>
            <a:noFill/>
          </a:ln>
          <a:effectLst>
            <a:outerShdw blurRad="50800" dist="38100" dir="5400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pic>
        <p:nvPicPr>
          <p:cNvPr id="49" name="Picture 48">
            <a:extLst>
              <a:ext uri="{FF2B5EF4-FFF2-40B4-BE49-F238E27FC236}">
                <a16:creationId xmlns:a16="http://schemas.microsoft.com/office/drawing/2014/main" id="{07DD6E40-4526-ED3E-8072-E9339810E15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65045" y="4109914"/>
            <a:ext cx="508988" cy="508988"/>
          </a:xfrm>
          <a:prstGeom prst="rect">
            <a:avLst/>
          </a:prstGeom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</p:pic>
      <p:sp>
        <p:nvSpPr>
          <p:cNvPr id="53" name="Freeform 6">
            <a:extLst>
              <a:ext uri="{FF2B5EF4-FFF2-40B4-BE49-F238E27FC236}">
                <a16:creationId xmlns:a16="http://schemas.microsoft.com/office/drawing/2014/main" id="{FADBE6DF-0BC3-6FFE-8050-576E291628CE}"/>
              </a:ext>
            </a:extLst>
          </p:cNvPr>
          <p:cNvSpPr/>
          <p:nvPr/>
        </p:nvSpPr>
        <p:spPr>
          <a:xfrm>
            <a:off x="6422586" y="3884240"/>
            <a:ext cx="972000" cy="972000"/>
          </a:xfrm>
          <a:custGeom>
            <a:avLst/>
            <a:gdLst/>
            <a:ahLst/>
            <a:cxnLst/>
            <a:rect l="l" t="t" r="r" b="b"/>
            <a:pathLst>
              <a:path w="698500" h="756971">
                <a:moveTo>
                  <a:pt x="438697" y="24128"/>
                </a:moveTo>
                <a:lnTo>
                  <a:pt x="609053" y="123244"/>
                </a:lnTo>
                <a:cubicBezTo>
                  <a:pt x="664431" y="155464"/>
                  <a:pt x="698500" y="214701"/>
                  <a:pt x="698500" y="278771"/>
                </a:cubicBezTo>
                <a:lnTo>
                  <a:pt x="698500" y="478201"/>
                </a:lnTo>
                <a:cubicBezTo>
                  <a:pt x="698500" y="542271"/>
                  <a:pt x="664431" y="601508"/>
                  <a:pt x="609053" y="633728"/>
                </a:cubicBezTo>
                <a:lnTo>
                  <a:pt x="438697" y="732844"/>
                </a:lnTo>
                <a:cubicBezTo>
                  <a:pt x="383405" y="765014"/>
                  <a:pt x="315095" y="765014"/>
                  <a:pt x="259803" y="732844"/>
                </a:cubicBezTo>
                <a:lnTo>
                  <a:pt x="89447" y="633728"/>
                </a:lnTo>
                <a:cubicBezTo>
                  <a:pt x="34069" y="601508"/>
                  <a:pt x="0" y="542271"/>
                  <a:pt x="0" y="478201"/>
                </a:cubicBezTo>
                <a:lnTo>
                  <a:pt x="0" y="278771"/>
                </a:lnTo>
                <a:cubicBezTo>
                  <a:pt x="0" y="214701"/>
                  <a:pt x="34069" y="155464"/>
                  <a:pt x="89447" y="123244"/>
                </a:cubicBezTo>
                <a:lnTo>
                  <a:pt x="259803" y="24128"/>
                </a:lnTo>
                <a:cubicBezTo>
                  <a:pt x="315095" y="-8042"/>
                  <a:pt x="383405" y="-8042"/>
                  <a:pt x="438697" y="24128"/>
                </a:cubicBezTo>
                <a:close/>
              </a:path>
            </a:pathLst>
          </a:custGeom>
          <a:solidFill>
            <a:srgbClr val="B32131"/>
          </a:solidFill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54" name="Freeform 6">
            <a:extLst>
              <a:ext uri="{FF2B5EF4-FFF2-40B4-BE49-F238E27FC236}">
                <a16:creationId xmlns:a16="http://schemas.microsoft.com/office/drawing/2014/main" id="{18B6B935-0228-4D76-C867-195289DE8446}"/>
              </a:ext>
            </a:extLst>
          </p:cNvPr>
          <p:cNvSpPr/>
          <p:nvPr/>
        </p:nvSpPr>
        <p:spPr>
          <a:xfrm>
            <a:off x="6491786" y="3963008"/>
            <a:ext cx="828000" cy="810000"/>
          </a:xfrm>
          <a:custGeom>
            <a:avLst/>
            <a:gdLst/>
            <a:ahLst/>
            <a:cxnLst/>
            <a:rect l="l" t="t" r="r" b="b"/>
            <a:pathLst>
              <a:path w="698500" h="756971">
                <a:moveTo>
                  <a:pt x="438697" y="24128"/>
                </a:moveTo>
                <a:lnTo>
                  <a:pt x="609053" y="123244"/>
                </a:lnTo>
                <a:cubicBezTo>
                  <a:pt x="664431" y="155464"/>
                  <a:pt x="698500" y="214701"/>
                  <a:pt x="698500" y="278771"/>
                </a:cubicBezTo>
                <a:lnTo>
                  <a:pt x="698500" y="478201"/>
                </a:lnTo>
                <a:cubicBezTo>
                  <a:pt x="698500" y="542271"/>
                  <a:pt x="664431" y="601508"/>
                  <a:pt x="609053" y="633728"/>
                </a:cubicBezTo>
                <a:lnTo>
                  <a:pt x="438697" y="732844"/>
                </a:lnTo>
                <a:cubicBezTo>
                  <a:pt x="383405" y="765014"/>
                  <a:pt x="315095" y="765014"/>
                  <a:pt x="259803" y="732844"/>
                </a:cubicBezTo>
                <a:lnTo>
                  <a:pt x="89447" y="633728"/>
                </a:lnTo>
                <a:cubicBezTo>
                  <a:pt x="34069" y="601508"/>
                  <a:pt x="0" y="542271"/>
                  <a:pt x="0" y="478201"/>
                </a:cubicBezTo>
                <a:lnTo>
                  <a:pt x="0" y="278771"/>
                </a:lnTo>
                <a:cubicBezTo>
                  <a:pt x="0" y="214701"/>
                  <a:pt x="34069" y="155464"/>
                  <a:pt x="89447" y="123244"/>
                </a:cubicBezTo>
                <a:lnTo>
                  <a:pt x="259803" y="24128"/>
                </a:lnTo>
                <a:cubicBezTo>
                  <a:pt x="315095" y="-8042"/>
                  <a:pt x="383405" y="-8042"/>
                  <a:pt x="438697" y="24128"/>
                </a:cubicBezTo>
                <a:close/>
              </a:path>
            </a:pathLst>
          </a:custGeom>
          <a:solidFill>
            <a:schemeClr val="bg1"/>
          </a:solidFill>
        </p:spPr>
        <p:txBody>
          <a:bodyPr/>
          <a:lstStyle/>
          <a:p>
            <a:endParaRPr lang="en-GB"/>
          </a:p>
        </p:txBody>
      </p:sp>
      <p:pic>
        <p:nvPicPr>
          <p:cNvPr id="51" name="Picture 50">
            <a:extLst>
              <a:ext uri="{FF2B5EF4-FFF2-40B4-BE49-F238E27FC236}">
                <a16:creationId xmlns:a16="http://schemas.microsoft.com/office/drawing/2014/main" id="{D5094F7A-8E9E-79EB-F381-D86BEF08A29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04011" y="4062633"/>
            <a:ext cx="603550" cy="603550"/>
          </a:xfrm>
          <a:prstGeom prst="rect">
            <a:avLst/>
          </a:prstGeom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</p:pic>
      <p:sp>
        <p:nvSpPr>
          <p:cNvPr id="55" name="TextBox 54">
            <a:extLst>
              <a:ext uri="{FF2B5EF4-FFF2-40B4-BE49-F238E27FC236}">
                <a16:creationId xmlns:a16="http://schemas.microsoft.com/office/drawing/2014/main" id="{FBFB85C7-257C-035C-73FB-8B8690F04FD0}"/>
              </a:ext>
            </a:extLst>
          </p:cNvPr>
          <p:cNvSpPr txBox="1"/>
          <p:nvPr/>
        </p:nvSpPr>
        <p:spPr>
          <a:xfrm>
            <a:off x="1379060" y="2539206"/>
            <a:ext cx="22479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2400" dirty="0">
                <a:solidFill>
                  <a:schemeClr val="bg1"/>
                </a:solidFill>
                <a:latin typeface="Montserrat" panose="00000500000000000000" pitchFamily="2" charset="0"/>
              </a:rPr>
              <a:t>Notebook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3C8FD973-8F01-D8B4-51BD-137AE4188DB7}"/>
              </a:ext>
            </a:extLst>
          </p:cNvPr>
          <p:cNvSpPr txBox="1"/>
          <p:nvPr/>
        </p:nvSpPr>
        <p:spPr>
          <a:xfrm>
            <a:off x="318822" y="3000873"/>
            <a:ext cx="4368377" cy="329320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GB" sz="1400" dirty="0">
              <a:solidFill>
                <a:schemeClr val="bg1"/>
              </a:solidFill>
              <a:latin typeface="Montserrat" panose="00000500000000000000" pitchFamily="2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1400" b="1" dirty="0">
                <a:solidFill>
                  <a:schemeClr val="bg1"/>
                </a:solidFill>
                <a:latin typeface="Montserrat" panose="00000500000000000000" pitchFamily="2" charset="0"/>
              </a:rPr>
              <a:t>Implementation</a:t>
            </a:r>
          </a:p>
          <a:p>
            <a:pPr lvl="1"/>
            <a:r>
              <a:rPr lang="en-GB" sz="1100" dirty="0">
                <a:solidFill>
                  <a:schemeClr val="bg1"/>
                </a:solidFill>
                <a:latin typeface="Montserrat" panose="00000500000000000000" pitchFamily="2" charset="0"/>
              </a:rPr>
              <a:t>Technical documentation of Snowpark Python and SQL data pipeline.</a:t>
            </a:r>
          </a:p>
          <a:p>
            <a:pPr lvl="1"/>
            <a:endParaRPr lang="en-GB" sz="1400" dirty="0">
              <a:solidFill>
                <a:schemeClr val="bg1"/>
              </a:solidFill>
              <a:latin typeface="Montserrat" panose="00000500000000000000" pitchFamily="2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1400" b="1" dirty="0">
                <a:solidFill>
                  <a:schemeClr val="bg1"/>
                </a:solidFill>
                <a:latin typeface="Montserrat" panose="00000500000000000000" pitchFamily="2" charset="0"/>
              </a:rPr>
              <a:t>Evidence of Execution</a:t>
            </a:r>
          </a:p>
          <a:p>
            <a:pPr lvl="1"/>
            <a:r>
              <a:rPr lang="en-GB" sz="1100" dirty="0">
                <a:solidFill>
                  <a:schemeClr val="bg1"/>
                </a:solidFill>
                <a:latin typeface="Montserrat" panose="00000500000000000000" pitchFamily="2" charset="0"/>
              </a:rPr>
              <a:t>Features production code in a live execution environment with outputs.</a:t>
            </a:r>
          </a:p>
          <a:p>
            <a:pPr lvl="1"/>
            <a:endParaRPr lang="en-GB" sz="1400" dirty="0">
              <a:solidFill>
                <a:schemeClr val="bg1"/>
              </a:solidFill>
              <a:latin typeface="Montserrat" panose="00000500000000000000" pitchFamily="2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1400" b="1" dirty="0">
                <a:solidFill>
                  <a:schemeClr val="bg1"/>
                </a:solidFill>
                <a:latin typeface="Montserrat" panose="00000500000000000000" pitchFamily="2" charset="0"/>
              </a:rPr>
              <a:t>Data Profiling &amp; Visual Aid</a:t>
            </a:r>
          </a:p>
          <a:p>
            <a:pPr lvl="1"/>
            <a:r>
              <a:rPr lang="en-GB" sz="1100" dirty="0">
                <a:solidFill>
                  <a:schemeClr val="bg1"/>
                </a:solidFill>
                <a:latin typeface="Montserrat" panose="00000500000000000000" pitchFamily="2" charset="0"/>
              </a:rPr>
              <a:t>Showcases a visual representation of change in data during the cleaning process.</a:t>
            </a:r>
          </a:p>
          <a:p>
            <a:pPr lvl="1"/>
            <a:endParaRPr lang="en-GB" sz="1400" dirty="0">
              <a:solidFill>
                <a:schemeClr val="bg1"/>
              </a:solidFill>
              <a:latin typeface="Montserrat" panose="00000500000000000000" pitchFamily="2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1400" b="1" dirty="0">
                <a:solidFill>
                  <a:schemeClr val="bg1"/>
                </a:solidFill>
                <a:latin typeface="Montserrat" panose="00000500000000000000" pitchFamily="2" charset="0"/>
              </a:rPr>
              <a:t>Justification</a:t>
            </a:r>
          </a:p>
          <a:p>
            <a:pPr lvl="1"/>
            <a:r>
              <a:rPr lang="en-GB" sz="1100" dirty="0">
                <a:solidFill>
                  <a:schemeClr val="bg1"/>
                </a:solidFill>
                <a:latin typeface="Montserrat" panose="00000500000000000000" pitchFamily="2" charset="0"/>
              </a:rPr>
              <a:t>Contains markdown and comments for interpretability of engineering choices. 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FCE50C8C-64E0-3D12-2437-D293EB9DB5F5}"/>
              </a:ext>
            </a:extLst>
          </p:cNvPr>
          <p:cNvSpPr txBox="1"/>
          <p:nvPr/>
        </p:nvSpPr>
        <p:spPr>
          <a:xfrm>
            <a:off x="8667785" y="2534741"/>
            <a:ext cx="22479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2400" dirty="0">
                <a:solidFill>
                  <a:schemeClr val="bg1"/>
                </a:solidFill>
                <a:latin typeface="Montserrat" panose="00000500000000000000" pitchFamily="2" charset="0"/>
              </a:rPr>
              <a:t>Presentation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9250395C-F58F-5A3D-0C94-7F97F9FE4141}"/>
              </a:ext>
            </a:extLst>
          </p:cNvPr>
          <p:cNvSpPr txBox="1"/>
          <p:nvPr/>
        </p:nvSpPr>
        <p:spPr>
          <a:xfrm>
            <a:off x="7504801" y="3000872"/>
            <a:ext cx="4368377" cy="31700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GB" sz="1400" dirty="0">
              <a:solidFill>
                <a:schemeClr val="bg1"/>
              </a:solidFill>
              <a:latin typeface="Montserrat" panose="00000500000000000000" pitchFamily="2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1400" b="1" dirty="0">
                <a:solidFill>
                  <a:schemeClr val="bg1"/>
                </a:solidFill>
                <a:latin typeface="Montserrat" panose="00000500000000000000" pitchFamily="2" charset="0"/>
              </a:rPr>
              <a:t>Stakeholder Delivery</a:t>
            </a:r>
          </a:p>
          <a:p>
            <a:pPr lvl="1"/>
            <a:r>
              <a:rPr lang="en-GB" sz="1100" dirty="0">
                <a:solidFill>
                  <a:schemeClr val="bg1"/>
                </a:solidFill>
                <a:latin typeface="Montserrat" panose="00000500000000000000" pitchFamily="2" charset="0"/>
              </a:rPr>
              <a:t>Documentation curated for non-technical stakeholders to assess the delivery.</a:t>
            </a:r>
          </a:p>
          <a:p>
            <a:pPr lvl="1"/>
            <a:endParaRPr lang="en-GB" sz="1400" dirty="0">
              <a:solidFill>
                <a:schemeClr val="bg1"/>
              </a:solidFill>
              <a:latin typeface="Montserrat" panose="00000500000000000000" pitchFamily="2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1400" b="1" dirty="0">
                <a:solidFill>
                  <a:schemeClr val="bg1"/>
                </a:solidFill>
                <a:latin typeface="Montserrat" panose="00000500000000000000" pitchFamily="2" charset="0"/>
              </a:rPr>
              <a:t>Problem Statement</a:t>
            </a:r>
          </a:p>
          <a:p>
            <a:pPr lvl="1"/>
            <a:r>
              <a:rPr lang="en-GB" sz="1100" dirty="0">
                <a:solidFill>
                  <a:schemeClr val="bg1"/>
                </a:solidFill>
                <a:latin typeface="Montserrat" panose="00000500000000000000" pitchFamily="2" charset="0"/>
              </a:rPr>
              <a:t>The planning process; identifying the requirements of the assigned task. </a:t>
            </a:r>
          </a:p>
          <a:p>
            <a:pPr lvl="1"/>
            <a:endParaRPr lang="en-GB" sz="1400" dirty="0">
              <a:solidFill>
                <a:schemeClr val="bg1"/>
              </a:solidFill>
              <a:latin typeface="Montserrat" panose="00000500000000000000" pitchFamily="2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1400" b="1" dirty="0">
                <a:solidFill>
                  <a:schemeClr val="bg1"/>
                </a:solidFill>
                <a:latin typeface="Montserrat" panose="00000500000000000000" pitchFamily="2" charset="0"/>
              </a:rPr>
              <a:t>Methodology Overview</a:t>
            </a:r>
          </a:p>
          <a:p>
            <a:pPr lvl="1"/>
            <a:r>
              <a:rPr lang="en-GB" sz="1100" dirty="0">
                <a:solidFill>
                  <a:schemeClr val="bg1"/>
                </a:solidFill>
                <a:latin typeface="Montserrat" panose="00000500000000000000" pitchFamily="2" charset="0"/>
              </a:rPr>
              <a:t>Step-by-step summary highlighting key processes involved with the technical implementation.</a:t>
            </a:r>
          </a:p>
          <a:p>
            <a:pPr lvl="1"/>
            <a:endParaRPr lang="en-GB" sz="1400" dirty="0">
              <a:solidFill>
                <a:schemeClr val="bg1"/>
              </a:solidFill>
              <a:latin typeface="Montserrat" panose="00000500000000000000" pitchFamily="2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1400" b="1" dirty="0">
                <a:solidFill>
                  <a:schemeClr val="bg1"/>
                </a:solidFill>
                <a:latin typeface="Montserrat" panose="00000500000000000000" pitchFamily="2" charset="0"/>
              </a:rPr>
              <a:t>Reflection</a:t>
            </a:r>
          </a:p>
          <a:p>
            <a:pPr lvl="1"/>
            <a:r>
              <a:rPr lang="en-GB" sz="1100" dirty="0">
                <a:solidFill>
                  <a:schemeClr val="bg1"/>
                </a:solidFill>
                <a:latin typeface="Montserrat" panose="00000500000000000000" pitchFamily="2" charset="0"/>
              </a:rPr>
              <a:t>Self-evaluation of the assignment and future considerations.</a:t>
            </a:r>
          </a:p>
        </p:txBody>
      </p:sp>
    </p:spTree>
    <p:extLst>
      <p:ext uri="{BB962C8B-B14F-4D97-AF65-F5344CB8AC3E}">
        <p14:creationId xmlns:p14="http://schemas.microsoft.com/office/powerpoint/2010/main" val="388919599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Code Card">
            <a:extLst>
              <a:ext uri="{FF2B5EF4-FFF2-40B4-BE49-F238E27FC236}">
                <a16:creationId xmlns:a16="http://schemas.microsoft.com/office/drawing/2014/main" id="{760EDE0C-BA59-1E6E-05A9-44FDC31160BB}"/>
              </a:ext>
            </a:extLst>
          </p:cNvPr>
          <p:cNvSpPr/>
          <p:nvPr/>
        </p:nvSpPr>
        <p:spPr>
          <a:xfrm>
            <a:off x="3187292" y="2059709"/>
            <a:ext cx="5797002" cy="3307924"/>
          </a:xfrm>
          <a:prstGeom prst="roundRect">
            <a:avLst>
              <a:gd name="adj" fmla="val 3500"/>
            </a:avLst>
          </a:prstGeom>
          <a:solidFill>
            <a:schemeClr val="bg1"/>
          </a:solidFill>
          <a:ln w="9525">
            <a:noFill/>
          </a:ln>
          <a:effectLst>
            <a:outerShdw blurRad="80000" dist="30000" dir="5400000" rotWithShape="0">
              <a:srgbClr val="000000">
                <a:alpha val="28000"/>
              </a:srgbClr>
            </a:outerShdw>
          </a:effectLst>
        </p:spPr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5D4F033-F1CF-BC1E-83BD-8D411CBE2B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GB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Montserrat SemiBold" panose="00000700000000000000" pitchFamily="2" charset="0"/>
              </a:rPr>
              <a:t>UNDERSTANDING THE TASK</a:t>
            </a:r>
          </a:p>
        </p:txBody>
      </p:sp>
      <p:sp>
        <p:nvSpPr>
          <p:cNvPr id="3" name="Subtitle"/>
          <p:cNvSpPr txBox="1"/>
          <p:nvPr/>
        </p:nvSpPr>
        <p:spPr>
          <a:xfrm>
            <a:off x="600000" y="1660000"/>
            <a:ext cx="10992000" cy="260000"/>
          </a:xfrm>
          <a:prstGeom prst="rect">
            <a:avLst/>
          </a:prstGeom>
          <a:noFill/>
        </p:spPr>
        <p:txBody>
          <a:bodyPr wrap="square" rtlCol="0" anchor="ctr">
            <a:normAutofit fontScale="92500" lnSpcReduction="20000"/>
          </a:bodyPr>
          <a:lstStyle/>
          <a:p>
            <a:pPr algn="ctr"/>
            <a:r>
              <a:rPr lang="en-GB" sz="1400">
                <a:solidFill>
                  <a:srgbClr val="595959"/>
                </a:solidFill>
                <a:latin typeface="Montserrat" panose="00000500000000000000" pitchFamily="2" charset="0"/>
              </a:rPr>
              <a:t>The task brief, annotated with the key insights and requirements drawn from it</a:t>
            </a:r>
          </a:p>
        </p:txBody>
      </p:sp>
      <p:pic>
        <p:nvPicPr>
          <p:cNvPr id="5" name="Task Screenshot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96000" y="2150000"/>
            <a:ext cx="5600000" cy="3163000"/>
          </a:xfrm>
          <a:prstGeom prst="rect">
            <a:avLst/>
          </a:prstGeom>
          <a:ln w="12700">
            <a:noFill/>
          </a:ln>
          <a:effectLst/>
        </p:spPr>
      </p:pic>
      <p:sp>
        <p:nvSpPr>
          <p:cNvPr id="60" name="Pin 1"/>
          <p:cNvSpPr/>
          <p:nvPr/>
        </p:nvSpPr>
        <p:spPr>
          <a:xfrm>
            <a:off x="3129381" y="2342096"/>
            <a:ext cx="180000" cy="180000"/>
          </a:xfrm>
          <a:prstGeom prst="ellipse">
            <a:avLst/>
          </a:prstGeom>
          <a:solidFill>
            <a:srgbClr val="DC2C3E"/>
          </a:solidFill>
          <a:ln w="19050">
            <a:solidFill>
              <a:schemeClr val="bg1"/>
            </a:solidFill>
          </a:ln>
          <a:effectLst>
            <a:outerShdw blurRad="40000" dist="15000" dir="5400000" rotWithShape="0">
              <a:srgbClr val="000000">
                <a:alpha val="30000"/>
              </a:srgbClr>
            </a:outerShdw>
          </a:effectLst>
        </p:spPr>
        <p:txBody>
          <a:bodyPr lIns="0" tIns="0" rIns="0" bIns="0" rtlCol="0" anchor="ctr"/>
          <a:lstStyle/>
          <a:p>
            <a:pPr algn="ctr"/>
            <a:r>
              <a:rPr lang="en-GB" sz="600" b="1" dirty="0">
                <a:solidFill>
                  <a:schemeClr val="bg1"/>
                </a:solidFill>
                <a:latin typeface="Montserrat SemiBold" panose="00000700000000000000" pitchFamily="2" charset="0"/>
              </a:rPr>
              <a:t>1</a:t>
            </a:r>
          </a:p>
        </p:txBody>
      </p:sp>
      <p:sp>
        <p:nvSpPr>
          <p:cNvPr id="61" name="Pin 2"/>
          <p:cNvSpPr/>
          <p:nvPr/>
        </p:nvSpPr>
        <p:spPr>
          <a:xfrm>
            <a:off x="3135662" y="2636271"/>
            <a:ext cx="180000" cy="180000"/>
          </a:xfrm>
          <a:prstGeom prst="ellipse">
            <a:avLst/>
          </a:prstGeom>
          <a:solidFill>
            <a:srgbClr val="DC2C3E"/>
          </a:solidFill>
          <a:ln w="19050">
            <a:solidFill>
              <a:schemeClr val="bg1"/>
            </a:solidFill>
          </a:ln>
          <a:effectLst>
            <a:outerShdw blurRad="40000" dist="15000" dir="5400000" rotWithShape="0">
              <a:srgbClr val="000000">
                <a:alpha val="30000"/>
              </a:srgbClr>
            </a:outerShdw>
          </a:effectLst>
        </p:spPr>
        <p:txBody>
          <a:bodyPr lIns="0" tIns="0" rIns="0" bIns="0" rtlCol="0" anchor="ctr"/>
          <a:lstStyle/>
          <a:p>
            <a:pPr algn="ctr"/>
            <a:r>
              <a:rPr lang="en-GB" sz="600" b="1" dirty="0">
                <a:solidFill>
                  <a:schemeClr val="bg1"/>
                </a:solidFill>
                <a:latin typeface="Montserrat SemiBold" panose="00000700000000000000" pitchFamily="2" charset="0"/>
              </a:rPr>
              <a:t>2</a:t>
            </a:r>
          </a:p>
        </p:txBody>
      </p:sp>
      <p:sp>
        <p:nvSpPr>
          <p:cNvPr id="62" name="Pin 3"/>
          <p:cNvSpPr/>
          <p:nvPr/>
        </p:nvSpPr>
        <p:spPr>
          <a:xfrm>
            <a:off x="5461954" y="3976875"/>
            <a:ext cx="180000" cy="180000"/>
          </a:xfrm>
          <a:prstGeom prst="ellipse">
            <a:avLst/>
          </a:prstGeom>
          <a:solidFill>
            <a:srgbClr val="DC2C3E"/>
          </a:solidFill>
          <a:ln w="19050">
            <a:solidFill>
              <a:schemeClr val="bg1"/>
            </a:solidFill>
          </a:ln>
          <a:effectLst>
            <a:outerShdw blurRad="40000" dist="15000" dir="5400000" rotWithShape="0">
              <a:srgbClr val="000000">
                <a:alpha val="30000"/>
              </a:srgbClr>
            </a:outerShdw>
          </a:effectLst>
        </p:spPr>
        <p:txBody>
          <a:bodyPr lIns="0" tIns="0" rIns="0" bIns="0" rtlCol="0" anchor="ctr"/>
          <a:lstStyle/>
          <a:p>
            <a:pPr algn="ctr"/>
            <a:r>
              <a:rPr lang="en-GB" sz="600" b="1" dirty="0">
                <a:solidFill>
                  <a:schemeClr val="bg1"/>
                </a:solidFill>
                <a:latin typeface="Montserrat SemiBold" panose="00000700000000000000" pitchFamily="2" charset="0"/>
              </a:rPr>
              <a:t>3</a:t>
            </a:r>
          </a:p>
        </p:txBody>
      </p:sp>
      <p:sp>
        <p:nvSpPr>
          <p:cNvPr id="63" name="Pin 4"/>
          <p:cNvSpPr/>
          <p:nvPr/>
        </p:nvSpPr>
        <p:spPr>
          <a:xfrm>
            <a:off x="3561955" y="4126875"/>
            <a:ext cx="180000" cy="180000"/>
          </a:xfrm>
          <a:prstGeom prst="ellipse">
            <a:avLst/>
          </a:prstGeom>
          <a:solidFill>
            <a:srgbClr val="DC2C3E"/>
          </a:solidFill>
          <a:ln w="19050">
            <a:solidFill>
              <a:schemeClr val="bg1"/>
            </a:solidFill>
          </a:ln>
          <a:effectLst>
            <a:outerShdw blurRad="40000" dist="15000" dir="5400000" rotWithShape="0">
              <a:srgbClr val="000000">
                <a:alpha val="30000"/>
              </a:srgbClr>
            </a:outerShdw>
          </a:effectLst>
        </p:spPr>
        <p:txBody>
          <a:bodyPr lIns="0" tIns="0" rIns="0" bIns="0" rtlCol="0" anchor="ctr"/>
          <a:lstStyle/>
          <a:p>
            <a:pPr algn="ctr"/>
            <a:r>
              <a:rPr lang="en-GB" sz="600" b="1" dirty="0">
                <a:solidFill>
                  <a:schemeClr val="bg1"/>
                </a:solidFill>
                <a:latin typeface="Montserrat SemiBold" panose="00000700000000000000" pitchFamily="2" charset="0"/>
              </a:rPr>
              <a:t>4</a:t>
            </a:r>
          </a:p>
        </p:txBody>
      </p:sp>
      <p:sp>
        <p:nvSpPr>
          <p:cNvPr id="64" name="Pin 5"/>
          <p:cNvSpPr/>
          <p:nvPr/>
        </p:nvSpPr>
        <p:spPr>
          <a:xfrm>
            <a:off x="8874680" y="2629125"/>
            <a:ext cx="180000" cy="180000"/>
          </a:xfrm>
          <a:prstGeom prst="ellipse">
            <a:avLst/>
          </a:prstGeom>
          <a:solidFill>
            <a:srgbClr val="DC2C3E"/>
          </a:solidFill>
          <a:ln w="19050">
            <a:solidFill>
              <a:schemeClr val="bg1"/>
            </a:solidFill>
          </a:ln>
          <a:effectLst>
            <a:outerShdw blurRad="40000" dist="15000" dir="5400000" rotWithShape="0">
              <a:srgbClr val="000000">
                <a:alpha val="30000"/>
              </a:srgbClr>
            </a:outerShdw>
          </a:effectLst>
        </p:spPr>
        <p:txBody>
          <a:bodyPr lIns="0" tIns="0" rIns="0" bIns="0" rtlCol="0" anchor="ctr"/>
          <a:lstStyle/>
          <a:p>
            <a:pPr algn="ctr"/>
            <a:r>
              <a:rPr lang="en-GB" sz="600" b="1" dirty="0">
                <a:solidFill>
                  <a:schemeClr val="bg1"/>
                </a:solidFill>
                <a:latin typeface="Montserrat SemiBold" panose="00000700000000000000" pitchFamily="2" charset="0"/>
              </a:rPr>
              <a:t>5</a:t>
            </a:r>
          </a:p>
        </p:txBody>
      </p:sp>
      <p:sp>
        <p:nvSpPr>
          <p:cNvPr id="65" name="Pin 6"/>
          <p:cNvSpPr/>
          <p:nvPr/>
        </p:nvSpPr>
        <p:spPr>
          <a:xfrm>
            <a:off x="8874680" y="2934500"/>
            <a:ext cx="180000" cy="180000"/>
          </a:xfrm>
          <a:prstGeom prst="ellipse">
            <a:avLst/>
          </a:prstGeom>
          <a:solidFill>
            <a:srgbClr val="DC2C3E"/>
          </a:solidFill>
          <a:ln w="19050">
            <a:solidFill>
              <a:schemeClr val="bg1"/>
            </a:solidFill>
          </a:ln>
          <a:effectLst>
            <a:outerShdw blurRad="40000" dist="15000" dir="5400000" rotWithShape="0">
              <a:srgbClr val="000000">
                <a:alpha val="30000"/>
              </a:srgbClr>
            </a:outerShdw>
          </a:effectLst>
        </p:spPr>
        <p:txBody>
          <a:bodyPr lIns="0" tIns="0" rIns="0" bIns="0" rtlCol="0" anchor="ctr"/>
          <a:lstStyle/>
          <a:p>
            <a:pPr algn="ctr"/>
            <a:r>
              <a:rPr lang="en-GB" sz="600" b="1">
                <a:solidFill>
                  <a:schemeClr val="bg1"/>
                </a:solidFill>
                <a:latin typeface="Montserrat SemiBold" panose="00000700000000000000" pitchFamily="2" charset="0"/>
              </a:rPr>
              <a:t>6</a:t>
            </a:r>
          </a:p>
        </p:txBody>
      </p:sp>
      <p:sp>
        <p:nvSpPr>
          <p:cNvPr id="66" name="Pin 7"/>
          <p:cNvSpPr/>
          <p:nvPr/>
        </p:nvSpPr>
        <p:spPr>
          <a:xfrm>
            <a:off x="7698202" y="4216875"/>
            <a:ext cx="180000" cy="180000"/>
          </a:xfrm>
          <a:prstGeom prst="ellipse">
            <a:avLst/>
          </a:prstGeom>
          <a:solidFill>
            <a:srgbClr val="DC2C3E"/>
          </a:solidFill>
          <a:ln w="19050">
            <a:solidFill>
              <a:schemeClr val="bg1"/>
            </a:solidFill>
          </a:ln>
          <a:effectLst>
            <a:outerShdw blurRad="40000" dist="15000" dir="5400000" rotWithShape="0">
              <a:srgbClr val="000000">
                <a:alpha val="30000"/>
              </a:srgbClr>
            </a:outerShdw>
          </a:effectLst>
        </p:spPr>
        <p:txBody>
          <a:bodyPr lIns="0" tIns="0" rIns="0" bIns="0" rtlCol="0" anchor="ctr"/>
          <a:lstStyle/>
          <a:p>
            <a:pPr algn="ctr"/>
            <a:r>
              <a:rPr lang="en-GB" sz="600" b="1" dirty="0">
                <a:solidFill>
                  <a:schemeClr val="bg1"/>
                </a:solidFill>
                <a:latin typeface="Montserrat SemiBold" panose="00000700000000000000" pitchFamily="2" charset="0"/>
              </a:rPr>
              <a:t>7</a:t>
            </a:r>
          </a:p>
        </p:txBody>
      </p:sp>
      <p:sp>
        <p:nvSpPr>
          <p:cNvPr id="67" name="Pin 8"/>
          <p:cNvSpPr/>
          <p:nvPr/>
        </p:nvSpPr>
        <p:spPr>
          <a:xfrm>
            <a:off x="5905793" y="4490875"/>
            <a:ext cx="180000" cy="180000"/>
          </a:xfrm>
          <a:prstGeom prst="ellipse">
            <a:avLst/>
          </a:prstGeom>
          <a:solidFill>
            <a:srgbClr val="DC2C3E"/>
          </a:solidFill>
          <a:ln w="19050">
            <a:solidFill>
              <a:schemeClr val="bg1"/>
            </a:solidFill>
          </a:ln>
          <a:effectLst>
            <a:outerShdw blurRad="40000" dist="15000" dir="5400000" rotWithShape="0">
              <a:srgbClr val="000000">
                <a:alpha val="30000"/>
              </a:srgbClr>
            </a:outerShdw>
          </a:effectLst>
        </p:spPr>
        <p:txBody>
          <a:bodyPr lIns="0" tIns="0" rIns="0" bIns="0" rtlCol="0" anchor="ctr"/>
          <a:lstStyle/>
          <a:p>
            <a:pPr algn="ctr"/>
            <a:r>
              <a:rPr lang="en-GB" sz="600" b="1">
                <a:solidFill>
                  <a:schemeClr val="bg1"/>
                </a:solidFill>
                <a:latin typeface="Montserrat SemiBold" panose="00000700000000000000" pitchFamily="2" charset="0"/>
              </a:rPr>
              <a:t>8</a:t>
            </a:r>
          </a:p>
        </p:txBody>
      </p:sp>
      <p:sp>
        <p:nvSpPr>
          <p:cNvPr id="70" name="Note Badge 1"/>
          <p:cNvSpPr/>
          <p:nvPr/>
        </p:nvSpPr>
        <p:spPr>
          <a:xfrm>
            <a:off x="263056" y="2395375"/>
            <a:ext cx="300000" cy="300000"/>
          </a:xfrm>
          <a:prstGeom prst="ellipse">
            <a:avLst/>
          </a:prstGeom>
          <a:solidFill>
            <a:srgbClr val="DC2C3E"/>
          </a:solidFill>
          <a:ln>
            <a:noFill/>
          </a:ln>
        </p:spPr>
        <p:txBody>
          <a:bodyPr lIns="0" tIns="0" rIns="0" bIns="0" rtlCol="0" anchor="ctr"/>
          <a:lstStyle/>
          <a:p>
            <a:pPr algn="ctr"/>
            <a:r>
              <a:rPr lang="en-GB" sz="1000" b="1">
                <a:solidFill>
                  <a:schemeClr val="bg1"/>
                </a:solidFill>
                <a:latin typeface="Montserrat SemiBold" panose="00000700000000000000" pitchFamily="2" charset="0"/>
              </a:rPr>
              <a:t>1</a:t>
            </a:r>
          </a:p>
        </p:txBody>
      </p:sp>
      <p:sp>
        <p:nvSpPr>
          <p:cNvPr id="80" name="Note Text 1"/>
          <p:cNvSpPr txBox="1"/>
          <p:nvPr/>
        </p:nvSpPr>
        <p:spPr>
          <a:xfrm>
            <a:off x="643056" y="2185375"/>
            <a:ext cx="2500000" cy="72000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>
              <a:lnSpc>
                <a:spcPct val="104000"/>
              </a:lnSpc>
            </a:pPr>
            <a:r>
              <a:rPr lang="en-GB" sz="1050" b="1" dirty="0">
                <a:solidFill>
                  <a:srgbClr val="DC2C3E"/>
                </a:solidFill>
                <a:latin typeface="Montserrat" panose="00000500000000000000" pitchFamily="2" charset="0"/>
              </a:rPr>
              <a:t>Look beyond the scope</a:t>
            </a:r>
            <a:r>
              <a:rPr lang="en-GB" sz="1050" dirty="0">
                <a:solidFill>
                  <a:srgbClr val="404040"/>
                </a:solidFill>
                <a:latin typeface="Montserrat" panose="00000500000000000000" pitchFamily="2" charset="0"/>
              </a:rPr>
              <a:t> — granular depth signals higher-quality work.</a:t>
            </a:r>
          </a:p>
        </p:txBody>
      </p:sp>
      <p:sp>
        <p:nvSpPr>
          <p:cNvPr id="71" name="Note Badge 2"/>
          <p:cNvSpPr/>
          <p:nvPr/>
        </p:nvSpPr>
        <p:spPr>
          <a:xfrm>
            <a:off x="263056" y="3186125"/>
            <a:ext cx="300000" cy="300000"/>
          </a:xfrm>
          <a:prstGeom prst="ellipse">
            <a:avLst/>
          </a:prstGeom>
          <a:solidFill>
            <a:srgbClr val="DC2C3E"/>
          </a:solidFill>
          <a:ln>
            <a:noFill/>
          </a:ln>
        </p:spPr>
        <p:txBody>
          <a:bodyPr lIns="0" tIns="0" rIns="0" bIns="0" rtlCol="0" anchor="ctr"/>
          <a:lstStyle/>
          <a:p>
            <a:pPr algn="ctr"/>
            <a:r>
              <a:rPr lang="en-GB" sz="1000" b="1">
                <a:solidFill>
                  <a:schemeClr val="bg1"/>
                </a:solidFill>
                <a:latin typeface="Montserrat SemiBold" panose="00000700000000000000" pitchFamily="2" charset="0"/>
              </a:rPr>
              <a:t>2</a:t>
            </a:r>
          </a:p>
        </p:txBody>
      </p:sp>
      <p:sp>
        <p:nvSpPr>
          <p:cNvPr id="81" name="Note Text 2"/>
          <p:cNvSpPr txBox="1"/>
          <p:nvPr/>
        </p:nvSpPr>
        <p:spPr>
          <a:xfrm>
            <a:off x="643056" y="2976125"/>
            <a:ext cx="2500000" cy="72000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>
              <a:lnSpc>
                <a:spcPct val="104000"/>
              </a:lnSpc>
            </a:pPr>
            <a:r>
              <a:rPr lang="en-GB" sz="1050" b="1" dirty="0">
                <a:solidFill>
                  <a:srgbClr val="DC2C3E"/>
                </a:solidFill>
                <a:latin typeface="Montserrat" panose="00000500000000000000" pitchFamily="2" charset="0"/>
              </a:rPr>
              <a:t>Low difficulty overall</a:t>
            </a:r>
            <a:r>
              <a:rPr lang="en-GB" sz="1050" dirty="0">
                <a:solidFill>
                  <a:srgbClr val="404040"/>
                </a:solidFill>
                <a:latin typeface="Montserrat" panose="00000500000000000000" pitchFamily="2" charset="0"/>
              </a:rPr>
              <a:t>, </a:t>
            </a:r>
            <a:r>
              <a:rPr lang="en-GB" sz="1050" dirty="0">
                <a:latin typeface="Montserrat" panose="00000500000000000000" pitchFamily="2" charset="0"/>
              </a:rPr>
              <a:t>though programming and technology experience helps.</a:t>
            </a:r>
          </a:p>
        </p:txBody>
      </p:sp>
      <p:sp>
        <p:nvSpPr>
          <p:cNvPr id="72" name="Note Badge 3"/>
          <p:cNvSpPr/>
          <p:nvPr/>
        </p:nvSpPr>
        <p:spPr>
          <a:xfrm>
            <a:off x="263056" y="3976875"/>
            <a:ext cx="300000" cy="300000"/>
          </a:xfrm>
          <a:prstGeom prst="ellipse">
            <a:avLst/>
          </a:prstGeom>
          <a:solidFill>
            <a:srgbClr val="DC2C3E"/>
          </a:solidFill>
          <a:ln>
            <a:noFill/>
          </a:ln>
        </p:spPr>
        <p:txBody>
          <a:bodyPr lIns="0" tIns="0" rIns="0" bIns="0" rtlCol="0" anchor="ctr"/>
          <a:lstStyle/>
          <a:p>
            <a:pPr algn="ctr"/>
            <a:r>
              <a:rPr lang="en-GB" sz="1000" b="1">
                <a:solidFill>
                  <a:schemeClr val="bg1"/>
                </a:solidFill>
                <a:latin typeface="Montserrat SemiBold" panose="00000700000000000000" pitchFamily="2" charset="0"/>
              </a:rPr>
              <a:t>3</a:t>
            </a:r>
          </a:p>
        </p:txBody>
      </p:sp>
      <p:sp>
        <p:nvSpPr>
          <p:cNvPr id="82" name="Note Text 3"/>
          <p:cNvSpPr txBox="1"/>
          <p:nvPr/>
        </p:nvSpPr>
        <p:spPr>
          <a:xfrm>
            <a:off x="643056" y="3766875"/>
            <a:ext cx="2500000" cy="72000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>
              <a:lnSpc>
                <a:spcPct val="104000"/>
              </a:lnSpc>
            </a:pPr>
            <a:r>
              <a:rPr lang="en-GB" sz="1050" b="1">
                <a:solidFill>
                  <a:srgbClr val="DC2C3E"/>
                </a:solidFill>
                <a:latin typeface="Montserrat" panose="00000500000000000000" pitchFamily="2" charset="0"/>
              </a:rPr>
              <a:t>Single view</a:t>
            </a:r>
            <a:r>
              <a:rPr lang="en-GB" sz="1050">
                <a:solidFill>
                  <a:srgbClr val="404040"/>
                </a:solidFill>
                <a:latin typeface="Montserrat" panose="00000500000000000000" pitchFamily="2" charset="0"/>
              </a:rPr>
              <a:t> integration across multiple datasets — not a modelling exercise.</a:t>
            </a:r>
          </a:p>
        </p:txBody>
      </p:sp>
      <p:sp>
        <p:nvSpPr>
          <p:cNvPr id="73" name="Note Badge 4"/>
          <p:cNvSpPr/>
          <p:nvPr/>
        </p:nvSpPr>
        <p:spPr>
          <a:xfrm>
            <a:off x="263056" y="4767625"/>
            <a:ext cx="300000" cy="300000"/>
          </a:xfrm>
          <a:prstGeom prst="ellipse">
            <a:avLst/>
          </a:prstGeom>
          <a:solidFill>
            <a:srgbClr val="DC2C3E"/>
          </a:solidFill>
          <a:ln>
            <a:noFill/>
          </a:ln>
        </p:spPr>
        <p:txBody>
          <a:bodyPr lIns="0" tIns="0" rIns="0" bIns="0" rtlCol="0" anchor="ctr"/>
          <a:lstStyle/>
          <a:p>
            <a:pPr algn="ctr"/>
            <a:r>
              <a:rPr lang="en-GB" sz="1000" b="1">
                <a:solidFill>
                  <a:schemeClr val="bg1"/>
                </a:solidFill>
                <a:latin typeface="Montserrat SemiBold" panose="00000700000000000000" pitchFamily="2" charset="0"/>
              </a:rPr>
              <a:t>4</a:t>
            </a:r>
          </a:p>
        </p:txBody>
      </p:sp>
      <p:sp>
        <p:nvSpPr>
          <p:cNvPr id="83" name="Note Text 4"/>
          <p:cNvSpPr txBox="1"/>
          <p:nvPr/>
        </p:nvSpPr>
        <p:spPr>
          <a:xfrm>
            <a:off x="643056" y="4557625"/>
            <a:ext cx="2500000" cy="72000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>
              <a:lnSpc>
                <a:spcPct val="104000"/>
              </a:lnSpc>
            </a:pPr>
            <a:r>
              <a:rPr lang="en-GB" sz="1050" b="1">
                <a:solidFill>
                  <a:srgbClr val="DC2C3E"/>
                </a:solidFill>
                <a:latin typeface="Montserrat" panose="00000500000000000000" pitchFamily="2" charset="0"/>
              </a:rPr>
              <a:t>Cleaning the datasets</a:t>
            </a:r>
            <a:r>
              <a:rPr lang="en-GB" sz="1050">
                <a:solidFill>
                  <a:srgbClr val="404040"/>
                </a:solidFill>
                <a:latin typeface="Montserrat" panose="00000500000000000000" pitchFamily="2" charset="0"/>
              </a:rPr>
              <a:t> is where the bulk of the delivery lies.</a:t>
            </a:r>
          </a:p>
        </p:txBody>
      </p:sp>
      <p:sp>
        <p:nvSpPr>
          <p:cNvPr id="74" name="Note Badge 5"/>
          <p:cNvSpPr/>
          <p:nvPr/>
        </p:nvSpPr>
        <p:spPr>
          <a:xfrm>
            <a:off x="9136944" y="2395375"/>
            <a:ext cx="300000" cy="300000"/>
          </a:xfrm>
          <a:prstGeom prst="ellipse">
            <a:avLst/>
          </a:prstGeom>
          <a:solidFill>
            <a:srgbClr val="DC2C3E"/>
          </a:solidFill>
          <a:ln>
            <a:noFill/>
          </a:ln>
        </p:spPr>
        <p:txBody>
          <a:bodyPr lIns="0" tIns="0" rIns="0" bIns="0" rtlCol="0" anchor="ctr"/>
          <a:lstStyle/>
          <a:p>
            <a:pPr algn="ctr"/>
            <a:r>
              <a:rPr lang="en-GB" sz="1000" b="1">
                <a:solidFill>
                  <a:schemeClr val="bg1"/>
                </a:solidFill>
                <a:latin typeface="Montserrat SemiBold" panose="00000700000000000000" pitchFamily="2" charset="0"/>
              </a:rPr>
              <a:t>5</a:t>
            </a:r>
          </a:p>
        </p:txBody>
      </p:sp>
      <p:sp>
        <p:nvSpPr>
          <p:cNvPr id="84" name="Note Text 5"/>
          <p:cNvSpPr txBox="1"/>
          <p:nvPr/>
        </p:nvSpPr>
        <p:spPr>
          <a:xfrm>
            <a:off x="9516944" y="2185375"/>
            <a:ext cx="2412000" cy="72000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>
              <a:lnSpc>
                <a:spcPct val="104000"/>
              </a:lnSpc>
            </a:pPr>
            <a:r>
              <a:rPr lang="en-GB" sz="1050" b="1">
                <a:solidFill>
                  <a:srgbClr val="DC2C3E"/>
                </a:solidFill>
                <a:latin typeface="Montserrat" panose="00000500000000000000" pitchFamily="2" charset="0"/>
              </a:rPr>
              <a:t>AI is allowed</a:t>
            </a:r>
            <a:r>
              <a:rPr lang="en-GB" sz="1050">
                <a:solidFill>
                  <a:srgbClr val="404040"/>
                </a:solidFill>
                <a:latin typeface="Montserrat" panose="00000500000000000000" pitchFamily="2" charset="0"/>
              </a:rPr>
              <a:t> with clear justification — do not depend on it.</a:t>
            </a:r>
          </a:p>
        </p:txBody>
      </p:sp>
      <p:sp>
        <p:nvSpPr>
          <p:cNvPr id="75" name="Note Badge 6"/>
          <p:cNvSpPr/>
          <p:nvPr/>
        </p:nvSpPr>
        <p:spPr>
          <a:xfrm>
            <a:off x="9136944" y="3186125"/>
            <a:ext cx="300000" cy="300000"/>
          </a:xfrm>
          <a:prstGeom prst="ellipse">
            <a:avLst/>
          </a:prstGeom>
          <a:solidFill>
            <a:srgbClr val="DC2C3E"/>
          </a:solidFill>
          <a:ln>
            <a:noFill/>
          </a:ln>
        </p:spPr>
        <p:txBody>
          <a:bodyPr lIns="0" tIns="0" rIns="0" bIns="0" rtlCol="0" anchor="ctr"/>
          <a:lstStyle/>
          <a:p>
            <a:pPr algn="ctr"/>
            <a:r>
              <a:rPr lang="en-GB" sz="1000" b="1">
                <a:solidFill>
                  <a:schemeClr val="bg1"/>
                </a:solidFill>
                <a:latin typeface="Montserrat SemiBold" panose="00000700000000000000" pitchFamily="2" charset="0"/>
              </a:rPr>
              <a:t>6</a:t>
            </a:r>
          </a:p>
        </p:txBody>
      </p:sp>
      <p:sp>
        <p:nvSpPr>
          <p:cNvPr id="85" name="Note Text 6"/>
          <p:cNvSpPr txBox="1"/>
          <p:nvPr/>
        </p:nvSpPr>
        <p:spPr>
          <a:xfrm>
            <a:off x="9516944" y="2976125"/>
            <a:ext cx="2412000" cy="72000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>
              <a:lnSpc>
                <a:spcPct val="104000"/>
              </a:lnSpc>
            </a:pPr>
            <a:r>
              <a:rPr lang="en-GB" sz="1050" b="1" dirty="0">
                <a:solidFill>
                  <a:srgbClr val="DC2C3E"/>
                </a:solidFill>
                <a:latin typeface="Montserrat" panose="00000500000000000000" pitchFamily="2" charset="0"/>
              </a:rPr>
              <a:t>Clear ownership</a:t>
            </a:r>
            <a:r>
              <a:rPr lang="en-GB" sz="1050" dirty="0">
                <a:solidFill>
                  <a:srgbClr val="404040"/>
                </a:solidFill>
                <a:latin typeface="Montserrat" panose="00000500000000000000" pitchFamily="2" charset="0"/>
              </a:rPr>
              <a:t> of the work must be evident throughout.</a:t>
            </a:r>
          </a:p>
        </p:txBody>
      </p:sp>
      <p:sp>
        <p:nvSpPr>
          <p:cNvPr id="76" name="Note Badge 7"/>
          <p:cNvSpPr/>
          <p:nvPr/>
        </p:nvSpPr>
        <p:spPr>
          <a:xfrm>
            <a:off x="9136944" y="3976875"/>
            <a:ext cx="300000" cy="300000"/>
          </a:xfrm>
          <a:prstGeom prst="ellipse">
            <a:avLst/>
          </a:prstGeom>
          <a:solidFill>
            <a:srgbClr val="DC2C3E"/>
          </a:solidFill>
          <a:ln>
            <a:noFill/>
          </a:ln>
        </p:spPr>
        <p:txBody>
          <a:bodyPr lIns="0" tIns="0" rIns="0" bIns="0" rtlCol="0" anchor="ctr"/>
          <a:lstStyle/>
          <a:p>
            <a:pPr algn="ctr"/>
            <a:r>
              <a:rPr lang="en-GB" sz="1000" b="1">
                <a:solidFill>
                  <a:schemeClr val="bg1"/>
                </a:solidFill>
                <a:latin typeface="Montserrat SemiBold" panose="00000700000000000000" pitchFamily="2" charset="0"/>
              </a:rPr>
              <a:t>7</a:t>
            </a:r>
          </a:p>
        </p:txBody>
      </p:sp>
      <p:sp>
        <p:nvSpPr>
          <p:cNvPr id="86" name="Note Text 7"/>
          <p:cNvSpPr txBox="1"/>
          <p:nvPr/>
        </p:nvSpPr>
        <p:spPr>
          <a:xfrm>
            <a:off x="9516944" y="3766875"/>
            <a:ext cx="2412000" cy="72000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>
              <a:lnSpc>
                <a:spcPct val="104000"/>
              </a:lnSpc>
            </a:pPr>
            <a:r>
              <a:rPr lang="en-GB" sz="1050" b="1">
                <a:solidFill>
                  <a:srgbClr val="DC2C3E"/>
                </a:solidFill>
                <a:latin typeface="Montserrat" panose="00000500000000000000" pitchFamily="2" charset="0"/>
              </a:rPr>
              <a:t>Delivered as a presentation</a:t>
            </a:r>
            <a:r>
              <a:rPr lang="en-GB" sz="1050">
                <a:solidFill>
                  <a:srgbClr val="404040"/>
                </a:solidFill>
                <a:latin typeface="Montserrat" panose="00000500000000000000" pitchFamily="2" charset="0"/>
              </a:rPr>
              <a:t>, testing written communication.</a:t>
            </a:r>
          </a:p>
        </p:txBody>
      </p:sp>
      <p:sp>
        <p:nvSpPr>
          <p:cNvPr id="77" name="Note Badge 8"/>
          <p:cNvSpPr/>
          <p:nvPr/>
        </p:nvSpPr>
        <p:spPr>
          <a:xfrm>
            <a:off x="9136944" y="4767625"/>
            <a:ext cx="300000" cy="300000"/>
          </a:xfrm>
          <a:prstGeom prst="ellipse">
            <a:avLst/>
          </a:prstGeom>
          <a:solidFill>
            <a:srgbClr val="DC2C3E"/>
          </a:solidFill>
          <a:ln>
            <a:noFill/>
          </a:ln>
        </p:spPr>
        <p:txBody>
          <a:bodyPr lIns="0" tIns="0" rIns="0" bIns="0" rtlCol="0" anchor="ctr"/>
          <a:lstStyle/>
          <a:p>
            <a:pPr algn="ctr"/>
            <a:r>
              <a:rPr lang="en-GB" sz="1000" b="1">
                <a:solidFill>
                  <a:schemeClr val="bg1"/>
                </a:solidFill>
                <a:latin typeface="Montserrat SemiBold" panose="00000700000000000000" pitchFamily="2" charset="0"/>
              </a:rPr>
              <a:t>8</a:t>
            </a:r>
          </a:p>
        </p:txBody>
      </p:sp>
      <p:sp>
        <p:nvSpPr>
          <p:cNvPr id="87" name="Note Text 8"/>
          <p:cNvSpPr txBox="1"/>
          <p:nvPr/>
        </p:nvSpPr>
        <p:spPr>
          <a:xfrm>
            <a:off x="9516944" y="4557625"/>
            <a:ext cx="2412000" cy="72000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>
              <a:lnSpc>
                <a:spcPct val="104000"/>
              </a:lnSpc>
            </a:pPr>
            <a:r>
              <a:rPr lang="en-GB" sz="1050" b="1">
                <a:solidFill>
                  <a:srgbClr val="DC2C3E"/>
                </a:solidFill>
                <a:latin typeface="Montserrat" panose="00000500000000000000" pitchFamily="2" charset="0"/>
              </a:rPr>
              <a:t>Self-reflection</a:t>
            </a:r>
            <a:r>
              <a:rPr lang="en-GB" sz="1050">
                <a:solidFill>
                  <a:srgbClr val="404040"/>
                </a:solidFill>
                <a:latin typeface="Montserrat" panose="00000500000000000000" pitchFamily="2" charset="0"/>
              </a:rPr>
              <a:t> included; may assess capacity to learn.</a:t>
            </a:r>
          </a:p>
        </p:txBody>
      </p:sp>
      <p:sp>
        <p:nvSpPr>
          <p:cNvPr id="40" name="Source Footer"/>
          <p:cNvSpPr txBox="1"/>
          <p:nvPr/>
        </p:nvSpPr>
        <p:spPr>
          <a:xfrm>
            <a:off x="600000" y="5560000"/>
            <a:ext cx="10992000" cy="320000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algn="ctr"/>
            <a:r>
              <a:rPr lang="en-GB" sz="1000" dirty="0">
                <a:solidFill>
                  <a:srgbClr val="808080"/>
                </a:solidFill>
                <a:latin typeface="Montserrat" panose="00000500000000000000" pitchFamily="2" charset="0"/>
              </a:rPr>
              <a:t>Dataset Source: </a:t>
            </a:r>
            <a:r>
              <a:rPr lang="en-GB" sz="1000" b="1" dirty="0">
                <a:solidFill>
                  <a:srgbClr val="DC2C3E"/>
                </a:solidFill>
                <a:latin typeface="Montserrat" panose="00000500000000000000" pitchFamily="2" charset="0"/>
              </a:rPr>
              <a:t>https://github.com/whythedots/DataEngineerCars</a:t>
            </a:r>
          </a:p>
        </p:txBody>
      </p:sp>
      <p:sp>
        <p:nvSpPr>
          <p:cNvPr id="45" name="Rectangle 44">
            <a:extLst>
              <a:ext uri="{FF2B5EF4-FFF2-40B4-BE49-F238E27FC236}">
                <a16:creationId xmlns:a16="http://schemas.microsoft.com/office/drawing/2014/main" id="{02EAB891-CC22-8A2C-8528-E9C4561A359E}"/>
              </a:ext>
            </a:extLst>
          </p:cNvPr>
          <p:cNvSpPr/>
          <p:nvPr/>
        </p:nvSpPr>
        <p:spPr>
          <a:xfrm>
            <a:off x="4471988" y="2342096"/>
            <a:ext cx="4252912" cy="96304"/>
          </a:xfrm>
          <a:prstGeom prst="rect">
            <a:avLst/>
          </a:prstGeom>
          <a:solidFill>
            <a:srgbClr val="DC2C3E">
              <a:alpha val="2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47" name="Rectangle 46">
            <a:extLst>
              <a:ext uri="{FF2B5EF4-FFF2-40B4-BE49-F238E27FC236}">
                <a16:creationId xmlns:a16="http://schemas.microsoft.com/office/drawing/2014/main" id="{CF165D29-8C4D-ABFE-7760-A1C638195B7B}"/>
              </a:ext>
            </a:extLst>
          </p:cNvPr>
          <p:cNvSpPr/>
          <p:nvPr/>
        </p:nvSpPr>
        <p:spPr>
          <a:xfrm>
            <a:off x="3358380" y="2452291"/>
            <a:ext cx="208338" cy="96304"/>
          </a:xfrm>
          <a:prstGeom prst="rect">
            <a:avLst/>
          </a:prstGeom>
          <a:solidFill>
            <a:srgbClr val="DC2C3E">
              <a:alpha val="2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49" name="Rectangle 48">
            <a:extLst>
              <a:ext uri="{FF2B5EF4-FFF2-40B4-BE49-F238E27FC236}">
                <a16:creationId xmlns:a16="http://schemas.microsoft.com/office/drawing/2014/main" id="{65DA1E21-B87A-02EC-0F9C-DB73CCD10140}"/>
              </a:ext>
            </a:extLst>
          </p:cNvPr>
          <p:cNvSpPr/>
          <p:nvPr/>
        </p:nvSpPr>
        <p:spPr>
          <a:xfrm>
            <a:off x="4263649" y="2636496"/>
            <a:ext cx="3551614" cy="96304"/>
          </a:xfrm>
          <a:prstGeom prst="rect">
            <a:avLst/>
          </a:prstGeom>
          <a:solidFill>
            <a:srgbClr val="DC2C3E">
              <a:alpha val="2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51" name="Rectangle 50">
            <a:extLst>
              <a:ext uri="{FF2B5EF4-FFF2-40B4-BE49-F238E27FC236}">
                <a16:creationId xmlns:a16="http://schemas.microsoft.com/office/drawing/2014/main" id="{B00949D5-17FF-AC5D-D0BD-F9DA99341FA7}"/>
              </a:ext>
            </a:extLst>
          </p:cNvPr>
          <p:cNvSpPr/>
          <p:nvPr/>
        </p:nvSpPr>
        <p:spPr>
          <a:xfrm>
            <a:off x="7841456" y="2636271"/>
            <a:ext cx="962837" cy="96304"/>
          </a:xfrm>
          <a:prstGeom prst="rect">
            <a:avLst/>
          </a:prstGeom>
          <a:solidFill>
            <a:srgbClr val="DC2C3E">
              <a:alpha val="2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53" name="Rectangle 52">
            <a:extLst>
              <a:ext uri="{FF2B5EF4-FFF2-40B4-BE49-F238E27FC236}">
                <a16:creationId xmlns:a16="http://schemas.microsoft.com/office/drawing/2014/main" id="{6681100C-8B4F-F538-7636-9ACDA0B93989}"/>
              </a:ext>
            </a:extLst>
          </p:cNvPr>
          <p:cNvSpPr/>
          <p:nvPr/>
        </p:nvSpPr>
        <p:spPr>
          <a:xfrm>
            <a:off x="6115050" y="2744752"/>
            <a:ext cx="1993106" cy="96304"/>
          </a:xfrm>
          <a:prstGeom prst="rect">
            <a:avLst/>
          </a:prstGeom>
          <a:solidFill>
            <a:srgbClr val="DC2C3E">
              <a:alpha val="2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55" name="Rectangle 54">
            <a:extLst>
              <a:ext uri="{FF2B5EF4-FFF2-40B4-BE49-F238E27FC236}">
                <a16:creationId xmlns:a16="http://schemas.microsoft.com/office/drawing/2014/main" id="{B09253EA-9612-7452-81B6-595BCB5CCDE9}"/>
              </a:ext>
            </a:extLst>
          </p:cNvPr>
          <p:cNvSpPr/>
          <p:nvPr/>
        </p:nvSpPr>
        <p:spPr>
          <a:xfrm>
            <a:off x="4312444" y="2925815"/>
            <a:ext cx="1181099" cy="96304"/>
          </a:xfrm>
          <a:prstGeom prst="rect">
            <a:avLst/>
          </a:prstGeom>
          <a:solidFill>
            <a:srgbClr val="DC2C3E">
              <a:alpha val="2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56" name="Rectangle 55">
            <a:extLst>
              <a:ext uri="{FF2B5EF4-FFF2-40B4-BE49-F238E27FC236}">
                <a16:creationId xmlns:a16="http://schemas.microsoft.com/office/drawing/2014/main" id="{186CC061-E1B9-A1BC-3B0C-1569B0C08821}"/>
              </a:ext>
            </a:extLst>
          </p:cNvPr>
          <p:cNvSpPr/>
          <p:nvPr/>
        </p:nvSpPr>
        <p:spPr>
          <a:xfrm>
            <a:off x="5528255" y="2925592"/>
            <a:ext cx="839208" cy="96304"/>
          </a:xfrm>
          <a:prstGeom prst="rect">
            <a:avLst/>
          </a:prstGeom>
          <a:solidFill>
            <a:srgbClr val="DC2C3E">
              <a:alpha val="2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57" name="Rectangle 56">
            <a:extLst>
              <a:ext uri="{FF2B5EF4-FFF2-40B4-BE49-F238E27FC236}">
                <a16:creationId xmlns:a16="http://schemas.microsoft.com/office/drawing/2014/main" id="{6DF7EFB2-BD2E-BCB7-C8DD-4F25502F124D}"/>
              </a:ext>
            </a:extLst>
          </p:cNvPr>
          <p:cNvSpPr/>
          <p:nvPr/>
        </p:nvSpPr>
        <p:spPr>
          <a:xfrm>
            <a:off x="6517049" y="2925592"/>
            <a:ext cx="1162481" cy="96304"/>
          </a:xfrm>
          <a:prstGeom prst="rect">
            <a:avLst/>
          </a:prstGeom>
          <a:solidFill>
            <a:srgbClr val="DC2C3E">
              <a:alpha val="2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58" name="Rectangle 57">
            <a:extLst>
              <a:ext uri="{FF2B5EF4-FFF2-40B4-BE49-F238E27FC236}">
                <a16:creationId xmlns:a16="http://schemas.microsoft.com/office/drawing/2014/main" id="{584687D9-70A0-8CF4-2151-20F0A00B2556}"/>
              </a:ext>
            </a:extLst>
          </p:cNvPr>
          <p:cNvSpPr/>
          <p:nvPr/>
        </p:nvSpPr>
        <p:spPr>
          <a:xfrm>
            <a:off x="4664868" y="3606964"/>
            <a:ext cx="321470" cy="96304"/>
          </a:xfrm>
          <a:prstGeom prst="rect">
            <a:avLst/>
          </a:prstGeom>
          <a:solidFill>
            <a:srgbClr val="DC2C3E">
              <a:alpha val="2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69" name="Rectangle 68">
            <a:extLst>
              <a:ext uri="{FF2B5EF4-FFF2-40B4-BE49-F238E27FC236}">
                <a16:creationId xmlns:a16="http://schemas.microsoft.com/office/drawing/2014/main" id="{0A2DE10B-A91A-E2D2-9133-6289F9FFE314}"/>
              </a:ext>
            </a:extLst>
          </p:cNvPr>
          <p:cNvSpPr/>
          <p:nvPr/>
        </p:nvSpPr>
        <p:spPr>
          <a:xfrm>
            <a:off x="4151709" y="3880825"/>
            <a:ext cx="1376546" cy="96304"/>
          </a:xfrm>
          <a:prstGeom prst="rect">
            <a:avLst/>
          </a:prstGeom>
          <a:solidFill>
            <a:srgbClr val="DC2C3E">
              <a:alpha val="2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78" name="Rectangle 77">
            <a:extLst>
              <a:ext uri="{FF2B5EF4-FFF2-40B4-BE49-F238E27FC236}">
                <a16:creationId xmlns:a16="http://schemas.microsoft.com/office/drawing/2014/main" id="{1BCF4371-84E2-A052-8492-CBF1E57D6D77}"/>
              </a:ext>
            </a:extLst>
          </p:cNvPr>
          <p:cNvSpPr/>
          <p:nvPr/>
        </p:nvSpPr>
        <p:spPr>
          <a:xfrm>
            <a:off x="4151709" y="3976089"/>
            <a:ext cx="958454" cy="96304"/>
          </a:xfrm>
          <a:prstGeom prst="rect">
            <a:avLst/>
          </a:prstGeom>
          <a:solidFill>
            <a:srgbClr val="DC2C3E">
              <a:alpha val="2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79" name="Rectangle 78">
            <a:extLst>
              <a:ext uri="{FF2B5EF4-FFF2-40B4-BE49-F238E27FC236}">
                <a16:creationId xmlns:a16="http://schemas.microsoft.com/office/drawing/2014/main" id="{0D980891-A2C8-A6B3-0908-EC3DB27BF158}"/>
              </a:ext>
            </a:extLst>
          </p:cNvPr>
          <p:cNvSpPr/>
          <p:nvPr/>
        </p:nvSpPr>
        <p:spPr>
          <a:xfrm>
            <a:off x="4150517" y="4168456"/>
            <a:ext cx="2345533" cy="96304"/>
          </a:xfrm>
          <a:prstGeom prst="rect">
            <a:avLst/>
          </a:prstGeom>
          <a:solidFill>
            <a:srgbClr val="DC2C3E">
              <a:alpha val="2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88" name="Rectangle 87">
            <a:extLst>
              <a:ext uri="{FF2B5EF4-FFF2-40B4-BE49-F238E27FC236}">
                <a16:creationId xmlns:a16="http://schemas.microsoft.com/office/drawing/2014/main" id="{EF1BECF4-2C6F-EA1E-2E90-F0536B1F7C4E}"/>
              </a:ext>
            </a:extLst>
          </p:cNvPr>
          <p:cNvSpPr/>
          <p:nvPr/>
        </p:nvSpPr>
        <p:spPr>
          <a:xfrm>
            <a:off x="4402930" y="4265607"/>
            <a:ext cx="904876" cy="96304"/>
          </a:xfrm>
          <a:prstGeom prst="rect">
            <a:avLst/>
          </a:prstGeom>
          <a:solidFill>
            <a:srgbClr val="DC2C3E">
              <a:alpha val="2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91" name="Rectangle 90">
            <a:extLst>
              <a:ext uri="{FF2B5EF4-FFF2-40B4-BE49-F238E27FC236}">
                <a16:creationId xmlns:a16="http://schemas.microsoft.com/office/drawing/2014/main" id="{2888DA57-2145-3786-24E3-226BD402026E}"/>
              </a:ext>
            </a:extLst>
          </p:cNvPr>
          <p:cNvSpPr/>
          <p:nvPr/>
        </p:nvSpPr>
        <p:spPr>
          <a:xfrm>
            <a:off x="6496050" y="4263896"/>
            <a:ext cx="321470" cy="96304"/>
          </a:xfrm>
          <a:prstGeom prst="rect">
            <a:avLst/>
          </a:prstGeom>
          <a:solidFill>
            <a:srgbClr val="DC2C3E">
              <a:alpha val="2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92" name="Rectangle 91">
            <a:extLst>
              <a:ext uri="{FF2B5EF4-FFF2-40B4-BE49-F238E27FC236}">
                <a16:creationId xmlns:a16="http://schemas.microsoft.com/office/drawing/2014/main" id="{C49815F3-48B4-55DA-E05E-316407F1274B}"/>
              </a:ext>
            </a:extLst>
          </p:cNvPr>
          <p:cNvSpPr/>
          <p:nvPr/>
        </p:nvSpPr>
        <p:spPr>
          <a:xfrm>
            <a:off x="7347789" y="4265471"/>
            <a:ext cx="321470" cy="96304"/>
          </a:xfrm>
          <a:prstGeom prst="rect">
            <a:avLst/>
          </a:prstGeom>
          <a:solidFill>
            <a:srgbClr val="DC2C3E">
              <a:alpha val="2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93" name="Rectangle 92">
            <a:extLst>
              <a:ext uri="{FF2B5EF4-FFF2-40B4-BE49-F238E27FC236}">
                <a16:creationId xmlns:a16="http://schemas.microsoft.com/office/drawing/2014/main" id="{64BB6B7C-7CA9-568B-28BC-17C6D3D8A631}"/>
              </a:ext>
            </a:extLst>
          </p:cNvPr>
          <p:cNvSpPr/>
          <p:nvPr/>
        </p:nvSpPr>
        <p:spPr>
          <a:xfrm>
            <a:off x="4215817" y="4362580"/>
            <a:ext cx="601451" cy="179999"/>
          </a:xfrm>
          <a:prstGeom prst="rect">
            <a:avLst/>
          </a:prstGeom>
          <a:solidFill>
            <a:srgbClr val="DC2C3E">
              <a:alpha val="2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96" name="Rectangle 95">
            <a:extLst>
              <a:ext uri="{FF2B5EF4-FFF2-40B4-BE49-F238E27FC236}">
                <a16:creationId xmlns:a16="http://schemas.microsoft.com/office/drawing/2014/main" id="{2F168F13-3C6E-2B0F-497D-8FB5EE67EABD}"/>
              </a:ext>
            </a:extLst>
          </p:cNvPr>
          <p:cNvSpPr/>
          <p:nvPr/>
        </p:nvSpPr>
        <p:spPr>
          <a:xfrm>
            <a:off x="4215817" y="4544095"/>
            <a:ext cx="1601682" cy="96304"/>
          </a:xfrm>
          <a:prstGeom prst="rect">
            <a:avLst/>
          </a:prstGeom>
          <a:solidFill>
            <a:srgbClr val="DC2C3E">
              <a:alpha val="2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99" name="Rectangle 98">
            <a:extLst>
              <a:ext uri="{FF2B5EF4-FFF2-40B4-BE49-F238E27FC236}">
                <a16:creationId xmlns:a16="http://schemas.microsoft.com/office/drawing/2014/main" id="{862FFC15-C5FF-7F8B-0EBF-B1B21157E52C}"/>
              </a:ext>
            </a:extLst>
          </p:cNvPr>
          <p:cNvSpPr/>
          <p:nvPr/>
        </p:nvSpPr>
        <p:spPr>
          <a:xfrm>
            <a:off x="4948238" y="3785839"/>
            <a:ext cx="397667" cy="96304"/>
          </a:xfrm>
          <a:prstGeom prst="rect">
            <a:avLst/>
          </a:prstGeom>
          <a:solidFill>
            <a:srgbClr val="DC2C3E">
              <a:alpha val="2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00" name="Source Footer">
            <a:extLst>
              <a:ext uri="{FF2B5EF4-FFF2-40B4-BE49-F238E27FC236}">
                <a16:creationId xmlns:a16="http://schemas.microsoft.com/office/drawing/2014/main" id="{73A30D50-C1F5-CB37-34B8-08C4DBF01CC3}"/>
              </a:ext>
            </a:extLst>
          </p:cNvPr>
          <p:cNvSpPr txBox="1"/>
          <p:nvPr/>
        </p:nvSpPr>
        <p:spPr>
          <a:xfrm>
            <a:off x="600000" y="5862694"/>
            <a:ext cx="10992000" cy="320000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algn="ctr"/>
            <a:r>
              <a:rPr lang="en-GB" sz="1000" dirty="0">
                <a:solidFill>
                  <a:srgbClr val="808080"/>
                </a:solidFill>
                <a:latin typeface="Montserrat" panose="00000500000000000000" pitchFamily="2" charset="0"/>
              </a:rPr>
              <a:t>Expected Tools: </a:t>
            </a:r>
            <a:r>
              <a:rPr lang="en-GB" sz="1000" b="1" dirty="0">
                <a:solidFill>
                  <a:srgbClr val="DC2C3E"/>
                </a:solidFill>
                <a:latin typeface="Montserrat" panose="00000500000000000000" pitchFamily="2" charset="0"/>
              </a:rPr>
              <a:t>Snowflake </a:t>
            </a:r>
            <a:r>
              <a:rPr lang="en-GB" sz="1000" dirty="0">
                <a:latin typeface="Montserrat" panose="00000500000000000000" pitchFamily="2" charset="0"/>
              </a:rPr>
              <a:t>/</a:t>
            </a:r>
            <a:r>
              <a:rPr lang="en-GB" sz="1000" b="1" dirty="0">
                <a:solidFill>
                  <a:srgbClr val="DC2C3E"/>
                </a:solidFill>
                <a:latin typeface="Montserrat" panose="00000500000000000000" pitchFamily="2" charset="0"/>
              </a:rPr>
              <a:t> PowerPoint</a:t>
            </a:r>
          </a:p>
        </p:txBody>
      </p:sp>
      <p:sp>
        <p:nvSpPr>
          <p:cNvPr id="101" name="Pin 8">
            <a:extLst>
              <a:ext uri="{FF2B5EF4-FFF2-40B4-BE49-F238E27FC236}">
                <a16:creationId xmlns:a16="http://schemas.microsoft.com/office/drawing/2014/main" id="{87EA0478-9A72-66C2-DDC7-0924A723D28D}"/>
              </a:ext>
            </a:extLst>
          </p:cNvPr>
          <p:cNvSpPr/>
          <p:nvPr/>
        </p:nvSpPr>
        <p:spPr>
          <a:xfrm>
            <a:off x="3561955" y="3554563"/>
            <a:ext cx="180000" cy="180000"/>
          </a:xfrm>
          <a:prstGeom prst="ellipse">
            <a:avLst/>
          </a:prstGeom>
          <a:solidFill>
            <a:srgbClr val="DC2C3E"/>
          </a:solidFill>
          <a:ln w="19050">
            <a:solidFill>
              <a:schemeClr val="bg1"/>
            </a:solidFill>
          </a:ln>
          <a:effectLst>
            <a:outerShdw blurRad="40000" dist="15000" dir="5400000" rotWithShape="0">
              <a:srgbClr val="000000">
                <a:alpha val="30000"/>
              </a:srgbClr>
            </a:outerShdw>
          </a:effectLst>
        </p:spPr>
        <p:txBody>
          <a:bodyPr lIns="0" tIns="0" rIns="0" bIns="0" rtlCol="0" anchor="ctr"/>
          <a:lstStyle/>
          <a:p>
            <a:pPr algn="ctr"/>
            <a:r>
              <a:rPr lang="en-GB" sz="600" dirty="0">
                <a:solidFill>
                  <a:schemeClr val="bg1"/>
                </a:solidFill>
                <a:latin typeface="Montserrat SemiBold" panose="00000700000000000000" pitchFamily="2" charset="0"/>
              </a:rPr>
              <a:t>B</a:t>
            </a:r>
          </a:p>
        </p:txBody>
      </p:sp>
      <p:sp>
        <p:nvSpPr>
          <p:cNvPr id="102" name="Pin 8">
            <a:extLst>
              <a:ext uri="{FF2B5EF4-FFF2-40B4-BE49-F238E27FC236}">
                <a16:creationId xmlns:a16="http://schemas.microsoft.com/office/drawing/2014/main" id="{05F421FA-6CE1-BD3C-2EE2-364D768A771E}"/>
              </a:ext>
            </a:extLst>
          </p:cNvPr>
          <p:cNvSpPr/>
          <p:nvPr/>
        </p:nvSpPr>
        <p:spPr>
          <a:xfrm>
            <a:off x="5788555" y="3722533"/>
            <a:ext cx="180000" cy="180000"/>
          </a:xfrm>
          <a:prstGeom prst="ellipse">
            <a:avLst/>
          </a:prstGeom>
          <a:solidFill>
            <a:srgbClr val="DC2C3E"/>
          </a:solidFill>
          <a:ln w="19050">
            <a:solidFill>
              <a:schemeClr val="bg1"/>
            </a:solidFill>
          </a:ln>
          <a:effectLst>
            <a:outerShdw blurRad="40000" dist="15000" dir="5400000" rotWithShape="0">
              <a:srgbClr val="000000">
                <a:alpha val="30000"/>
              </a:srgbClr>
            </a:outerShdw>
          </a:effectLst>
        </p:spPr>
        <p:txBody>
          <a:bodyPr lIns="0" tIns="0" rIns="0" bIns="0" rtlCol="0" anchor="ctr"/>
          <a:lstStyle/>
          <a:p>
            <a:pPr algn="ctr"/>
            <a:r>
              <a:rPr lang="en-GB" sz="600" b="1" dirty="0">
                <a:solidFill>
                  <a:schemeClr val="bg1"/>
                </a:solidFill>
                <a:latin typeface="Montserrat SemiBold" panose="00000700000000000000" pitchFamily="2" charset="0"/>
              </a:rPr>
              <a:t>A</a:t>
            </a:r>
          </a:p>
        </p:txBody>
      </p:sp>
      <p:sp>
        <p:nvSpPr>
          <p:cNvPr id="104" name="Note Badge 1">
            <a:extLst>
              <a:ext uri="{FF2B5EF4-FFF2-40B4-BE49-F238E27FC236}">
                <a16:creationId xmlns:a16="http://schemas.microsoft.com/office/drawing/2014/main" id="{6DADEF2A-3061-55C7-36AE-6D286CBAE1F7}"/>
              </a:ext>
            </a:extLst>
          </p:cNvPr>
          <p:cNvSpPr/>
          <p:nvPr/>
        </p:nvSpPr>
        <p:spPr>
          <a:xfrm>
            <a:off x="3523711" y="5570000"/>
            <a:ext cx="300000" cy="300000"/>
          </a:xfrm>
          <a:prstGeom prst="ellipse">
            <a:avLst/>
          </a:prstGeom>
          <a:solidFill>
            <a:srgbClr val="DC2C3E"/>
          </a:solidFill>
          <a:ln>
            <a:noFill/>
          </a:ln>
        </p:spPr>
        <p:txBody>
          <a:bodyPr lIns="0" tIns="0" rIns="0" bIns="0" rtlCol="0" anchor="ctr"/>
          <a:lstStyle/>
          <a:p>
            <a:pPr algn="ctr"/>
            <a:r>
              <a:rPr lang="en-GB" sz="1000" dirty="0">
                <a:solidFill>
                  <a:schemeClr val="bg1"/>
                </a:solidFill>
                <a:latin typeface="Montserrat SemiBold" panose="00000700000000000000" pitchFamily="2" charset="0"/>
              </a:rPr>
              <a:t>A</a:t>
            </a:r>
          </a:p>
        </p:txBody>
      </p:sp>
      <p:sp>
        <p:nvSpPr>
          <p:cNvPr id="106" name="Note Badge 1">
            <a:extLst>
              <a:ext uri="{FF2B5EF4-FFF2-40B4-BE49-F238E27FC236}">
                <a16:creationId xmlns:a16="http://schemas.microsoft.com/office/drawing/2014/main" id="{A1144DDA-A6B2-B8A9-FE80-4B56AF2B51BF}"/>
              </a:ext>
            </a:extLst>
          </p:cNvPr>
          <p:cNvSpPr/>
          <p:nvPr/>
        </p:nvSpPr>
        <p:spPr>
          <a:xfrm>
            <a:off x="4402930" y="5870000"/>
            <a:ext cx="300000" cy="300000"/>
          </a:xfrm>
          <a:prstGeom prst="ellipse">
            <a:avLst/>
          </a:prstGeom>
          <a:solidFill>
            <a:srgbClr val="DC2C3E"/>
          </a:solidFill>
          <a:ln>
            <a:noFill/>
          </a:ln>
        </p:spPr>
        <p:txBody>
          <a:bodyPr lIns="0" tIns="0" rIns="0" bIns="0" rtlCol="0" anchor="ctr"/>
          <a:lstStyle/>
          <a:p>
            <a:pPr algn="ctr"/>
            <a:r>
              <a:rPr lang="en-GB" sz="1000" b="1" dirty="0">
                <a:solidFill>
                  <a:schemeClr val="bg1"/>
                </a:solidFill>
                <a:latin typeface="Montserrat SemiBold" panose="00000700000000000000" pitchFamily="2" charset="0"/>
              </a:rPr>
              <a:t>B</a:t>
            </a:r>
          </a:p>
        </p:txBody>
      </p:sp>
    </p:spTree>
    <p:extLst>
      <p:ext uri="{BB962C8B-B14F-4D97-AF65-F5344CB8AC3E}">
        <p14:creationId xmlns:p14="http://schemas.microsoft.com/office/powerpoint/2010/main" val="291173960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0C737B1-15E6-93A1-312E-A21ABE18C62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Rectangle: Rounded Corners 29">
            <a:extLst>
              <a:ext uri="{FF2B5EF4-FFF2-40B4-BE49-F238E27FC236}">
                <a16:creationId xmlns:a16="http://schemas.microsoft.com/office/drawing/2014/main" id="{95E53CC7-7010-5929-DB98-165756CE0FC6}"/>
              </a:ext>
            </a:extLst>
          </p:cNvPr>
          <p:cNvSpPr/>
          <p:nvPr/>
        </p:nvSpPr>
        <p:spPr>
          <a:xfrm>
            <a:off x="6266215" y="1776948"/>
            <a:ext cx="4620412" cy="687460"/>
          </a:xfrm>
          <a:prstGeom prst="roundRect">
            <a:avLst>
              <a:gd name="adj" fmla="val 50000"/>
            </a:avLst>
          </a:prstGeom>
          <a:solidFill>
            <a:srgbClr val="DC2C3E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9517E4D8-DA22-BDAF-D965-4B7A1E00809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98501" y="2358332"/>
            <a:ext cx="2880000" cy="2880000"/>
          </a:xfrm>
          <a:prstGeom prst="rect">
            <a:avLst/>
          </a:prstGeom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</p:pic>
      <p:sp>
        <p:nvSpPr>
          <p:cNvPr id="15" name="Rectangle 14">
            <a:extLst>
              <a:ext uri="{FF2B5EF4-FFF2-40B4-BE49-F238E27FC236}">
                <a16:creationId xmlns:a16="http://schemas.microsoft.com/office/drawing/2014/main" id="{F44BFDEF-90E5-DF31-2AD7-19F0E5A8DEE3}"/>
              </a:ext>
            </a:extLst>
          </p:cNvPr>
          <p:cNvSpPr/>
          <p:nvPr/>
        </p:nvSpPr>
        <p:spPr>
          <a:xfrm>
            <a:off x="3715428" y="2348807"/>
            <a:ext cx="1357900" cy="2880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A31FE027-B5E1-DC10-C8A4-D8B3667B64B9}"/>
              </a:ext>
            </a:extLst>
          </p:cNvPr>
          <p:cNvSpPr/>
          <p:nvPr/>
        </p:nvSpPr>
        <p:spPr>
          <a:xfrm>
            <a:off x="-485775" y="2688000"/>
            <a:ext cx="5505450" cy="2160000"/>
          </a:xfrm>
          <a:prstGeom prst="rect">
            <a:avLst/>
          </a:prstGeom>
          <a:solidFill>
            <a:srgbClr val="DC2C3E"/>
          </a:solidFill>
          <a:ln>
            <a:noFill/>
          </a:ln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8D80D398-0358-E998-8B57-05E40A8E3548}"/>
              </a:ext>
            </a:extLst>
          </p:cNvPr>
          <p:cNvSpPr/>
          <p:nvPr/>
        </p:nvSpPr>
        <p:spPr>
          <a:xfrm>
            <a:off x="3939451" y="2688000"/>
            <a:ext cx="2160000" cy="2160000"/>
          </a:xfrm>
          <a:prstGeom prst="ellipse">
            <a:avLst/>
          </a:prstGeom>
          <a:solidFill>
            <a:srgbClr val="DC2C3E"/>
          </a:solidFill>
          <a:ln w="76200"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0624293-5928-F6DB-C756-BBCED83BF5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Montserrat SemiBold" panose="00000700000000000000" pitchFamily="2" charset="0"/>
              </a:rPr>
              <a:t>AIMS &amp; OBJECTIVES</a:t>
            </a:r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05EDF980-390C-B57D-5E09-BD30A6BEAD70}"/>
              </a:ext>
            </a:extLst>
          </p:cNvPr>
          <p:cNvSpPr/>
          <p:nvPr/>
        </p:nvSpPr>
        <p:spPr>
          <a:xfrm>
            <a:off x="4299451" y="3048000"/>
            <a:ext cx="1440000" cy="1440000"/>
          </a:xfrm>
          <a:prstGeom prst="ellipse">
            <a:avLst/>
          </a:prstGeom>
          <a:solidFill>
            <a:schemeClr val="bg1"/>
          </a:solidFill>
          <a:ln w="76200">
            <a:solidFill>
              <a:srgbClr val="B32131"/>
            </a:solidFill>
          </a:ln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292F9D1-2C88-4209-7A17-479264F7705C}"/>
              </a:ext>
            </a:extLst>
          </p:cNvPr>
          <p:cNvSpPr txBox="1"/>
          <p:nvPr/>
        </p:nvSpPr>
        <p:spPr>
          <a:xfrm>
            <a:off x="339052" y="3419475"/>
            <a:ext cx="3856690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400" dirty="0">
                <a:solidFill>
                  <a:schemeClr val="bg1"/>
                </a:solidFill>
                <a:latin typeface="Montserrat" panose="00000500000000000000" pitchFamily="2" charset="0"/>
              </a:rPr>
              <a:t>Develop a clean unified data view and fully documented integration workflow within 14-days.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AFED3DD5-4ECE-CD93-C59E-C443A946B47A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31252" y="2601740"/>
            <a:ext cx="2160000" cy="2160000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29" name="TextBox 28">
            <a:extLst>
              <a:ext uri="{FF2B5EF4-FFF2-40B4-BE49-F238E27FC236}">
                <a16:creationId xmlns:a16="http://schemas.microsoft.com/office/drawing/2014/main" id="{F90101A5-C2B5-2274-B20B-943921288945}"/>
              </a:ext>
            </a:extLst>
          </p:cNvPr>
          <p:cNvSpPr txBox="1"/>
          <p:nvPr/>
        </p:nvSpPr>
        <p:spPr>
          <a:xfrm>
            <a:off x="6985953" y="1905535"/>
            <a:ext cx="3819038" cy="430887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GB" sz="1100" dirty="0">
                <a:solidFill>
                  <a:schemeClr val="bg1"/>
                </a:solidFill>
                <a:latin typeface="Montserrat" panose="00000500000000000000" pitchFamily="2" charset="0"/>
              </a:rPr>
              <a:t>Utilise Snowflake to integrate data from multiple sources into a single view.</a:t>
            </a:r>
          </a:p>
        </p:txBody>
      </p:sp>
      <p:sp>
        <p:nvSpPr>
          <p:cNvPr id="41" name="Oval 40">
            <a:extLst>
              <a:ext uri="{FF2B5EF4-FFF2-40B4-BE49-F238E27FC236}">
                <a16:creationId xmlns:a16="http://schemas.microsoft.com/office/drawing/2014/main" id="{3BE650DC-5FA1-C033-1C96-CBC81C0E9146}"/>
              </a:ext>
            </a:extLst>
          </p:cNvPr>
          <p:cNvSpPr/>
          <p:nvPr/>
        </p:nvSpPr>
        <p:spPr>
          <a:xfrm>
            <a:off x="6307278" y="1814678"/>
            <a:ext cx="612000" cy="612000"/>
          </a:xfrm>
          <a:prstGeom prst="ellipse">
            <a:avLst/>
          </a:prstGeom>
          <a:solidFill>
            <a:schemeClr val="bg1"/>
          </a:solidFill>
          <a:ln w="381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63912333-EFBD-0B15-6A00-AF03063B6EBD}"/>
              </a:ext>
            </a:extLst>
          </p:cNvPr>
          <p:cNvSpPr txBox="1"/>
          <p:nvPr/>
        </p:nvSpPr>
        <p:spPr>
          <a:xfrm>
            <a:off x="6418284" y="1860040"/>
            <a:ext cx="1178084" cy="523220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GB" sz="28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Montserrat SemiBold" panose="00000700000000000000" pitchFamily="2" charset="0"/>
                <a:cs typeface="Rubik" panose="02000604000000020004" pitchFamily="2" charset="-79"/>
              </a:rPr>
              <a:t>1.</a:t>
            </a:r>
          </a:p>
        </p:txBody>
      </p:sp>
      <p:sp>
        <p:nvSpPr>
          <p:cNvPr id="52" name="Rectangle: Rounded Corners 51">
            <a:extLst>
              <a:ext uri="{FF2B5EF4-FFF2-40B4-BE49-F238E27FC236}">
                <a16:creationId xmlns:a16="http://schemas.microsoft.com/office/drawing/2014/main" id="{CAF95ED6-C6BE-5127-ADB0-DB20A39ACC47}"/>
              </a:ext>
            </a:extLst>
          </p:cNvPr>
          <p:cNvSpPr/>
          <p:nvPr/>
        </p:nvSpPr>
        <p:spPr>
          <a:xfrm>
            <a:off x="6966903" y="2620790"/>
            <a:ext cx="4620412" cy="687460"/>
          </a:xfrm>
          <a:prstGeom prst="roundRect">
            <a:avLst>
              <a:gd name="adj" fmla="val 50000"/>
            </a:avLst>
          </a:prstGeom>
          <a:solidFill>
            <a:srgbClr val="DC2C3E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DE20F80C-514A-3468-042B-AF87A9FF5341}"/>
              </a:ext>
            </a:extLst>
          </p:cNvPr>
          <p:cNvSpPr txBox="1"/>
          <p:nvPr/>
        </p:nvSpPr>
        <p:spPr>
          <a:xfrm>
            <a:off x="7686641" y="2749377"/>
            <a:ext cx="3819038" cy="430887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GB" sz="1100" dirty="0">
                <a:solidFill>
                  <a:schemeClr val="bg1"/>
                </a:solidFill>
                <a:latin typeface="Montserrat" panose="00000500000000000000" pitchFamily="2" charset="0"/>
              </a:rPr>
              <a:t>Perform data cleansing on the produced view ensuring that the data is reliable.</a:t>
            </a:r>
          </a:p>
        </p:txBody>
      </p:sp>
      <p:sp>
        <p:nvSpPr>
          <p:cNvPr id="54" name="Oval 53">
            <a:extLst>
              <a:ext uri="{FF2B5EF4-FFF2-40B4-BE49-F238E27FC236}">
                <a16:creationId xmlns:a16="http://schemas.microsoft.com/office/drawing/2014/main" id="{8B2BD797-96FF-C24E-4002-4B0325B94383}"/>
              </a:ext>
            </a:extLst>
          </p:cNvPr>
          <p:cNvSpPr/>
          <p:nvPr/>
        </p:nvSpPr>
        <p:spPr>
          <a:xfrm>
            <a:off x="6998441" y="2658520"/>
            <a:ext cx="612000" cy="612000"/>
          </a:xfrm>
          <a:prstGeom prst="ellipse">
            <a:avLst/>
          </a:prstGeom>
          <a:solidFill>
            <a:schemeClr val="bg1"/>
          </a:solidFill>
          <a:ln w="381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44510996-6088-0AAC-085D-D7778E6E86C6}"/>
              </a:ext>
            </a:extLst>
          </p:cNvPr>
          <p:cNvSpPr txBox="1"/>
          <p:nvPr/>
        </p:nvSpPr>
        <p:spPr>
          <a:xfrm>
            <a:off x="7088683" y="2702910"/>
            <a:ext cx="1178084" cy="523220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GB" sz="28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Montserrat SemiBold" panose="00000700000000000000" pitchFamily="2" charset="0"/>
                <a:cs typeface="Rubik" panose="02000604000000020004" pitchFamily="2" charset="-79"/>
              </a:rPr>
              <a:t>2.</a:t>
            </a:r>
          </a:p>
        </p:txBody>
      </p:sp>
      <p:sp>
        <p:nvSpPr>
          <p:cNvPr id="56" name="Rectangle: Rounded Corners 55">
            <a:extLst>
              <a:ext uri="{FF2B5EF4-FFF2-40B4-BE49-F238E27FC236}">
                <a16:creationId xmlns:a16="http://schemas.microsoft.com/office/drawing/2014/main" id="{D12AA861-29A7-B5FB-2AE7-41666D2F2FDB}"/>
              </a:ext>
            </a:extLst>
          </p:cNvPr>
          <p:cNvSpPr/>
          <p:nvPr/>
        </p:nvSpPr>
        <p:spPr>
          <a:xfrm>
            <a:off x="6266215" y="5082839"/>
            <a:ext cx="4620412" cy="687460"/>
          </a:xfrm>
          <a:prstGeom prst="roundRect">
            <a:avLst>
              <a:gd name="adj" fmla="val 50000"/>
            </a:avLst>
          </a:prstGeom>
          <a:solidFill>
            <a:srgbClr val="DC2C3E"/>
          </a:solidFill>
          <a:ln>
            <a:noFill/>
          </a:ln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89D3DEDA-190A-99F3-3621-9CDFB0E8FB35}"/>
              </a:ext>
            </a:extLst>
          </p:cNvPr>
          <p:cNvSpPr txBox="1"/>
          <p:nvPr/>
        </p:nvSpPr>
        <p:spPr>
          <a:xfrm>
            <a:off x="6985953" y="5211426"/>
            <a:ext cx="3819038" cy="430887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GB" sz="1100" dirty="0">
                <a:solidFill>
                  <a:schemeClr val="bg1"/>
                </a:solidFill>
                <a:latin typeface="Montserrat" panose="00000500000000000000" pitchFamily="2" charset="0"/>
              </a:rPr>
              <a:t>Include a self-reflection section within the presentation.</a:t>
            </a:r>
          </a:p>
        </p:txBody>
      </p:sp>
      <p:sp>
        <p:nvSpPr>
          <p:cNvPr id="58" name="Oval 57">
            <a:extLst>
              <a:ext uri="{FF2B5EF4-FFF2-40B4-BE49-F238E27FC236}">
                <a16:creationId xmlns:a16="http://schemas.microsoft.com/office/drawing/2014/main" id="{A5E76BA5-AB40-8076-F100-566130E5C485}"/>
              </a:ext>
            </a:extLst>
          </p:cNvPr>
          <p:cNvSpPr/>
          <p:nvPr/>
        </p:nvSpPr>
        <p:spPr>
          <a:xfrm>
            <a:off x="6307278" y="5120569"/>
            <a:ext cx="612000" cy="612000"/>
          </a:xfrm>
          <a:prstGeom prst="ellipse">
            <a:avLst/>
          </a:prstGeom>
          <a:solidFill>
            <a:schemeClr val="bg1"/>
          </a:solidFill>
          <a:ln w="381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8F97248C-227D-D9AB-A471-233B3484D626}"/>
              </a:ext>
            </a:extLst>
          </p:cNvPr>
          <p:cNvSpPr txBox="1"/>
          <p:nvPr/>
        </p:nvSpPr>
        <p:spPr>
          <a:xfrm>
            <a:off x="6370262" y="5165931"/>
            <a:ext cx="1178084" cy="523220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GB" sz="28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Rubik" panose="02000604000000020004" pitchFamily="2" charset="-79"/>
                <a:cs typeface="Rubik" panose="02000604000000020004" pitchFamily="2" charset="-79"/>
              </a:rPr>
              <a:t>4.</a:t>
            </a:r>
          </a:p>
        </p:txBody>
      </p:sp>
      <p:sp>
        <p:nvSpPr>
          <p:cNvPr id="60" name="Rectangle: Rounded Corners 59">
            <a:extLst>
              <a:ext uri="{FF2B5EF4-FFF2-40B4-BE49-F238E27FC236}">
                <a16:creationId xmlns:a16="http://schemas.microsoft.com/office/drawing/2014/main" id="{2354543E-C9C2-39D5-E1AE-FCB3F91D9492}"/>
              </a:ext>
            </a:extLst>
          </p:cNvPr>
          <p:cNvSpPr/>
          <p:nvPr/>
        </p:nvSpPr>
        <p:spPr>
          <a:xfrm>
            <a:off x="6966903" y="4241106"/>
            <a:ext cx="4620412" cy="687460"/>
          </a:xfrm>
          <a:prstGeom prst="roundRect">
            <a:avLst>
              <a:gd name="adj" fmla="val 50000"/>
            </a:avLst>
          </a:prstGeom>
          <a:solidFill>
            <a:srgbClr val="DC2C3E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43CB0E66-2A78-1712-3A26-023094D58F90}"/>
              </a:ext>
            </a:extLst>
          </p:cNvPr>
          <p:cNvSpPr txBox="1"/>
          <p:nvPr/>
        </p:nvSpPr>
        <p:spPr>
          <a:xfrm>
            <a:off x="7686641" y="4369693"/>
            <a:ext cx="3714784" cy="430887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GB" sz="1100" dirty="0">
                <a:solidFill>
                  <a:schemeClr val="bg1"/>
                </a:solidFill>
                <a:latin typeface="Montserrat" panose="00000500000000000000" pitchFamily="2" charset="0"/>
              </a:rPr>
              <a:t>Produce a presentation summarising the workflow with evidence.</a:t>
            </a:r>
          </a:p>
        </p:txBody>
      </p:sp>
      <p:sp>
        <p:nvSpPr>
          <p:cNvPr id="62" name="Oval 61">
            <a:extLst>
              <a:ext uri="{FF2B5EF4-FFF2-40B4-BE49-F238E27FC236}">
                <a16:creationId xmlns:a16="http://schemas.microsoft.com/office/drawing/2014/main" id="{3707F7DD-1DB4-B192-1D11-FE3718F12C25}"/>
              </a:ext>
            </a:extLst>
          </p:cNvPr>
          <p:cNvSpPr/>
          <p:nvPr/>
        </p:nvSpPr>
        <p:spPr>
          <a:xfrm>
            <a:off x="6998441" y="4278836"/>
            <a:ext cx="612000" cy="612000"/>
          </a:xfrm>
          <a:prstGeom prst="ellipse">
            <a:avLst/>
          </a:prstGeom>
          <a:solidFill>
            <a:schemeClr val="bg1"/>
          </a:solidFill>
          <a:ln w="381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E29F325D-E047-8DE1-3555-8FF780CACE8D}"/>
              </a:ext>
            </a:extLst>
          </p:cNvPr>
          <p:cNvSpPr txBox="1"/>
          <p:nvPr/>
        </p:nvSpPr>
        <p:spPr>
          <a:xfrm>
            <a:off x="7080466" y="4324198"/>
            <a:ext cx="1178084" cy="523220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GB" sz="28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Montserrat SemiBold" panose="00000700000000000000" pitchFamily="2" charset="0"/>
                <a:cs typeface="Rubik" panose="02000604000000020004" pitchFamily="2" charset="-79"/>
              </a:rPr>
              <a:t>3.</a:t>
            </a:r>
          </a:p>
        </p:txBody>
      </p:sp>
      <p:grpSp>
        <p:nvGrpSpPr>
          <p:cNvPr id="72" name="Group 71">
            <a:extLst>
              <a:ext uri="{FF2B5EF4-FFF2-40B4-BE49-F238E27FC236}">
                <a16:creationId xmlns:a16="http://schemas.microsoft.com/office/drawing/2014/main" id="{BC990B26-FA05-5ECB-FFF2-5DA449EBF416}"/>
              </a:ext>
            </a:extLst>
          </p:cNvPr>
          <p:cNvGrpSpPr/>
          <p:nvPr/>
        </p:nvGrpSpPr>
        <p:grpSpPr>
          <a:xfrm>
            <a:off x="5705475" y="2114550"/>
            <a:ext cx="438150" cy="312128"/>
            <a:chOff x="5705475" y="2114550"/>
            <a:chExt cx="438150" cy="312128"/>
          </a:xfrm>
        </p:grpSpPr>
        <p:cxnSp>
          <p:nvCxnSpPr>
            <p:cNvPr id="69" name="Straight Connector 68">
              <a:extLst>
                <a:ext uri="{FF2B5EF4-FFF2-40B4-BE49-F238E27FC236}">
                  <a16:creationId xmlns:a16="http://schemas.microsoft.com/office/drawing/2014/main" id="{0B342F6E-8ED0-CA75-6C7C-D7BF1D36F937}"/>
                </a:ext>
              </a:extLst>
            </p:cNvPr>
            <p:cNvCxnSpPr/>
            <p:nvPr/>
          </p:nvCxnSpPr>
          <p:spPr>
            <a:xfrm flipH="1">
              <a:off x="5924550" y="2114550"/>
              <a:ext cx="219075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0" name="Straight Connector 69">
              <a:extLst>
                <a:ext uri="{FF2B5EF4-FFF2-40B4-BE49-F238E27FC236}">
                  <a16:creationId xmlns:a16="http://schemas.microsoft.com/office/drawing/2014/main" id="{8E7A0C48-6833-94A2-C0DA-96B7340AB674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5705475" y="2114550"/>
              <a:ext cx="219075" cy="312128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73" name="Group 72">
            <a:extLst>
              <a:ext uri="{FF2B5EF4-FFF2-40B4-BE49-F238E27FC236}">
                <a16:creationId xmlns:a16="http://schemas.microsoft.com/office/drawing/2014/main" id="{6B25A7FB-D275-294B-7DE2-E8F228CF5A14}"/>
              </a:ext>
            </a:extLst>
          </p:cNvPr>
          <p:cNvGrpSpPr/>
          <p:nvPr/>
        </p:nvGrpSpPr>
        <p:grpSpPr>
          <a:xfrm>
            <a:off x="5705475" y="5122253"/>
            <a:ext cx="438150" cy="312128"/>
            <a:chOff x="5705475" y="2114550"/>
            <a:chExt cx="438150" cy="312128"/>
          </a:xfrm>
          <a:scene3d>
            <a:camera prst="orthographicFront">
              <a:rot lat="10800000" lon="0" rev="0"/>
            </a:camera>
            <a:lightRig rig="threePt" dir="t"/>
          </a:scene3d>
        </p:grpSpPr>
        <p:cxnSp>
          <p:nvCxnSpPr>
            <p:cNvPr id="74" name="Straight Connector 73">
              <a:extLst>
                <a:ext uri="{FF2B5EF4-FFF2-40B4-BE49-F238E27FC236}">
                  <a16:creationId xmlns:a16="http://schemas.microsoft.com/office/drawing/2014/main" id="{885E7478-0567-EB00-B323-9D51B9D216C0}"/>
                </a:ext>
              </a:extLst>
            </p:cNvPr>
            <p:cNvCxnSpPr/>
            <p:nvPr/>
          </p:nvCxnSpPr>
          <p:spPr>
            <a:xfrm flipH="1">
              <a:off x="5924550" y="2114550"/>
              <a:ext cx="219075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5" name="Straight Connector 74">
              <a:extLst>
                <a:ext uri="{FF2B5EF4-FFF2-40B4-BE49-F238E27FC236}">
                  <a16:creationId xmlns:a16="http://schemas.microsoft.com/office/drawing/2014/main" id="{DF1A3ACE-2B0D-D53B-0505-3195BC9B1529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5705475" y="2114550"/>
              <a:ext cx="219075" cy="312128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76" name="Group 75">
            <a:extLst>
              <a:ext uri="{FF2B5EF4-FFF2-40B4-BE49-F238E27FC236}">
                <a16:creationId xmlns:a16="http://schemas.microsoft.com/office/drawing/2014/main" id="{376089AC-84CD-AE9C-B34D-F2E9E3ACDDE1}"/>
              </a:ext>
            </a:extLst>
          </p:cNvPr>
          <p:cNvGrpSpPr/>
          <p:nvPr/>
        </p:nvGrpSpPr>
        <p:grpSpPr>
          <a:xfrm>
            <a:off x="6435791" y="4335833"/>
            <a:ext cx="392475" cy="249003"/>
            <a:chOff x="5705475" y="2114550"/>
            <a:chExt cx="438150" cy="312128"/>
          </a:xfrm>
          <a:scene3d>
            <a:camera prst="orthographicFront">
              <a:rot lat="10800000" lon="0" rev="0"/>
            </a:camera>
            <a:lightRig rig="threePt" dir="t"/>
          </a:scene3d>
        </p:grpSpPr>
        <p:cxnSp>
          <p:nvCxnSpPr>
            <p:cNvPr id="77" name="Straight Connector 76">
              <a:extLst>
                <a:ext uri="{FF2B5EF4-FFF2-40B4-BE49-F238E27FC236}">
                  <a16:creationId xmlns:a16="http://schemas.microsoft.com/office/drawing/2014/main" id="{8137CAE1-DE60-967D-FDAA-642E2FA57C27}"/>
                </a:ext>
              </a:extLst>
            </p:cNvPr>
            <p:cNvCxnSpPr/>
            <p:nvPr/>
          </p:nvCxnSpPr>
          <p:spPr>
            <a:xfrm flipH="1">
              <a:off x="5924550" y="2114550"/>
              <a:ext cx="219075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8" name="Straight Connector 77">
              <a:extLst>
                <a:ext uri="{FF2B5EF4-FFF2-40B4-BE49-F238E27FC236}">
                  <a16:creationId xmlns:a16="http://schemas.microsoft.com/office/drawing/2014/main" id="{EC90B21C-C9B1-C906-0A61-ACF94D3E1818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5705475" y="2114550"/>
              <a:ext cx="219075" cy="312128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79" name="Group 78">
            <a:extLst>
              <a:ext uri="{FF2B5EF4-FFF2-40B4-BE49-F238E27FC236}">
                <a16:creationId xmlns:a16="http://schemas.microsoft.com/office/drawing/2014/main" id="{FD8326CB-2EC6-14F9-0717-7D832E03A635}"/>
              </a:ext>
            </a:extLst>
          </p:cNvPr>
          <p:cNvGrpSpPr/>
          <p:nvPr/>
        </p:nvGrpSpPr>
        <p:grpSpPr>
          <a:xfrm>
            <a:off x="6435791" y="2962411"/>
            <a:ext cx="392475" cy="249003"/>
            <a:chOff x="5705475" y="2114550"/>
            <a:chExt cx="438150" cy="312128"/>
          </a:xfrm>
          <a:scene3d>
            <a:camera prst="orthographicFront">
              <a:rot lat="0" lon="0" rev="0"/>
            </a:camera>
            <a:lightRig rig="threePt" dir="t"/>
          </a:scene3d>
        </p:grpSpPr>
        <p:cxnSp>
          <p:nvCxnSpPr>
            <p:cNvPr id="80" name="Straight Connector 79">
              <a:extLst>
                <a:ext uri="{FF2B5EF4-FFF2-40B4-BE49-F238E27FC236}">
                  <a16:creationId xmlns:a16="http://schemas.microsoft.com/office/drawing/2014/main" id="{36E574A1-01C5-CF8E-AA4C-4BB565022FD7}"/>
                </a:ext>
              </a:extLst>
            </p:cNvPr>
            <p:cNvCxnSpPr/>
            <p:nvPr/>
          </p:nvCxnSpPr>
          <p:spPr>
            <a:xfrm flipH="1">
              <a:off x="5924550" y="2114550"/>
              <a:ext cx="219075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1" name="Straight Connector 80">
              <a:extLst>
                <a:ext uri="{FF2B5EF4-FFF2-40B4-BE49-F238E27FC236}">
                  <a16:creationId xmlns:a16="http://schemas.microsoft.com/office/drawing/2014/main" id="{B5BDDC5E-660E-81F4-0C6F-9BEC4D9E43C5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5705475" y="2114550"/>
              <a:ext cx="219075" cy="312128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287543700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Background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BF8EF"/>
          </a:solidFill>
          <a:ln>
            <a:noFill/>
          </a:ln>
        </p:spPr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41" name="Red Panel"/>
          <p:cNvSpPr/>
          <p:nvPr/>
        </p:nvSpPr>
        <p:spPr>
          <a:xfrm>
            <a:off x="0" y="0"/>
            <a:ext cx="4876800" cy="6858000"/>
          </a:xfrm>
          <a:prstGeom prst="rect">
            <a:avLst/>
          </a:prstGeom>
          <a:solidFill>
            <a:srgbClr val="DC2C3E"/>
          </a:solidFill>
          <a:ln>
            <a:noFill/>
          </a:ln>
          <a:effectLst>
            <a:outerShdw blurRad="50800" dist="38100" algn="l" rotWithShape="0">
              <a:prstClr val="black">
                <a:alpha val="20000"/>
              </a:prstClr>
            </a:outerShdw>
          </a:effectLst>
        </p:spPr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6604750-66C5-481B-353B-D86BEE6851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Montserrat SemiBold" panose="00000700000000000000" pitchFamily="2" charset="0"/>
              </a:rPr>
              <a:t>THE DATA</a:t>
            </a:r>
          </a:p>
        </p:txBody>
      </p:sp>
      <p:sp>
        <p:nvSpPr>
          <p:cNvPr id="7" name="Title Bar"/>
          <p:cNvSpPr/>
          <p:nvPr/>
        </p:nvSpPr>
        <p:spPr>
          <a:xfrm>
            <a:off x="571499" y="609600"/>
            <a:ext cx="123826" cy="723106"/>
          </a:xfrm>
          <a:prstGeom prst="rect">
            <a:avLst/>
          </a:prstGeom>
          <a:solidFill>
            <a:srgbClr val="FBF8EF"/>
          </a:solidFill>
          <a:ln>
            <a:noFill/>
          </a:ln>
        </p:spPr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9" name="Contents Bar"/>
          <p:cNvSpPr/>
          <p:nvPr/>
        </p:nvSpPr>
        <p:spPr>
          <a:xfrm>
            <a:off x="633412" y="1758000"/>
            <a:ext cx="61913" cy="405546"/>
          </a:xfrm>
          <a:prstGeom prst="rect">
            <a:avLst/>
          </a:prstGeom>
          <a:solidFill>
            <a:srgbClr val="FBF8EF"/>
          </a:solidFill>
          <a:ln>
            <a:noFill/>
          </a:ln>
        </p:spPr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42" name="Contents Heading"/>
          <p:cNvSpPr txBox="1"/>
          <p:nvPr/>
        </p:nvSpPr>
        <p:spPr>
          <a:xfrm>
            <a:off x="838199" y="1735000"/>
            <a:ext cx="3700000" cy="461665"/>
          </a:xfrm>
          <a:prstGeom prst="rect">
            <a:avLst/>
          </a:prstGeom>
          <a:noFill/>
        </p:spPr>
        <p:txBody>
          <a:bodyPr wrap="square" rtlCol="0" anchor="ctr">
            <a:noAutofit/>
          </a:bodyPr>
          <a:lstStyle/>
          <a:p>
            <a:r>
              <a:rPr lang="en-GB" sz="2400" dirty="0">
                <a:solidFill>
                  <a:schemeClr val="bg1"/>
                </a:solidFill>
                <a:latin typeface="Montserrat" panose="00000500000000000000" pitchFamily="2" charset="0"/>
              </a:rPr>
              <a:t>Contents</a:t>
            </a:r>
          </a:p>
        </p:txBody>
      </p:sp>
      <p:sp>
        <p:nvSpPr>
          <p:cNvPr id="43" name="Contents Detail"/>
          <p:cNvSpPr txBox="1"/>
          <p:nvPr/>
        </p:nvSpPr>
        <p:spPr>
          <a:xfrm>
            <a:off x="838199" y="2360000"/>
            <a:ext cx="3780000" cy="150000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1400" b="1" dirty="0">
                <a:solidFill>
                  <a:schemeClr val="bg1"/>
                </a:solidFill>
                <a:latin typeface="Montserrat" panose="00000500000000000000" pitchFamily="2" charset="0"/>
              </a:rPr>
              <a:t>Topic:</a:t>
            </a:r>
            <a:r>
              <a:rPr lang="en-GB" sz="1400" dirty="0">
                <a:solidFill>
                  <a:schemeClr val="bg1"/>
                </a:solidFill>
                <a:latin typeface="Montserrat" panose="00000500000000000000" pitchFamily="2" charset="0"/>
              </a:rPr>
              <a:t> Car datasets.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1400" b="1" dirty="0">
                <a:solidFill>
                  <a:schemeClr val="bg1"/>
                </a:solidFill>
                <a:latin typeface="Montserrat" panose="00000500000000000000" pitchFamily="2" charset="0"/>
              </a:rPr>
              <a:t>Total datasets:</a:t>
            </a:r>
            <a:r>
              <a:rPr lang="en-GB" sz="1400" dirty="0">
                <a:solidFill>
                  <a:schemeClr val="bg1"/>
                </a:solidFill>
                <a:latin typeface="Montserrat" panose="00000500000000000000" pitchFamily="2" charset="0"/>
              </a:rPr>
              <a:t> 13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1400" b="1" dirty="0">
                <a:solidFill>
                  <a:schemeClr val="bg1"/>
                </a:solidFill>
                <a:latin typeface="Montserrat" panose="00000500000000000000" pitchFamily="2" charset="0"/>
              </a:rPr>
              <a:t>Source: </a:t>
            </a:r>
            <a:r>
              <a:rPr lang="en-GB" sz="1400" dirty="0">
                <a:solidFill>
                  <a:schemeClr val="bg1"/>
                </a:solidFill>
                <a:latin typeface="Montserrat" panose="00000500000000000000" pitchFamily="2" charset="0"/>
              </a:rPr>
              <a:t>GitHub</a:t>
            </a:r>
          </a:p>
          <a:p>
            <a:pPr>
              <a:spcBef>
                <a:spcPts val="1200"/>
              </a:spcBef>
            </a:pPr>
            <a:r>
              <a:rPr lang="en-GB" sz="1300" i="1" dirty="0">
                <a:solidFill>
                  <a:schemeClr val="bg1"/>
                </a:solidFill>
                <a:latin typeface="Montserrat" panose="00000500000000000000" pitchFamily="2" charset="0"/>
              </a:rPr>
              <a:t>Before loading the data into Snowflake.</a:t>
            </a:r>
          </a:p>
        </p:txBody>
      </p:sp>
      <p:sp>
        <p:nvSpPr>
          <p:cNvPr id="46" name="Right Accent Bar"/>
          <p:cNvSpPr/>
          <p:nvPr/>
        </p:nvSpPr>
        <p:spPr>
          <a:xfrm>
            <a:off x="5205200" y="846706"/>
            <a:ext cx="95000" cy="470000"/>
          </a:xfrm>
          <a:prstGeom prst="rect">
            <a:avLst/>
          </a:prstGeom>
          <a:solidFill>
            <a:srgbClr val="DC2C3E"/>
          </a:solidFill>
          <a:ln>
            <a:noFill/>
          </a:ln>
        </p:spPr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45" name="Right Heading"/>
          <p:cNvSpPr txBox="1"/>
          <p:nvPr/>
        </p:nvSpPr>
        <p:spPr>
          <a:xfrm>
            <a:off x="5425200" y="832706"/>
            <a:ext cx="6300000" cy="500000"/>
          </a:xfrm>
          <a:prstGeom prst="rect">
            <a:avLst/>
          </a:prstGeom>
          <a:noFill/>
        </p:spPr>
        <p:txBody>
          <a:bodyPr wrap="square" rtlCol="0" anchor="ctr">
            <a:noAutofit/>
          </a:bodyPr>
          <a:lstStyle/>
          <a:p>
            <a:r>
              <a:rPr lang="en-GB" sz="2400" b="1" dirty="0">
                <a:solidFill>
                  <a:srgbClr val="DC2C3E"/>
                </a:solidFill>
                <a:latin typeface="Montserrat" panose="00000500000000000000" pitchFamily="2" charset="0"/>
              </a:rPr>
              <a:t>View the Data in Excel</a:t>
            </a:r>
          </a:p>
        </p:txBody>
      </p:sp>
      <p:sp>
        <p:nvSpPr>
          <p:cNvPr id="47" name="Checklist"/>
          <p:cNvSpPr txBox="1"/>
          <p:nvPr/>
        </p:nvSpPr>
        <p:spPr>
          <a:xfrm>
            <a:off x="5163600" y="1702381"/>
            <a:ext cx="3000000" cy="340000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285750" indent="-285750">
              <a:spcAft>
                <a:spcPts val="1000"/>
              </a:spcAft>
              <a:buFont typeface="Arial" panose="020B0604020202020204" pitchFamily="34" charset="0"/>
              <a:buChar char="•"/>
            </a:pPr>
            <a:r>
              <a:rPr lang="en-GB" sz="1400" dirty="0">
                <a:solidFill>
                  <a:srgbClr val="1A1A1A"/>
                </a:solidFill>
                <a:latin typeface="Montserrat" panose="00000500000000000000" pitchFamily="2" charset="0"/>
              </a:rPr>
              <a:t>Provides insight into table structures of the datasets.</a:t>
            </a:r>
          </a:p>
          <a:p>
            <a:pPr marL="285750" indent="-285750">
              <a:spcAft>
                <a:spcPts val="1000"/>
              </a:spcAft>
              <a:buFont typeface="Arial" panose="020B0604020202020204" pitchFamily="34" charset="0"/>
              <a:buChar char="•"/>
            </a:pPr>
            <a:r>
              <a:rPr lang="en-GB" sz="1400" dirty="0">
                <a:solidFill>
                  <a:srgbClr val="1A1A1A"/>
                </a:solidFill>
                <a:latin typeface="Montserrat" panose="00000500000000000000" pitchFamily="2" charset="0"/>
              </a:rPr>
              <a:t>Familiarise the contents for context.</a:t>
            </a:r>
          </a:p>
          <a:p>
            <a:pPr marL="285750" indent="-285750">
              <a:spcAft>
                <a:spcPts val="1000"/>
              </a:spcAft>
              <a:buFont typeface="Arial" panose="020B0604020202020204" pitchFamily="34" charset="0"/>
              <a:buChar char="•"/>
            </a:pPr>
            <a:r>
              <a:rPr lang="en-GB" sz="1400" dirty="0">
                <a:solidFill>
                  <a:srgbClr val="1A1A1A"/>
                </a:solidFill>
                <a:latin typeface="Montserrat" panose="00000500000000000000" pitchFamily="2" charset="0"/>
              </a:rPr>
              <a:t>Spot inconsistencies within the data.</a:t>
            </a:r>
          </a:p>
          <a:p>
            <a:pPr marL="285750" indent="-285750">
              <a:spcAft>
                <a:spcPts val="1000"/>
              </a:spcAft>
              <a:buFont typeface="Arial" panose="020B0604020202020204" pitchFamily="34" charset="0"/>
              <a:buChar char="•"/>
            </a:pPr>
            <a:r>
              <a:rPr lang="en-GB" sz="1400" dirty="0">
                <a:solidFill>
                  <a:srgbClr val="1A1A1A"/>
                </a:solidFill>
                <a:latin typeface="Montserrat" panose="00000500000000000000" pitchFamily="2" charset="0"/>
              </a:rPr>
              <a:t>Identify any transformation needs.</a:t>
            </a:r>
          </a:p>
          <a:p>
            <a:pPr marL="285750" indent="-285750">
              <a:spcAft>
                <a:spcPts val="1000"/>
              </a:spcAft>
              <a:buFont typeface="Arial" panose="020B0604020202020204" pitchFamily="34" charset="0"/>
              <a:buChar char="•"/>
            </a:pPr>
            <a:r>
              <a:rPr lang="en-GB" sz="1400" dirty="0">
                <a:solidFill>
                  <a:srgbClr val="1A1A1A"/>
                </a:solidFill>
                <a:latin typeface="Montserrat" panose="00000500000000000000" pitchFamily="2" charset="0"/>
              </a:rPr>
              <a:t>Preparing a plan for cleaning the data.</a:t>
            </a:r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80BAEF05-88C3-E68D-E469-66DA919CED97}"/>
              </a:ext>
            </a:extLst>
          </p:cNvPr>
          <p:cNvGrpSpPr/>
          <p:nvPr/>
        </p:nvGrpSpPr>
        <p:grpSpPr>
          <a:xfrm>
            <a:off x="838198" y="3587374"/>
            <a:ext cx="3577201" cy="2905501"/>
            <a:chOff x="8600000" y="1730000"/>
            <a:chExt cx="3300000" cy="2647000"/>
          </a:xfrm>
        </p:grpSpPr>
        <p:sp>
          <p:nvSpPr>
            <p:cNvPr id="48" name="Image Card"/>
            <p:cNvSpPr/>
            <p:nvPr/>
          </p:nvSpPr>
          <p:spPr>
            <a:xfrm>
              <a:off x="8600000" y="1730000"/>
              <a:ext cx="3300000" cy="2647000"/>
            </a:xfrm>
            <a:prstGeom prst="roundRect">
              <a:avLst>
                <a:gd name="adj" fmla="val 4000"/>
              </a:avLst>
            </a:prstGeom>
            <a:solidFill>
              <a:schemeClr val="bg1"/>
            </a:solidFill>
            <a:ln w="9525">
              <a:solidFill>
                <a:srgbClr val="E3DCCB"/>
              </a:solidFill>
            </a:ln>
            <a:effectLst>
              <a:outerShdw blurRad="90000" dist="38100" dir="5400000" rotWithShape="0">
                <a:srgbClr val="000000">
                  <a:alpha val="22000"/>
                </a:srgbClr>
              </a:outerShdw>
            </a:effectLst>
          </p:spPr>
          <p:txBody>
            <a:bodyPr rtlCol="0" anchor="ctr"/>
            <a:lstStyle/>
            <a:p>
              <a:pPr algn="ctr"/>
              <a:endParaRPr lang="en-GB"/>
            </a:p>
          </p:txBody>
        </p:sp>
        <p:pic>
          <p:nvPicPr>
            <p:cNvPr id="5" name="Picture 4">
              <a:extLst>
                <a:ext uri="{FF2B5EF4-FFF2-40B4-BE49-F238E27FC236}">
                  <a16:creationId xmlns:a16="http://schemas.microsoft.com/office/drawing/2014/main" id="{B564CA99-02E1-AC17-8DB3-774264621283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8690000" y="1820000"/>
              <a:ext cx="3120000" cy="2467000"/>
            </a:xfrm>
            <a:prstGeom prst="rect">
              <a:avLst/>
            </a:prstGeom>
          </p:spPr>
        </p:pic>
      </p:grpSp>
      <p:grpSp>
        <p:nvGrpSpPr>
          <p:cNvPr id="24" name="Group 23">
            <a:extLst>
              <a:ext uri="{FF2B5EF4-FFF2-40B4-BE49-F238E27FC236}">
                <a16:creationId xmlns:a16="http://schemas.microsoft.com/office/drawing/2014/main" id="{6B0BA79D-DC52-9957-7039-1D9B22151E99}"/>
              </a:ext>
            </a:extLst>
          </p:cNvPr>
          <p:cNvGrpSpPr/>
          <p:nvPr/>
        </p:nvGrpSpPr>
        <p:grpSpPr>
          <a:xfrm>
            <a:off x="8608979" y="1637242"/>
            <a:ext cx="2834821" cy="4080265"/>
            <a:chOff x="8575200" y="1600688"/>
            <a:chExt cx="3000000" cy="4352437"/>
          </a:xfrm>
        </p:grpSpPr>
        <p:sp>
          <p:nvSpPr>
            <p:cNvPr id="13" name="Image Card">
              <a:extLst>
                <a:ext uri="{FF2B5EF4-FFF2-40B4-BE49-F238E27FC236}">
                  <a16:creationId xmlns:a16="http://schemas.microsoft.com/office/drawing/2014/main" id="{1BB63E57-830E-AD80-9632-7FF393F3BF1F}"/>
                </a:ext>
              </a:extLst>
            </p:cNvPr>
            <p:cNvSpPr/>
            <p:nvPr/>
          </p:nvSpPr>
          <p:spPr>
            <a:xfrm>
              <a:off x="8575200" y="1600688"/>
              <a:ext cx="3000000" cy="4352437"/>
            </a:xfrm>
            <a:prstGeom prst="roundRect">
              <a:avLst>
                <a:gd name="adj" fmla="val 4000"/>
              </a:avLst>
            </a:prstGeom>
            <a:solidFill>
              <a:schemeClr val="bg1"/>
            </a:solidFill>
            <a:ln w="9525">
              <a:solidFill>
                <a:srgbClr val="E3DCCB"/>
              </a:solidFill>
            </a:ln>
            <a:effectLst>
              <a:outerShdw blurRad="90000" dist="38100" dir="5400000" rotWithShape="0">
                <a:srgbClr val="000000">
                  <a:alpha val="22000"/>
                </a:srgbClr>
              </a:outerShdw>
            </a:effectLst>
          </p:spPr>
          <p:txBody>
            <a:bodyPr rtlCol="0" anchor="ctr"/>
            <a:lstStyle/>
            <a:p>
              <a:pPr algn="ctr"/>
              <a:endParaRPr lang="en-GB"/>
            </a:p>
          </p:txBody>
        </p:sp>
        <p:pic>
          <p:nvPicPr>
            <p:cNvPr id="23" name="Picture 22">
              <a:extLst>
                <a:ext uri="{FF2B5EF4-FFF2-40B4-BE49-F238E27FC236}">
                  <a16:creationId xmlns:a16="http://schemas.microsoft.com/office/drawing/2014/main" id="{50BE1552-6FC3-2A27-A094-9B3F36912175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8654515" y="1702381"/>
              <a:ext cx="2837398" cy="4178278"/>
            </a:xfrm>
            <a:prstGeom prst="rect">
              <a:avLst/>
            </a:prstGeom>
          </p:spPr>
        </p:pic>
      </p:grpSp>
      <p:sp>
        <p:nvSpPr>
          <p:cNvPr id="3" name="Checklist">
            <a:extLst>
              <a:ext uri="{FF2B5EF4-FFF2-40B4-BE49-F238E27FC236}">
                <a16:creationId xmlns:a16="http://schemas.microsoft.com/office/drawing/2014/main" id="{901C9028-9087-4E7C-F8E3-009FD5F75374}"/>
              </a:ext>
            </a:extLst>
          </p:cNvPr>
          <p:cNvSpPr txBox="1"/>
          <p:nvPr/>
        </p:nvSpPr>
        <p:spPr>
          <a:xfrm>
            <a:off x="5163600" y="4585302"/>
            <a:ext cx="3000000" cy="131673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>
              <a:spcAft>
                <a:spcPts val="1000"/>
              </a:spcAft>
            </a:pPr>
            <a:r>
              <a:rPr lang="en-GB" sz="1400" dirty="0">
                <a:solidFill>
                  <a:srgbClr val="1A1A1A"/>
                </a:solidFill>
                <a:latin typeface="Montserrat" panose="00000500000000000000" pitchFamily="2" charset="0"/>
              </a:rPr>
              <a:t>The following were renamed for readability:</a:t>
            </a:r>
          </a:p>
          <a:p>
            <a:pPr marL="285750" indent="-285750">
              <a:spcAft>
                <a:spcPts val="1000"/>
              </a:spcAft>
              <a:buFont typeface="Arial" panose="020B0604020202020204" pitchFamily="34" charset="0"/>
              <a:buChar char="•"/>
            </a:pPr>
            <a:r>
              <a:rPr lang="en-GB" sz="1400" dirty="0">
                <a:solidFill>
                  <a:srgbClr val="1A1A1A"/>
                </a:solidFill>
                <a:latin typeface="Montserrat" panose="00000500000000000000" pitchFamily="2" charset="0"/>
              </a:rPr>
              <a:t>merc.csv </a:t>
            </a:r>
            <a:r>
              <a:rPr lang="en-GB" sz="1400" dirty="0">
                <a:latin typeface="Montserrat" panose="00000500000000000000" pitchFamily="2" charset="0"/>
              </a:rPr>
              <a:t>→ </a:t>
            </a:r>
            <a:r>
              <a:rPr lang="en-GB" sz="1400" b="1" dirty="0">
                <a:solidFill>
                  <a:srgbClr val="4D6C75"/>
                </a:solidFill>
                <a:latin typeface="Montserrat" panose="00000500000000000000" pitchFamily="2" charset="0"/>
              </a:rPr>
              <a:t>mercedes.csv</a:t>
            </a:r>
          </a:p>
          <a:p>
            <a:pPr marL="285750" indent="-285750">
              <a:spcAft>
                <a:spcPts val="1000"/>
              </a:spcAft>
              <a:buFont typeface="Arial" panose="020B0604020202020204" pitchFamily="34" charset="0"/>
              <a:buChar char="•"/>
            </a:pPr>
            <a:r>
              <a:rPr lang="en-GB" sz="1400" dirty="0">
                <a:solidFill>
                  <a:srgbClr val="1A1A1A"/>
                </a:solidFill>
                <a:latin typeface="Montserrat" panose="00000500000000000000" pitchFamily="2" charset="0"/>
              </a:rPr>
              <a:t>vw.csv </a:t>
            </a:r>
            <a:r>
              <a:rPr lang="en-GB" sz="1400" dirty="0">
                <a:latin typeface="Montserrat" panose="00000500000000000000" pitchFamily="2" charset="0"/>
              </a:rPr>
              <a:t>→ </a:t>
            </a:r>
            <a:r>
              <a:rPr lang="en-GB" sz="1400" b="1" dirty="0">
                <a:solidFill>
                  <a:srgbClr val="4D6C75"/>
                </a:solidFill>
                <a:latin typeface="Montserrat" panose="00000500000000000000" pitchFamily="2" charset="0"/>
              </a:rPr>
              <a:t>volkswagen.csv</a:t>
            </a:r>
          </a:p>
        </p:txBody>
      </p:sp>
    </p:spTree>
    <p:extLst>
      <p:ext uri="{BB962C8B-B14F-4D97-AF65-F5344CB8AC3E}">
        <p14:creationId xmlns:p14="http://schemas.microsoft.com/office/powerpoint/2010/main" val="12586661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C22CE4F-10D2-F696-02FC-E944D880351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Background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BF8EF"/>
          </a:solidFill>
          <a:ln>
            <a:noFill/>
          </a:ln>
        </p:spPr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4" name="Parallelogram 23">
            <a:extLst>
              <a:ext uri="{FF2B5EF4-FFF2-40B4-BE49-F238E27FC236}">
                <a16:creationId xmlns:a16="http://schemas.microsoft.com/office/drawing/2014/main" id="{71861DA8-3323-8AF6-13B7-A22D63C9456A}"/>
              </a:ext>
            </a:extLst>
          </p:cNvPr>
          <p:cNvSpPr/>
          <p:nvPr/>
        </p:nvSpPr>
        <p:spPr>
          <a:xfrm rot="10800000" flipH="1">
            <a:off x="-1562861" y="662"/>
            <a:ext cx="11042980" cy="3658000"/>
          </a:xfrm>
          <a:prstGeom prst="parallelogram">
            <a:avLst>
              <a:gd name="adj" fmla="val 28922"/>
            </a:avLst>
          </a:prstGeom>
          <a:solidFill>
            <a:srgbClr val="DC2C3E"/>
          </a:solidFill>
          <a:ln>
            <a:noFill/>
          </a:ln>
          <a:effectLst>
            <a:outerShdw blurRad="50800" dist="38100" algn="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3" name="Parallelogram 2">
            <a:extLst>
              <a:ext uri="{FF2B5EF4-FFF2-40B4-BE49-F238E27FC236}">
                <a16:creationId xmlns:a16="http://schemas.microsoft.com/office/drawing/2014/main" id="{21D6A6D3-762C-C32A-51B1-C9E19E371FD0}"/>
              </a:ext>
            </a:extLst>
          </p:cNvPr>
          <p:cNvSpPr/>
          <p:nvPr/>
        </p:nvSpPr>
        <p:spPr>
          <a:xfrm rot="10800000">
            <a:off x="-1451306" y="3658662"/>
            <a:ext cx="11042980" cy="3218000"/>
          </a:xfrm>
          <a:prstGeom prst="parallelogram">
            <a:avLst>
              <a:gd name="adj" fmla="val 28922"/>
            </a:avLst>
          </a:prstGeom>
          <a:solidFill>
            <a:srgbClr val="DC2C3E"/>
          </a:solidFill>
          <a:ln>
            <a:noFill/>
          </a:ln>
          <a:effectLst>
            <a:outerShdw blurRad="50800" dist="38100" algn="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752FA15-7B4D-3354-1C75-8FADA0F86F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Montserrat SemiBold" panose="00000700000000000000" pitchFamily="2" charset="0"/>
              </a:rPr>
              <a:t>THE DATA</a:t>
            </a:r>
          </a:p>
        </p:txBody>
      </p:sp>
      <p:sp>
        <p:nvSpPr>
          <p:cNvPr id="22" name="Title Bar"/>
          <p:cNvSpPr/>
          <p:nvPr/>
        </p:nvSpPr>
        <p:spPr>
          <a:xfrm>
            <a:off x="571499" y="609600"/>
            <a:ext cx="123826" cy="723106"/>
          </a:xfrm>
          <a:prstGeom prst="rect">
            <a:avLst/>
          </a:prstGeom>
          <a:solidFill>
            <a:srgbClr val="FBF8EF"/>
          </a:solidFill>
          <a:ln>
            <a:noFill/>
          </a:ln>
        </p:spPr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1" name="Heading Bar"/>
          <p:cNvSpPr/>
          <p:nvPr/>
        </p:nvSpPr>
        <p:spPr>
          <a:xfrm>
            <a:off x="633412" y="1739532"/>
            <a:ext cx="61913" cy="723105"/>
          </a:xfrm>
          <a:prstGeom prst="rect">
            <a:avLst/>
          </a:prstGeom>
          <a:solidFill>
            <a:srgbClr val="FBF8EF"/>
          </a:solidFill>
          <a:ln>
            <a:noFill/>
          </a:ln>
        </p:spPr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6" name="Heading"/>
          <p:cNvSpPr txBox="1"/>
          <p:nvPr/>
        </p:nvSpPr>
        <p:spPr>
          <a:xfrm>
            <a:off x="838199" y="1700000"/>
            <a:ext cx="3500000" cy="90000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en-GB" sz="2400" dirty="0">
                <a:solidFill>
                  <a:schemeClr val="bg1"/>
                </a:solidFill>
                <a:latin typeface="Montserrat" panose="00000500000000000000" pitchFamily="2" charset="0"/>
              </a:rPr>
              <a:t>Inspecting the Data in Excel</a:t>
            </a:r>
          </a:p>
        </p:txBody>
      </p:sp>
      <p:sp>
        <p:nvSpPr>
          <p:cNvPr id="4" name="Red Panel">
            <a:extLst>
              <a:ext uri="{FF2B5EF4-FFF2-40B4-BE49-F238E27FC236}">
                <a16:creationId xmlns:a16="http://schemas.microsoft.com/office/drawing/2014/main" id="{BE4E2C16-C2E8-CD90-9AFB-77DB03AE9A83}"/>
              </a:ext>
            </a:extLst>
          </p:cNvPr>
          <p:cNvSpPr/>
          <p:nvPr/>
        </p:nvSpPr>
        <p:spPr>
          <a:xfrm>
            <a:off x="-531845" y="3125755"/>
            <a:ext cx="7250205" cy="1269610"/>
          </a:xfrm>
          <a:prstGeom prst="rect">
            <a:avLst/>
          </a:prstGeom>
          <a:solidFill>
            <a:srgbClr val="DC2C3E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6" name="Notes"/>
          <p:cNvSpPr txBox="1"/>
          <p:nvPr/>
        </p:nvSpPr>
        <p:spPr>
          <a:xfrm>
            <a:off x="838199" y="3419999"/>
            <a:ext cx="3350000" cy="240000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en-GB" sz="1300" i="1" dirty="0">
                <a:solidFill>
                  <a:schemeClr val="bg1"/>
                </a:solidFill>
                <a:latin typeface="Montserrat" panose="00000500000000000000" pitchFamily="2" charset="0"/>
              </a:rPr>
              <a:t>Type C follows a similar structure to Type A, but with two less columns.</a:t>
            </a:r>
          </a:p>
          <a:p>
            <a:pPr>
              <a:spcBef>
                <a:spcPts val="1400"/>
              </a:spcBef>
            </a:pPr>
            <a:r>
              <a:rPr lang="en-GB" sz="1300" i="1" dirty="0">
                <a:solidFill>
                  <a:schemeClr val="bg1"/>
                </a:solidFill>
                <a:latin typeface="Montserrat" panose="00000500000000000000" pitchFamily="2" charset="0"/>
              </a:rPr>
              <a:t>However, Type B will require special attention due to a different structure.</a:t>
            </a:r>
          </a:p>
        </p:txBody>
      </p:sp>
      <p:sp>
        <p:nvSpPr>
          <p:cNvPr id="50" name="Card A"/>
          <p:cNvSpPr/>
          <p:nvPr/>
        </p:nvSpPr>
        <p:spPr>
          <a:xfrm>
            <a:off x="4964316" y="1252718"/>
            <a:ext cx="6766638" cy="1404999"/>
          </a:xfrm>
          <a:prstGeom prst="roundRect">
            <a:avLst>
              <a:gd name="adj" fmla="val 5000"/>
            </a:avLst>
          </a:prstGeom>
          <a:solidFill>
            <a:schemeClr val="bg1"/>
          </a:solidFill>
          <a:ln w="9525">
            <a:noFill/>
          </a:ln>
          <a:effectLst>
            <a:outerShdw blurRad="80000" dist="30000" dir="5400000" rotWithShape="0">
              <a:srgbClr val="000000">
                <a:alpha val="18000"/>
              </a:srgbClr>
            </a:outerShdw>
          </a:effectLst>
        </p:spPr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51" name="Card A Text"/>
          <p:cNvSpPr txBox="1"/>
          <p:nvPr/>
        </p:nvSpPr>
        <p:spPr>
          <a:xfrm>
            <a:off x="5511484" y="1255219"/>
            <a:ext cx="2896092" cy="1413186"/>
          </a:xfrm>
          <a:prstGeom prst="rect">
            <a:avLst/>
          </a:prstGeom>
          <a:noFill/>
        </p:spPr>
        <p:txBody>
          <a:bodyPr wrap="square" rtlCol="0" anchor="ctr">
            <a:noAutofit/>
          </a:bodyPr>
          <a:lstStyle/>
          <a:p>
            <a:r>
              <a:rPr lang="en-GB" sz="1600" dirty="0">
                <a:solidFill>
                  <a:srgbClr val="1A1A1A"/>
                </a:solidFill>
                <a:latin typeface="Montserrat" panose="00000500000000000000" pitchFamily="2" charset="0"/>
              </a:rPr>
              <a:t>9 columns</a:t>
            </a:r>
          </a:p>
          <a:p>
            <a:pPr>
              <a:spcBef>
                <a:spcPts val="600"/>
              </a:spcBef>
            </a:pPr>
            <a:r>
              <a:rPr lang="en-GB" sz="1050" dirty="0">
                <a:solidFill>
                  <a:srgbClr val="1A1A1A"/>
                </a:solidFill>
                <a:latin typeface="Montserrat" panose="00000500000000000000" pitchFamily="2" charset="0"/>
              </a:rPr>
              <a:t>Includes | </a:t>
            </a:r>
            <a:r>
              <a:rPr lang="en-GB" sz="1050" i="1" dirty="0">
                <a:solidFill>
                  <a:srgbClr val="1A1A1A"/>
                </a:solidFill>
                <a:latin typeface="Montserrat" panose="00000500000000000000" pitchFamily="2" charset="0"/>
              </a:rPr>
              <a:t>audi.csv, bmw.csv, ford.csv, hyundi.csv, mercedes.csv, skoda.csv, toyota.csv, vauxhall.csv, volkswagen.csv.</a:t>
            </a:r>
          </a:p>
        </p:txBody>
      </p:sp>
      <p:sp>
        <p:nvSpPr>
          <p:cNvPr id="52" name="Card A Caption"/>
          <p:cNvSpPr txBox="1"/>
          <p:nvPr/>
        </p:nvSpPr>
        <p:spPr>
          <a:xfrm>
            <a:off x="8480363" y="2289404"/>
            <a:ext cx="3151185" cy="28000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r"/>
            <a:r>
              <a:rPr lang="en-GB" sz="1000" dirty="0">
                <a:solidFill>
                  <a:srgbClr val="DC2C3E"/>
                </a:solidFill>
              </a:rPr>
              <a:t>audi.csv sample.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0ACDB20F-8ACC-1D1F-69E7-36C3A2B4E6F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08003" y="1551417"/>
            <a:ext cx="3021587" cy="732068"/>
          </a:xfrm>
          <a:prstGeom prst="rect">
            <a:avLst/>
          </a:prstGeom>
        </p:spPr>
      </p:pic>
      <p:sp>
        <p:nvSpPr>
          <p:cNvPr id="60" name="Card B"/>
          <p:cNvSpPr/>
          <p:nvPr/>
        </p:nvSpPr>
        <p:spPr>
          <a:xfrm>
            <a:off x="5887616" y="3072084"/>
            <a:ext cx="5860401" cy="1404999"/>
          </a:xfrm>
          <a:prstGeom prst="roundRect">
            <a:avLst>
              <a:gd name="adj" fmla="val 5000"/>
            </a:avLst>
          </a:prstGeom>
          <a:solidFill>
            <a:schemeClr val="bg1"/>
          </a:solidFill>
          <a:ln w="9525">
            <a:noFill/>
          </a:ln>
          <a:effectLst>
            <a:outerShdw blurRad="80000" dist="30000" dir="5400000" rotWithShape="0">
              <a:srgbClr val="000000">
                <a:alpha val="18000"/>
              </a:srgbClr>
            </a:outerShdw>
          </a:effectLst>
        </p:spPr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61" name="Card B Text"/>
          <p:cNvSpPr txBox="1"/>
          <p:nvPr/>
        </p:nvSpPr>
        <p:spPr>
          <a:xfrm>
            <a:off x="6554152" y="3058311"/>
            <a:ext cx="2745947" cy="1404999"/>
          </a:xfrm>
          <a:prstGeom prst="rect">
            <a:avLst/>
          </a:prstGeom>
          <a:noFill/>
        </p:spPr>
        <p:txBody>
          <a:bodyPr wrap="square" rtlCol="0" anchor="ctr">
            <a:noAutofit/>
          </a:bodyPr>
          <a:lstStyle/>
          <a:p>
            <a:r>
              <a:rPr lang="en-GB" sz="1600" dirty="0">
                <a:solidFill>
                  <a:srgbClr val="1A1A1A"/>
                </a:solidFill>
                <a:latin typeface="Montserrat" panose="00000500000000000000" pitchFamily="2" charset="0"/>
              </a:rPr>
              <a:t>7 columns</a:t>
            </a:r>
          </a:p>
          <a:p>
            <a:pPr>
              <a:spcBef>
                <a:spcPts val="600"/>
              </a:spcBef>
            </a:pPr>
            <a:r>
              <a:rPr lang="en-GB" sz="1050" dirty="0">
                <a:solidFill>
                  <a:srgbClr val="1A1A1A"/>
                </a:solidFill>
                <a:latin typeface="Montserrat" panose="00000500000000000000" pitchFamily="2" charset="0"/>
              </a:rPr>
              <a:t>Includes | </a:t>
            </a:r>
            <a:r>
              <a:rPr lang="en-GB" sz="1050" i="1" dirty="0">
                <a:solidFill>
                  <a:srgbClr val="1A1A1A"/>
                </a:solidFill>
                <a:latin typeface="Montserrat" panose="00000500000000000000" pitchFamily="2" charset="0"/>
              </a:rPr>
              <a:t>cclass.csv, focus.csv.</a:t>
            </a:r>
          </a:p>
        </p:txBody>
      </p:sp>
      <p:sp>
        <p:nvSpPr>
          <p:cNvPr id="62" name="Card B Caption"/>
          <p:cNvSpPr txBox="1"/>
          <p:nvPr/>
        </p:nvSpPr>
        <p:spPr>
          <a:xfrm>
            <a:off x="8323028" y="4138654"/>
            <a:ext cx="3308520" cy="28000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r"/>
            <a:r>
              <a:rPr lang="en-GB" sz="1000" dirty="0">
                <a:solidFill>
                  <a:srgbClr val="DC2C3E"/>
                </a:solidFill>
              </a:rPr>
              <a:t>focus.csv sample.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49343E02-4FFB-7032-640A-FA61145C170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70321" y="3372393"/>
            <a:ext cx="2559269" cy="741051"/>
          </a:xfrm>
          <a:prstGeom prst="rect">
            <a:avLst/>
          </a:prstGeom>
        </p:spPr>
      </p:pic>
      <p:sp>
        <p:nvSpPr>
          <p:cNvPr id="70" name="Card C"/>
          <p:cNvSpPr/>
          <p:nvPr/>
        </p:nvSpPr>
        <p:spPr>
          <a:xfrm>
            <a:off x="3533754" y="4906206"/>
            <a:ext cx="8197200" cy="1414870"/>
          </a:xfrm>
          <a:prstGeom prst="roundRect">
            <a:avLst>
              <a:gd name="adj" fmla="val 5000"/>
            </a:avLst>
          </a:prstGeom>
          <a:solidFill>
            <a:schemeClr val="bg1"/>
          </a:solidFill>
          <a:ln w="9525">
            <a:noFill/>
          </a:ln>
          <a:effectLst>
            <a:outerShdw blurRad="80000" dist="30000" dir="5400000" rotWithShape="0">
              <a:srgbClr val="000000">
                <a:alpha val="18000"/>
              </a:srgbClr>
            </a:outerShdw>
          </a:effectLst>
        </p:spPr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71" name="Card C Text"/>
          <p:cNvSpPr txBox="1"/>
          <p:nvPr/>
        </p:nvSpPr>
        <p:spPr>
          <a:xfrm>
            <a:off x="4207724" y="4875470"/>
            <a:ext cx="2604824" cy="1440000"/>
          </a:xfrm>
          <a:prstGeom prst="rect">
            <a:avLst/>
          </a:prstGeom>
          <a:noFill/>
        </p:spPr>
        <p:txBody>
          <a:bodyPr wrap="square" rtlCol="0" anchor="ctr">
            <a:noAutofit/>
          </a:bodyPr>
          <a:lstStyle/>
          <a:p>
            <a:r>
              <a:rPr lang="en-GB" sz="1600" dirty="0">
                <a:solidFill>
                  <a:srgbClr val="1A1A1A"/>
                </a:solidFill>
                <a:latin typeface="Montserrat" panose="00000500000000000000" pitchFamily="2" charset="0"/>
              </a:rPr>
              <a:t>11 columns</a:t>
            </a:r>
          </a:p>
          <a:p>
            <a:pPr>
              <a:spcBef>
                <a:spcPts val="600"/>
              </a:spcBef>
            </a:pPr>
            <a:r>
              <a:rPr lang="en-GB" sz="1050" dirty="0">
                <a:solidFill>
                  <a:srgbClr val="1A1A1A"/>
                </a:solidFill>
                <a:latin typeface="Montserrat" panose="00000500000000000000" pitchFamily="2" charset="0"/>
              </a:rPr>
              <a:t>Includes | </a:t>
            </a:r>
            <a:r>
              <a:rPr lang="en-GB" sz="1050" i="1" dirty="0">
                <a:solidFill>
                  <a:srgbClr val="1A1A1A"/>
                </a:solidFill>
                <a:latin typeface="Montserrat" panose="00000500000000000000" pitchFamily="2" charset="0"/>
              </a:rPr>
              <a:t>bclass.csv, fiesta.csv.</a:t>
            </a:r>
          </a:p>
        </p:txBody>
      </p:sp>
      <p:sp>
        <p:nvSpPr>
          <p:cNvPr id="72" name="Card C Caption"/>
          <p:cNvSpPr txBox="1"/>
          <p:nvPr/>
        </p:nvSpPr>
        <p:spPr>
          <a:xfrm>
            <a:off x="8200311" y="5965530"/>
            <a:ext cx="3431237" cy="28000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r"/>
            <a:r>
              <a:rPr lang="en-GB" sz="1000" dirty="0">
                <a:solidFill>
                  <a:srgbClr val="DC2C3E"/>
                </a:solidFill>
              </a:rPr>
              <a:t>fiesta.csv sample.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571EB114-5B8A-4862-577C-1C3E504FD1CE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313" r="-1"/>
          <a:stretch>
            <a:fillRect/>
          </a:stretch>
        </p:blipFill>
        <p:spPr>
          <a:xfrm>
            <a:off x="6711663" y="5199424"/>
            <a:ext cx="4819784" cy="758526"/>
          </a:xfrm>
          <a:prstGeom prst="rect">
            <a:avLst/>
          </a:prstGeom>
        </p:spPr>
      </p:pic>
      <p:sp>
        <p:nvSpPr>
          <p:cNvPr id="5" name="Oval 4">
            <a:extLst>
              <a:ext uri="{FF2B5EF4-FFF2-40B4-BE49-F238E27FC236}">
                <a16:creationId xmlns:a16="http://schemas.microsoft.com/office/drawing/2014/main" id="{70CF06B1-98C4-9792-DF45-260AB85DB3F6}"/>
              </a:ext>
            </a:extLst>
          </p:cNvPr>
          <p:cNvSpPr/>
          <p:nvPr/>
        </p:nvSpPr>
        <p:spPr>
          <a:xfrm>
            <a:off x="3108865" y="5213049"/>
            <a:ext cx="810000" cy="810000"/>
          </a:xfrm>
          <a:prstGeom prst="ellipse">
            <a:avLst/>
          </a:prstGeom>
          <a:solidFill>
            <a:schemeClr val="bg1"/>
          </a:solidFill>
          <a:ln w="38100">
            <a:solidFill>
              <a:srgbClr val="B3213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0886F8A3-A135-F26D-7F1E-88431B2D0941}"/>
              </a:ext>
            </a:extLst>
          </p:cNvPr>
          <p:cNvSpPr txBox="1"/>
          <p:nvPr/>
        </p:nvSpPr>
        <p:spPr>
          <a:xfrm>
            <a:off x="2729345" y="5277742"/>
            <a:ext cx="1550378" cy="646331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GB" sz="3600" b="1" dirty="0">
                <a:solidFill>
                  <a:srgbClr val="DC2C3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Montserrat" panose="00000500000000000000" pitchFamily="2" charset="0"/>
              </a:rPr>
              <a:t>B</a:t>
            </a:r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B133659F-710E-4F85-2E61-941BD66348A7}"/>
              </a:ext>
            </a:extLst>
          </p:cNvPr>
          <p:cNvSpPr/>
          <p:nvPr/>
        </p:nvSpPr>
        <p:spPr>
          <a:xfrm>
            <a:off x="5488046" y="3342901"/>
            <a:ext cx="810000" cy="810000"/>
          </a:xfrm>
          <a:prstGeom prst="ellipse">
            <a:avLst/>
          </a:prstGeom>
          <a:solidFill>
            <a:schemeClr val="bg1"/>
          </a:solidFill>
          <a:ln w="38100">
            <a:solidFill>
              <a:srgbClr val="B3213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45DB063B-C3AC-0092-F053-0D5B4A199969}"/>
              </a:ext>
            </a:extLst>
          </p:cNvPr>
          <p:cNvSpPr txBox="1"/>
          <p:nvPr/>
        </p:nvSpPr>
        <p:spPr>
          <a:xfrm>
            <a:off x="5099195" y="3407594"/>
            <a:ext cx="1550378" cy="646331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GB" sz="3600" b="1" dirty="0">
                <a:solidFill>
                  <a:srgbClr val="DC2C3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Montserrat" panose="00000500000000000000" pitchFamily="2" charset="0"/>
              </a:rPr>
              <a:t>C</a:t>
            </a:r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AB1DD627-F41C-0077-65C8-3E4DCA3C317A}"/>
              </a:ext>
            </a:extLst>
          </p:cNvPr>
          <p:cNvSpPr/>
          <p:nvPr/>
        </p:nvSpPr>
        <p:spPr>
          <a:xfrm>
            <a:off x="4572159" y="1541636"/>
            <a:ext cx="810000" cy="810000"/>
          </a:xfrm>
          <a:prstGeom prst="ellipse">
            <a:avLst/>
          </a:prstGeom>
          <a:solidFill>
            <a:schemeClr val="bg1"/>
          </a:solidFill>
          <a:ln w="38100">
            <a:solidFill>
              <a:srgbClr val="B3213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A1A693BF-B593-6B83-B6C0-9043826DB839}"/>
              </a:ext>
            </a:extLst>
          </p:cNvPr>
          <p:cNvSpPr txBox="1"/>
          <p:nvPr/>
        </p:nvSpPr>
        <p:spPr>
          <a:xfrm>
            <a:off x="4201970" y="1606329"/>
            <a:ext cx="1550378" cy="646331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GB" sz="3600" b="1" dirty="0">
                <a:solidFill>
                  <a:srgbClr val="DC2C3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Montserrat" panose="00000500000000000000" pitchFamily="2" charset="0"/>
              </a:rPr>
              <a:t>A</a:t>
            </a:r>
          </a:p>
        </p:txBody>
      </p:sp>
      <p:sp>
        <p:nvSpPr>
          <p:cNvPr id="7" name="Intro"/>
          <p:cNvSpPr txBox="1"/>
          <p:nvPr/>
        </p:nvSpPr>
        <p:spPr>
          <a:xfrm>
            <a:off x="838199" y="2820000"/>
            <a:ext cx="3450000" cy="60000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en-GB" sz="1400" b="1" dirty="0">
                <a:solidFill>
                  <a:schemeClr val="bg1"/>
                </a:solidFill>
                <a:latin typeface="Montserrat" panose="00000500000000000000" pitchFamily="2" charset="0"/>
              </a:rPr>
              <a:t>Identified three types of table structure.</a:t>
            </a:r>
          </a:p>
        </p:txBody>
      </p:sp>
    </p:spTree>
    <p:extLst>
      <p:ext uri="{BB962C8B-B14F-4D97-AF65-F5344CB8AC3E}">
        <p14:creationId xmlns:p14="http://schemas.microsoft.com/office/powerpoint/2010/main" val="62061231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C57B40A-3709-5384-87A9-9C97CCE0E2E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Curved Connector 50">
            <a:extLst>
              <a:ext uri="{FF2B5EF4-FFF2-40B4-BE49-F238E27FC236}">
                <a16:creationId xmlns:a16="http://schemas.microsoft.com/office/drawing/2014/main" id="{0C0B996C-C5B3-6048-CA7E-3D9B91221863}"/>
              </a:ext>
            </a:extLst>
          </p:cNvPr>
          <p:cNvSpPr/>
          <p:nvPr/>
        </p:nvSpPr>
        <p:spPr>
          <a:xfrm>
            <a:off x="-27708" y="0"/>
            <a:ext cx="12192000" cy="6858000"/>
          </a:xfrm>
          <a:custGeom>
            <a:avLst/>
            <a:gdLst/>
            <a:ahLst/>
            <a:cxnLst/>
            <a:rect l="0" t="0" r="0" b="0"/>
            <a:pathLst>
              <a:path w="12192000" h="6858000" fill="none">
                <a:moveTo>
                  <a:pt x="6172199" y="2376488"/>
                </a:moveTo>
                <a:lnTo>
                  <a:pt x="6172199" y="2560000"/>
                </a:lnTo>
                <a:quadBezTo>
                  <a:pt x="6172199" y="2680000"/>
                  <a:pt x="6052199" y="2680000"/>
                </a:quadBezTo>
                <a:lnTo>
                  <a:pt x="2239498" y="2680000"/>
                </a:lnTo>
                <a:quadBezTo>
                  <a:pt x="2119498" y="2680000"/>
                  <a:pt x="2119498" y="2800000"/>
                </a:quadBezTo>
                <a:lnTo>
                  <a:pt x="2119498" y="3159974"/>
                </a:lnTo>
              </a:path>
            </a:pathLst>
          </a:custGeom>
          <a:noFill/>
          <a:ln w="22225" cap="rnd">
            <a:solidFill>
              <a:srgbClr val="4D6C75"/>
            </a:solidFill>
            <a:prstDash val="dash"/>
            <a:round/>
            <a:headEnd type="none"/>
            <a:tailEnd type="none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rtlCol="0"/>
          <a:lstStyle/>
          <a:p>
            <a:pPr algn="ctr"/>
            <a:endParaRPr lang="en-GB" dirty="0"/>
          </a:p>
        </p:txBody>
      </p:sp>
      <p:sp>
        <p:nvSpPr>
          <p:cNvPr id="54" name="Curved Connector 51">
            <a:extLst>
              <a:ext uri="{FF2B5EF4-FFF2-40B4-BE49-F238E27FC236}">
                <a16:creationId xmlns:a16="http://schemas.microsoft.com/office/drawing/2014/main" id="{225E7F22-E03B-D28A-08CB-12F970062EFC}"/>
              </a:ext>
            </a:extLst>
          </p:cNvPr>
          <p:cNvSpPr/>
          <p:nvPr/>
        </p:nvSpPr>
        <p:spPr>
          <a:xfrm>
            <a:off x="-27708" y="0"/>
            <a:ext cx="12192000" cy="6858000"/>
          </a:xfrm>
          <a:custGeom>
            <a:avLst/>
            <a:gdLst/>
            <a:ahLst/>
            <a:cxnLst/>
            <a:rect l="0" t="0" r="0" b="0"/>
            <a:pathLst>
              <a:path w="12192000" h="6858000" fill="none">
                <a:moveTo>
                  <a:pt x="6172199" y="2376488"/>
                </a:moveTo>
                <a:lnTo>
                  <a:pt x="6172199" y="2560000"/>
                </a:lnTo>
                <a:quadBezTo>
                  <a:pt x="6172199" y="2680000"/>
                  <a:pt x="6052199" y="2680000"/>
                </a:quadBezTo>
                <a:lnTo>
                  <a:pt x="4937393" y="2680000"/>
                </a:lnTo>
                <a:quadBezTo>
                  <a:pt x="4817393" y="2680000"/>
                  <a:pt x="4817393" y="2800000"/>
                </a:quadBezTo>
                <a:lnTo>
                  <a:pt x="4817393" y="3159974"/>
                </a:lnTo>
              </a:path>
            </a:pathLst>
          </a:custGeom>
          <a:noFill/>
          <a:ln w="22225" cap="rnd">
            <a:solidFill>
              <a:srgbClr val="4D6C75"/>
            </a:solidFill>
            <a:prstDash val="dash"/>
            <a:round/>
            <a:headEnd type="none"/>
            <a:tailEnd type="none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rtlCol="0"/>
          <a:lstStyle/>
          <a:p>
            <a:pPr algn="ctr"/>
            <a:endParaRPr lang="en-GB"/>
          </a:p>
        </p:txBody>
      </p:sp>
      <p:sp>
        <p:nvSpPr>
          <p:cNvPr id="53" name="Curved Connector 52">
            <a:extLst>
              <a:ext uri="{FF2B5EF4-FFF2-40B4-BE49-F238E27FC236}">
                <a16:creationId xmlns:a16="http://schemas.microsoft.com/office/drawing/2014/main" id="{CF5451E4-00B1-2F9C-BD64-8FBBDBAC0125}"/>
              </a:ext>
            </a:extLst>
          </p:cNvPr>
          <p:cNvSpPr/>
          <p:nvPr/>
        </p:nvSpPr>
        <p:spPr>
          <a:xfrm>
            <a:off x="-27708" y="0"/>
            <a:ext cx="12192000" cy="6858000"/>
          </a:xfrm>
          <a:custGeom>
            <a:avLst/>
            <a:gdLst/>
            <a:ahLst/>
            <a:cxnLst/>
            <a:rect l="0" t="0" r="0" b="0"/>
            <a:pathLst>
              <a:path w="12192000" h="6858000" fill="none">
                <a:moveTo>
                  <a:pt x="6172199" y="2376488"/>
                </a:moveTo>
                <a:lnTo>
                  <a:pt x="6172199" y="2560000"/>
                </a:lnTo>
                <a:quadBezTo>
                  <a:pt x="6172199" y="2680000"/>
                  <a:pt x="6292199" y="2680000"/>
                </a:quadBezTo>
                <a:lnTo>
                  <a:pt x="7395288" y="2680000"/>
                </a:lnTo>
                <a:quadBezTo>
                  <a:pt x="7515288" y="2680000"/>
                  <a:pt x="7515288" y="2800000"/>
                </a:quadBezTo>
                <a:lnTo>
                  <a:pt x="7515288" y="3159974"/>
                </a:lnTo>
              </a:path>
            </a:pathLst>
          </a:custGeom>
          <a:noFill/>
          <a:ln w="22225" cap="rnd">
            <a:solidFill>
              <a:srgbClr val="4D6C75"/>
            </a:solidFill>
            <a:prstDash val="dash"/>
            <a:round/>
            <a:headEnd type="none"/>
            <a:tailEnd type="none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rtlCol="0"/>
          <a:lstStyle/>
          <a:p>
            <a:pPr algn="ctr"/>
            <a:endParaRPr lang="en-GB"/>
          </a:p>
        </p:txBody>
      </p:sp>
      <p:sp>
        <p:nvSpPr>
          <p:cNvPr id="52" name="Curved Connector 53">
            <a:extLst>
              <a:ext uri="{FF2B5EF4-FFF2-40B4-BE49-F238E27FC236}">
                <a16:creationId xmlns:a16="http://schemas.microsoft.com/office/drawing/2014/main" id="{B707AE2B-30BB-1B9D-6CD1-0B641ED7414D}"/>
              </a:ext>
            </a:extLst>
          </p:cNvPr>
          <p:cNvSpPr/>
          <p:nvPr/>
        </p:nvSpPr>
        <p:spPr>
          <a:xfrm>
            <a:off x="-27708" y="0"/>
            <a:ext cx="12192000" cy="6858000"/>
          </a:xfrm>
          <a:custGeom>
            <a:avLst/>
            <a:gdLst/>
            <a:ahLst/>
            <a:cxnLst/>
            <a:rect l="0" t="0" r="0" b="0"/>
            <a:pathLst>
              <a:path w="12192000" h="6858000" fill="none">
                <a:moveTo>
                  <a:pt x="6172199" y="2376488"/>
                </a:moveTo>
                <a:lnTo>
                  <a:pt x="6172199" y="2560000"/>
                </a:lnTo>
                <a:quadBezTo>
                  <a:pt x="6172199" y="2680000"/>
                  <a:pt x="6292199" y="2680000"/>
                </a:quadBezTo>
                <a:lnTo>
                  <a:pt x="10093183" y="2680000"/>
                </a:lnTo>
                <a:quadBezTo>
                  <a:pt x="10213183" y="2680000"/>
                  <a:pt x="10213183" y="2800000"/>
                </a:quadBezTo>
                <a:lnTo>
                  <a:pt x="10213183" y="3159974"/>
                </a:lnTo>
              </a:path>
            </a:pathLst>
          </a:custGeom>
          <a:noFill/>
          <a:ln w="22225" cap="rnd">
            <a:solidFill>
              <a:srgbClr val="4D6C75"/>
            </a:solidFill>
            <a:prstDash val="dash"/>
            <a:round/>
            <a:headEnd type="none"/>
            <a:tailEnd type="none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rtlCol="0"/>
          <a:lstStyle/>
          <a:p>
            <a:pPr algn="ctr"/>
            <a:endParaRPr lang="en-GB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4554B89-969C-9419-54F6-AFC1FEC057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GB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Montserrat SemiBold" panose="00000700000000000000" pitchFamily="2" charset="0"/>
              </a:rPr>
              <a:t>THE DATA</a:t>
            </a:r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62596F25-862B-176E-70F3-E17EBADE6AB0}"/>
              </a:ext>
            </a:extLst>
          </p:cNvPr>
          <p:cNvSpPr/>
          <p:nvPr/>
        </p:nvSpPr>
        <p:spPr>
          <a:xfrm>
            <a:off x="4634779" y="1735138"/>
            <a:ext cx="3019425" cy="609600"/>
          </a:xfrm>
          <a:prstGeom prst="roundRect">
            <a:avLst>
              <a:gd name="adj" fmla="val 50000"/>
            </a:avLst>
          </a:prstGeom>
          <a:solidFill>
            <a:srgbClr val="DC2C3E"/>
          </a:solidFill>
          <a:ln>
            <a:solidFill>
              <a:srgbClr val="DC2C3E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Montserrat" panose="00000500000000000000" pitchFamily="2" charset="0"/>
              </a:rPr>
              <a:t>Data Reconciliation</a:t>
            </a:r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C2C844CD-F4AB-5804-B64A-191528168F52}"/>
              </a:ext>
            </a:extLst>
          </p:cNvPr>
          <p:cNvSpPr/>
          <p:nvPr/>
        </p:nvSpPr>
        <p:spPr>
          <a:xfrm>
            <a:off x="1686790" y="3159975"/>
            <a:ext cx="810000" cy="810000"/>
          </a:xfrm>
          <a:prstGeom prst="ellipse">
            <a:avLst/>
          </a:prstGeom>
          <a:solidFill>
            <a:schemeClr val="bg1"/>
          </a:solidFill>
          <a:ln w="38100">
            <a:solidFill>
              <a:srgbClr val="DC2C3E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4DB3776B-DE2B-1B30-2B27-0AFA0791E1A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22709" y="3286126"/>
            <a:ext cx="538161" cy="538161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19" name="Oval 18">
            <a:extLst>
              <a:ext uri="{FF2B5EF4-FFF2-40B4-BE49-F238E27FC236}">
                <a16:creationId xmlns:a16="http://schemas.microsoft.com/office/drawing/2014/main" id="{17CDF985-BF36-365A-D599-3F214655C283}"/>
              </a:ext>
            </a:extLst>
          </p:cNvPr>
          <p:cNvSpPr/>
          <p:nvPr/>
        </p:nvSpPr>
        <p:spPr>
          <a:xfrm>
            <a:off x="4384685" y="3159974"/>
            <a:ext cx="810000" cy="810000"/>
          </a:xfrm>
          <a:prstGeom prst="ellipse">
            <a:avLst/>
          </a:prstGeom>
          <a:solidFill>
            <a:schemeClr val="bg1"/>
          </a:solidFill>
          <a:ln w="38100">
            <a:solidFill>
              <a:srgbClr val="DC2C3E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0" name="Oval 19">
            <a:extLst>
              <a:ext uri="{FF2B5EF4-FFF2-40B4-BE49-F238E27FC236}">
                <a16:creationId xmlns:a16="http://schemas.microsoft.com/office/drawing/2014/main" id="{BC36EA9E-766A-3435-0540-E75071D8C3BC}"/>
              </a:ext>
            </a:extLst>
          </p:cNvPr>
          <p:cNvSpPr/>
          <p:nvPr/>
        </p:nvSpPr>
        <p:spPr>
          <a:xfrm>
            <a:off x="7082580" y="3159974"/>
            <a:ext cx="810000" cy="810000"/>
          </a:xfrm>
          <a:prstGeom prst="ellipse">
            <a:avLst/>
          </a:prstGeom>
          <a:solidFill>
            <a:schemeClr val="bg1"/>
          </a:solidFill>
          <a:ln w="38100">
            <a:solidFill>
              <a:srgbClr val="DC2C3E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1" name="Oval 20">
            <a:extLst>
              <a:ext uri="{FF2B5EF4-FFF2-40B4-BE49-F238E27FC236}">
                <a16:creationId xmlns:a16="http://schemas.microsoft.com/office/drawing/2014/main" id="{15C51554-41B4-6CB9-8695-FB954270F211}"/>
              </a:ext>
            </a:extLst>
          </p:cNvPr>
          <p:cNvSpPr/>
          <p:nvPr/>
        </p:nvSpPr>
        <p:spPr>
          <a:xfrm>
            <a:off x="9780475" y="3159974"/>
            <a:ext cx="810000" cy="810000"/>
          </a:xfrm>
          <a:prstGeom prst="ellipse">
            <a:avLst/>
          </a:prstGeom>
          <a:solidFill>
            <a:schemeClr val="bg1"/>
          </a:solidFill>
          <a:ln w="38100">
            <a:solidFill>
              <a:srgbClr val="DC2C3E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pic>
        <p:nvPicPr>
          <p:cNvPr id="25" name="Picture 24">
            <a:extLst>
              <a:ext uri="{FF2B5EF4-FFF2-40B4-BE49-F238E27FC236}">
                <a16:creationId xmlns:a16="http://schemas.microsoft.com/office/drawing/2014/main" id="{3EE2DB4D-3C33-19AA-7192-21295B7C016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10030" y="3265237"/>
            <a:ext cx="550890" cy="540000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pic>
        <p:nvPicPr>
          <p:cNvPr id="31" name="Picture 30">
            <a:extLst>
              <a:ext uri="{FF2B5EF4-FFF2-40B4-BE49-F238E27FC236}">
                <a16:creationId xmlns:a16="http://schemas.microsoft.com/office/drawing/2014/main" id="{ED1C2912-2A65-CCBB-3475-89990E942091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33055" y="3312674"/>
            <a:ext cx="490000" cy="495000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pic>
        <p:nvPicPr>
          <p:cNvPr id="33" name="Picture 32">
            <a:extLst>
              <a:ext uri="{FF2B5EF4-FFF2-40B4-BE49-F238E27FC236}">
                <a16:creationId xmlns:a16="http://schemas.microsoft.com/office/drawing/2014/main" id="{BB5B55BF-FDA6-17A2-7231-1F7765B58FCC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91360" y="3240731"/>
            <a:ext cx="777600" cy="648000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34" name="TextBox 33">
            <a:extLst>
              <a:ext uri="{FF2B5EF4-FFF2-40B4-BE49-F238E27FC236}">
                <a16:creationId xmlns:a16="http://schemas.microsoft.com/office/drawing/2014/main" id="{A1A8D97E-57F9-D912-2559-02F26086DCDD}"/>
              </a:ext>
            </a:extLst>
          </p:cNvPr>
          <p:cNvSpPr txBox="1"/>
          <p:nvPr/>
        </p:nvSpPr>
        <p:spPr>
          <a:xfrm>
            <a:off x="1316600" y="4220620"/>
            <a:ext cx="1550378" cy="338554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GB" sz="16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Montserrat" panose="00000500000000000000" pitchFamily="2" charset="0"/>
              </a:rPr>
              <a:t>Redundancy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5DC7C218-1268-1C3A-3621-CA8C5CF7DB73}"/>
              </a:ext>
            </a:extLst>
          </p:cNvPr>
          <p:cNvSpPr txBox="1"/>
          <p:nvPr/>
        </p:nvSpPr>
        <p:spPr>
          <a:xfrm>
            <a:off x="1328049" y="4559174"/>
            <a:ext cx="2065642" cy="1446550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GB" sz="1100" dirty="0">
                <a:latin typeface="Montserrat" panose="00000500000000000000" pitchFamily="2" charset="0"/>
              </a:rPr>
              <a:t>Duplicates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GB" sz="1100" dirty="0">
                <a:latin typeface="Montserrat" panose="00000500000000000000" pitchFamily="2" charset="0"/>
              </a:rPr>
              <a:t>Empty rows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GB" sz="1100" dirty="0">
                <a:latin typeface="Montserrat" panose="00000500000000000000" pitchFamily="2" charset="0"/>
              </a:rPr>
              <a:t>Redundant fields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GB" sz="1100" i="1" dirty="0">
                <a:latin typeface="Montserrat" panose="00000500000000000000" pitchFamily="2" charset="0"/>
              </a:rPr>
              <a:t>EngineSize2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GB" sz="1100" i="1" dirty="0">
                <a:latin typeface="Montserrat" panose="00000500000000000000" pitchFamily="2" charset="0"/>
              </a:rPr>
              <a:t>FuelType2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GB" sz="1100" i="1" dirty="0">
                <a:latin typeface="Montserrat" panose="00000500000000000000" pitchFamily="2" charset="0"/>
              </a:rPr>
              <a:t>Mileage2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GB" sz="1100" dirty="0">
                <a:latin typeface="Montserrat" panose="00000500000000000000" pitchFamily="2" charset="0"/>
              </a:rPr>
              <a:t>Placeholders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GB" sz="1100" i="1" dirty="0">
                <a:latin typeface="Montserrat" panose="00000500000000000000" pitchFamily="2" charset="0"/>
              </a:rPr>
              <a:t>‘N/A’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35ABCFCE-BB93-AEAD-0378-5B1BCC5CD758}"/>
              </a:ext>
            </a:extLst>
          </p:cNvPr>
          <p:cNvSpPr txBox="1"/>
          <p:nvPr/>
        </p:nvSpPr>
        <p:spPr>
          <a:xfrm>
            <a:off x="6579149" y="4220620"/>
            <a:ext cx="1797812" cy="338554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GB" sz="16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Montserrat" panose="00000500000000000000" pitchFamily="2" charset="0"/>
              </a:rPr>
              <a:t>Pipeline Errors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D5E9EBBD-CD22-699E-A74E-5A15A61340DD}"/>
              </a:ext>
            </a:extLst>
          </p:cNvPr>
          <p:cNvSpPr txBox="1"/>
          <p:nvPr/>
        </p:nvSpPr>
        <p:spPr>
          <a:xfrm>
            <a:off x="3960570" y="4559174"/>
            <a:ext cx="2225108" cy="1446550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GB" sz="1100" dirty="0">
                <a:latin typeface="Montserrat" panose="00000500000000000000" pitchFamily="2" charset="0"/>
              </a:rPr>
              <a:t>Type mismatch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GB" sz="1100" dirty="0">
                <a:latin typeface="Montserrat" panose="00000500000000000000" pitchFamily="2" charset="0"/>
              </a:rPr>
              <a:t>Unit mismatch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GB" sz="1100" dirty="0">
                <a:latin typeface="Montserrat" panose="00000500000000000000" pitchFamily="2" charset="0"/>
              </a:rPr>
              <a:t>Litres vs CC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GB" sz="1100" dirty="0">
                <a:latin typeface="Montserrat" panose="00000500000000000000" pitchFamily="2" charset="0"/>
              </a:rPr>
              <a:t>Stray characters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GB" sz="1100" dirty="0">
                <a:latin typeface="Montserrat" panose="00000500000000000000" pitchFamily="2" charset="0"/>
              </a:rPr>
              <a:t>Leading currency.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GB" sz="1100" dirty="0">
                <a:latin typeface="Montserrat" panose="00000500000000000000" pitchFamily="2" charset="0"/>
              </a:rPr>
              <a:t>Whitespace padding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GB" sz="1100" dirty="0">
                <a:latin typeface="Montserrat" panose="00000500000000000000" pitchFamily="2" charset="0"/>
              </a:rPr>
              <a:t>Floating point noise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GB" sz="1100" dirty="0">
                <a:latin typeface="Montserrat" panose="00000500000000000000" pitchFamily="2" charset="0"/>
              </a:rPr>
              <a:t>Rounding trails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116080A2-DE55-ED99-57C4-7AA415F8757A}"/>
              </a:ext>
            </a:extLst>
          </p:cNvPr>
          <p:cNvSpPr txBox="1"/>
          <p:nvPr/>
        </p:nvSpPr>
        <p:spPr>
          <a:xfrm>
            <a:off x="3934785" y="4220620"/>
            <a:ext cx="1709799" cy="338554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GB" sz="16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Montserrat" panose="00000500000000000000" pitchFamily="2" charset="0"/>
              </a:rPr>
              <a:t>Inconsistency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816E626A-9964-0132-13F8-D2C19E267ADC}"/>
              </a:ext>
            </a:extLst>
          </p:cNvPr>
          <p:cNvSpPr txBox="1"/>
          <p:nvPr/>
        </p:nvSpPr>
        <p:spPr>
          <a:xfrm>
            <a:off x="6610501" y="4574923"/>
            <a:ext cx="2225108" cy="1446550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GB" sz="1100" dirty="0">
                <a:latin typeface="Montserrat" panose="00000500000000000000" pitchFamily="2" charset="0"/>
              </a:rPr>
              <a:t>Data misalignment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GB" sz="1100" dirty="0">
                <a:latin typeface="Montserrat" panose="00000500000000000000" pitchFamily="2" charset="0"/>
              </a:rPr>
              <a:t>Shifted columns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GB" sz="1100" dirty="0">
                <a:latin typeface="Montserrat" panose="00000500000000000000" pitchFamily="2" charset="0"/>
              </a:rPr>
              <a:t>Value errors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GB" sz="1100" dirty="0">
                <a:latin typeface="Montserrat" panose="00000500000000000000" pitchFamily="2" charset="0"/>
              </a:rPr>
              <a:t>Overflow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GB" sz="1100" dirty="0">
                <a:latin typeface="Montserrat" panose="00000500000000000000" pitchFamily="2" charset="0"/>
              </a:rPr>
              <a:t>Corrupt data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GB" sz="1100" dirty="0">
                <a:latin typeface="Montserrat" panose="00000500000000000000" pitchFamily="2" charset="0"/>
              </a:rPr>
              <a:t>Encoding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GB" sz="1100" dirty="0">
                <a:latin typeface="Montserrat" panose="00000500000000000000" pitchFamily="2" charset="0"/>
              </a:rPr>
              <a:t>Unknown values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endParaRPr lang="en-GB" sz="1100" dirty="0">
              <a:latin typeface="Montserrat" panose="00000500000000000000" pitchFamily="2" charset="0"/>
            </a:endParaRP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E5B9EBD9-7D8F-553C-1419-8D0C0C8E3F6E}"/>
              </a:ext>
            </a:extLst>
          </p:cNvPr>
          <p:cNvSpPr txBox="1"/>
          <p:nvPr/>
        </p:nvSpPr>
        <p:spPr>
          <a:xfrm>
            <a:off x="9286569" y="4224090"/>
            <a:ext cx="1797812" cy="338554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GB" sz="16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Montserrat" panose="00000500000000000000" pitchFamily="2" charset="0"/>
              </a:rPr>
              <a:t>Outliers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12ABF3B6-D2B7-7474-E217-CC0D4B88B6AB}"/>
              </a:ext>
            </a:extLst>
          </p:cNvPr>
          <p:cNvSpPr txBox="1"/>
          <p:nvPr/>
        </p:nvSpPr>
        <p:spPr>
          <a:xfrm>
            <a:off x="9260432" y="4559174"/>
            <a:ext cx="2225108" cy="1785104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GB" sz="1100" dirty="0">
                <a:latin typeface="Montserrat" panose="00000500000000000000" pitchFamily="2" charset="0"/>
              </a:rPr>
              <a:t>Mathematical outliers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GB" sz="1100" dirty="0">
                <a:latin typeface="Montserrat" panose="00000500000000000000" pitchFamily="2" charset="0"/>
              </a:rPr>
              <a:t>Extreme values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GB" sz="1100" dirty="0">
                <a:latin typeface="Montserrat" panose="00000500000000000000" pitchFamily="2" charset="0"/>
              </a:rPr>
              <a:t>Calculation errors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GB" sz="1100" dirty="0">
                <a:latin typeface="Montserrat" panose="00000500000000000000" pitchFamily="2" charset="0"/>
              </a:rPr>
              <a:t>Out of range data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GB" sz="1100" dirty="0">
                <a:latin typeface="Montserrat" panose="00000500000000000000" pitchFamily="2" charset="0"/>
              </a:rPr>
              <a:t>Date in the future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GB" sz="1100" dirty="0">
                <a:latin typeface="Montserrat" panose="00000500000000000000" pitchFamily="2" charset="0"/>
              </a:rPr>
              <a:t>Negative price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GB" sz="1100" dirty="0">
                <a:latin typeface="Montserrat" panose="00000500000000000000" pitchFamily="2" charset="0"/>
              </a:rPr>
              <a:t>Typos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GB" sz="1100" dirty="0">
                <a:latin typeface="Montserrat" panose="00000500000000000000" pitchFamily="2" charset="0"/>
              </a:rPr>
              <a:t>Spelling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GB" sz="1100" dirty="0">
                <a:latin typeface="Montserrat" panose="00000500000000000000" pitchFamily="2" charset="0"/>
              </a:rPr>
              <a:t>Trailing/leading numbers</a:t>
            </a:r>
          </a:p>
        </p:txBody>
      </p:sp>
    </p:spTree>
    <p:extLst>
      <p:ext uri="{BB962C8B-B14F-4D97-AF65-F5344CB8AC3E}">
        <p14:creationId xmlns:p14="http://schemas.microsoft.com/office/powerpoint/2010/main" val="67591615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A543412-1883-0011-7995-D62353EE8BD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Rectangle: Rounded Corners 52">
            <a:extLst>
              <a:ext uri="{FF2B5EF4-FFF2-40B4-BE49-F238E27FC236}">
                <a16:creationId xmlns:a16="http://schemas.microsoft.com/office/drawing/2014/main" id="{894D1CCC-E3CD-90A2-84AB-CE76D00298C2}"/>
              </a:ext>
            </a:extLst>
          </p:cNvPr>
          <p:cNvSpPr/>
          <p:nvPr/>
        </p:nvSpPr>
        <p:spPr>
          <a:xfrm>
            <a:off x="7408980" y="1798144"/>
            <a:ext cx="6117772" cy="4481168"/>
          </a:xfrm>
          <a:prstGeom prst="roundRect">
            <a:avLst>
              <a:gd name="adj" fmla="val 5778"/>
            </a:avLst>
          </a:prstGeom>
          <a:solidFill>
            <a:srgbClr val="FBF8EF"/>
          </a:solidFill>
          <a:ln>
            <a:noFill/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5042512A-A423-CFB8-1AE6-407D7563A195}"/>
              </a:ext>
            </a:extLst>
          </p:cNvPr>
          <p:cNvSpPr/>
          <p:nvPr/>
        </p:nvSpPr>
        <p:spPr>
          <a:xfrm>
            <a:off x="307911" y="1800805"/>
            <a:ext cx="6117772" cy="2118049"/>
          </a:xfrm>
          <a:prstGeom prst="roundRect">
            <a:avLst>
              <a:gd name="adj" fmla="val 11192"/>
            </a:avLst>
          </a:prstGeom>
          <a:solidFill>
            <a:srgbClr val="DC2C3E"/>
          </a:solidFill>
          <a:ln>
            <a:noFill/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3D6DF6A-269A-66EF-A51E-3167B3E991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Montserrat SemiBold" panose="00000700000000000000" pitchFamily="2" charset="0"/>
              </a:rPr>
              <a:t>LOADING INTO SNOWFLAKE</a:t>
            </a:r>
          </a:p>
        </p:txBody>
      </p:sp>
      <p:sp>
        <p:nvSpPr>
          <p:cNvPr id="13" name="Contents Heading">
            <a:extLst>
              <a:ext uri="{FF2B5EF4-FFF2-40B4-BE49-F238E27FC236}">
                <a16:creationId xmlns:a16="http://schemas.microsoft.com/office/drawing/2014/main" id="{8576A2EC-B30D-B1A3-E375-9014B596E78B}"/>
              </a:ext>
            </a:extLst>
          </p:cNvPr>
          <p:cNvSpPr txBox="1"/>
          <p:nvPr/>
        </p:nvSpPr>
        <p:spPr>
          <a:xfrm>
            <a:off x="679579" y="2016907"/>
            <a:ext cx="2408854" cy="461665"/>
          </a:xfrm>
          <a:prstGeom prst="rect">
            <a:avLst/>
          </a:prstGeom>
          <a:noFill/>
        </p:spPr>
        <p:txBody>
          <a:bodyPr wrap="square" rtlCol="0" anchor="ctr">
            <a:noAutofit/>
          </a:bodyPr>
          <a:lstStyle/>
          <a:p>
            <a:r>
              <a:rPr lang="en-GB" sz="2400" dirty="0">
                <a:solidFill>
                  <a:schemeClr val="bg1"/>
                </a:solidFill>
                <a:latin typeface="Montserrat" panose="00000500000000000000" pitchFamily="2" charset="0"/>
              </a:rPr>
              <a:t>User Interface</a:t>
            </a:r>
          </a:p>
        </p:txBody>
      </p:sp>
      <p:sp>
        <p:nvSpPr>
          <p:cNvPr id="14" name="Heading Bar">
            <a:extLst>
              <a:ext uri="{FF2B5EF4-FFF2-40B4-BE49-F238E27FC236}">
                <a16:creationId xmlns:a16="http://schemas.microsoft.com/office/drawing/2014/main" id="{7137024D-8D93-AB62-1DA6-DA67F4E1B9DC}"/>
              </a:ext>
            </a:extLst>
          </p:cNvPr>
          <p:cNvSpPr/>
          <p:nvPr/>
        </p:nvSpPr>
        <p:spPr>
          <a:xfrm>
            <a:off x="569459" y="2043214"/>
            <a:ext cx="61913" cy="390387"/>
          </a:xfrm>
          <a:prstGeom prst="rect">
            <a:avLst/>
          </a:prstGeom>
          <a:solidFill>
            <a:srgbClr val="FBF8EF"/>
          </a:solidFill>
          <a:ln>
            <a:noFill/>
          </a:ln>
        </p:spPr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17" name="Contents Detail">
            <a:extLst>
              <a:ext uri="{FF2B5EF4-FFF2-40B4-BE49-F238E27FC236}">
                <a16:creationId xmlns:a16="http://schemas.microsoft.com/office/drawing/2014/main" id="{702FCC11-66B9-3092-49E9-A9F9CA161CCC}"/>
              </a:ext>
            </a:extLst>
          </p:cNvPr>
          <p:cNvSpPr txBox="1"/>
          <p:nvPr/>
        </p:nvSpPr>
        <p:spPr>
          <a:xfrm>
            <a:off x="679578" y="2460009"/>
            <a:ext cx="5040087" cy="473632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en-GB" sz="1300" dirty="0">
                <a:solidFill>
                  <a:schemeClr val="bg1"/>
                </a:solidFill>
                <a:latin typeface="Montserrat" panose="00000500000000000000" pitchFamily="2" charset="0"/>
              </a:rPr>
              <a:t>Using the ‘Load Data into Table’ GUI to </a:t>
            </a:r>
            <a:r>
              <a:rPr lang="en-GB" sz="1300" b="1" dirty="0">
                <a:solidFill>
                  <a:schemeClr val="bg1"/>
                </a:solidFill>
                <a:latin typeface="Montserrat" panose="00000500000000000000" pitchFamily="2" charset="0"/>
              </a:rPr>
              <a:t>drag and drop </a:t>
            </a:r>
            <a:r>
              <a:rPr lang="en-GB" sz="1300" dirty="0">
                <a:solidFill>
                  <a:schemeClr val="bg1"/>
                </a:solidFill>
                <a:latin typeface="Montserrat" panose="00000500000000000000" pitchFamily="2" charset="0"/>
              </a:rPr>
              <a:t>datasets into the database to generate tables.</a:t>
            </a:r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D566F03D-2CEF-BEF3-4F40-CEE06EA8A69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5561" y="2956676"/>
            <a:ext cx="404326" cy="404326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20" name="Contents Detail">
            <a:extLst>
              <a:ext uri="{FF2B5EF4-FFF2-40B4-BE49-F238E27FC236}">
                <a16:creationId xmlns:a16="http://schemas.microsoft.com/office/drawing/2014/main" id="{ABBFE642-30BF-776A-7BC6-7CF3E298B3B9}"/>
              </a:ext>
            </a:extLst>
          </p:cNvPr>
          <p:cNvSpPr txBox="1"/>
          <p:nvPr/>
        </p:nvSpPr>
        <p:spPr>
          <a:xfrm>
            <a:off x="1111894" y="3044282"/>
            <a:ext cx="5040087" cy="261636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en-GB" sz="1300" dirty="0">
                <a:solidFill>
                  <a:schemeClr val="bg1"/>
                </a:solidFill>
                <a:latin typeface="Montserrat" panose="00000500000000000000" pitchFamily="2" charset="0"/>
              </a:rPr>
              <a:t>Quick &amp; easy to use, zero coding. </a:t>
            </a:r>
          </a:p>
        </p:txBody>
      </p:sp>
      <p:pic>
        <p:nvPicPr>
          <p:cNvPr id="22" name="Picture 21">
            <a:extLst>
              <a:ext uri="{FF2B5EF4-FFF2-40B4-BE49-F238E27FC236}">
                <a16:creationId xmlns:a16="http://schemas.microsoft.com/office/drawing/2014/main" id="{D6E22946-CD91-729D-66F8-E5D64126F1D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5561" y="3358366"/>
            <a:ext cx="404326" cy="404326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23" name="Contents Detail">
            <a:extLst>
              <a:ext uri="{FF2B5EF4-FFF2-40B4-BE49-F238E27FC236}">
                <a16:creationId xmlns:a16="http://schemas.microsoft.com/office/drawing/2014/main" id="{0A27A4D8-DD7D-6594-B079-0603A4CBF213}"/>
              </a:ext>
            </a:extLst>
          </p:cNvPr>
          <p:cNvSpPr txBox="1"/>
          <p:nvPr/>
        </p:nvSpPr>
        <p:spPr>
          <a:xfrm>
            <a:off x="1111894" y="3377028"/>
            <a:ext cx="5040087" cy="261636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en-GB" sz="1300" dirty="0">
                <a:solidFill>
                  <a:schemeClr val="bg1"/>
                </a:solidFill>
                <a:latin typeface="Montserrat" panose="00000500000000000000" pitchFamily="2" charset="0"/>
              </a:rPr>
              <a:t>Lack of control over schema and tables, no audit trail.</a:t>
            </a:r>
          </a:p>
        </p:txBody>
      </p:sp>
      <p:sp>
        <p:nvSpPr>
          <p:cNvPr id="24" name="Oval 23">
            <a:extLst>
              <a:ext uri="{FF2B5EF4-FFF2-40B4-BE49-F238E27FC236}">
                <a16:creationId xmlns:a16="http://schemas.microsoft.com/office/drawing/2014/main" id="{C2F7E718-8868-6763-DA61-5523619B67D1}"/>
              </a:ext>
            </a:extLst>
          </p:cNvPr>
          <p:cNvSpPr/>
          <p:nvPr/>
        </p:nvSpPr>
        <p:spPr>
          <a:xfrm>
            <a:off x="5885684" y="2319829"/>
            <a:ext cx="1080000" cy="1080000"/>
          </a:xfrm>
          <a:prstGeom prst="ellipse">
            <a:avLst/>
          </a:prstGeom>
          <a:solidFill>
            <a:srgbClr val="DC2C3E"/>
          </a:solidFill>
          <a:ln w="7620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25" name="Oval 24">
            <a:extLst>
              <a:ext uri="{FF2B5EF4-FFF2-40B4-BE49-F238E27FC236}">
                <a16:creationId xmlns:a16="http://schemas.microsoft.com/office/drawing/2014/main" id="{FD8CFB81-6FED-80F3-0100-05B7AE1DE280}"/>
              </a:ext>
            </a:extLst>
          </p:cNvPr>
          <p:cNvSpPr/>
          <p:nvPr/>
        </p:nvSpPr>
        <p:spPr>
          <a:xfrm>
            <a:off x="6029778" y="2461170"/>
            <a:ext cx="792000" cy="792000"/>
          </a:xfrm>
          <a:prstGeom prst="ellipse">
            <a:avLst/>
          </a:prstGeom>
          <a:solidFill>
            <a:schemeClr val="bg1"/>
          </a:solidFill>
          <a:ln w="38100"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pic>
        <p:nvPicPr>
          <p:cNvPr id="27" name="Picture 26">
            <a:extLst>
              <a:ext uri="{FF2B5EF4-FFF2-40B4-BE49-F238E27FC236}">
                <a16:creationId xmlns:a16="http://schemas.microsoft.com/office/drawing/2014/main" id="{FF09AAC0-C671-25F3-126C-E5AA54B8913C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14751" y="2446237"/>
            <a:ext cx="821865" cy="821865"/>
          </a:xfrm>
          <a:prstGeom prst="rect">
            <a:avLst/>
          </a:prstGeom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</p:pic>
      <p:sp>
        <p:nvSpPr>
          <p:cNvPr id="28" name="Rectangle: Rounded Corners 27">
            <a:extLst>
              <a:ext uri="{FF2B5EF4-FFF2-40B4-BE49-F238E27FC236}">
                <a16:creationId xmlns:a16="http://schemas.microsoft.com/office/drawing/2014/main" id="{526A3CE0-ED49-2FB3-F793-0CD889574F6A}"/>
              </a:ext>
            </a:extLst>
          </p:cNvPr>
          <p:cNvSpPr/>
          <p:nvPr/>
        </p:nvSpPr>
        <p:spPr>
          <a:xfrm>
            <a:off x="307911" y="4161263"/>
            <a:ext cx="6117772" cy="2118049"/>
          </a:xfrm>
          <a:prstGeom prst="roundRect">
            <a:avLst>
              <a:gd name="adj" fmla="val 11192"/>
            </a:avLst>
          </a:prstGeom>
          <a:solidFill>
            <a:srgbClr val="DC2C3E"/>
          </a:solidFill>
          <a:ln>
            <a:noFill/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9" name="Contents Heading">
            <a:extLst>
              <a:ext uri="{FF2B5EF4-FFF2-40B4-BE49-F238E27FC236}">
                <a16:creationId xmlns:a16="http://schemas.microsoft.com/office/drawing/2014/main" id="{C4FBE65A-3C6D-29DF-D1A8-25A7B3319A68}"/>
              </a:ext>
            </a:extLst>
          </p:cNvPr>
          <p:cNvSpPr txBox="1"/>
          <p:nvPr/>
        </p:nvSpPr>
        <p:spPr>
          <a:xfrm>
            <a:off x="679579" y="4377365"/>
            <a:ext cx="3864430" cy="461665"/>
          </a:xfrm>
          <a:prstGeom prst="rect">
            <a:avLst/>
          </a:prstGeom>
          <a:noFill/>
        </p:spPr>
        <p:txBody>
          <a:bodyPr wrap="square" rtlCol="0" anchor="ctr">
            <a:noAutofit/>
          </a:bodyPr>
          <a:lstStyle/>
          <a:p>
            <a:r>
              <a:rPr lang="en-GB" sz="2400" dirty="0">
                <a:solidFill>
                  <a:schemeClr val="bg1"/>
                </a:solidFill>
                <a:latin typeface="Montserrat" panose="00000500000000000000" pitchFamily="2" charset="0"/>
              </a:rPr>
              <a:t>Programmatically</a:t>
            </a:r>
          </a:p>
        </p:txBody>
      </p:sp>
      <p:sp>
        <p:nvSpPr>
          <p:cNvPr id="30" name="Heading Bar">
            <a:extLst>
              <a:ext uri="{FF2B5EF4-FFF2-40B4-BE49-F238E27FC236}">
                <a16:creationId xmlns:a16="http://schemas.microsoft.com/office/drawing/2014/main" id="{E69F44A9-7850-01ED-79E7-312D3D26597B}"/>
              </a:ext>
            </a:extLst>
          </p:cNvPr>
          <p:cNvSpPr/>
          <p:nvPr/>
        </p:nvSpPr>
        <p:spPr>
          <a:xfrm>
            <a:off x="569459" y="4403672"/>
            <a:ext cx="61913" cy="390387"/>
          </a:xfrm>
          <a:prstGeom prst="rect">
            <a:avLst/>
          </a:prstGeom>
          <a:solidFill>
            <a:srgbClr val="FBF8EF"/>
          </a:solidFill>
          <a:ln>
            <a:noFill/>
          </a:ln>
        </p:spPr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31" name="Contents Detail">
            <a:extLst>
              <a:ext uri="{FF2B5EF4-FFF2-40B4-BE49-F238E27FC236}">
                <a16:creationId xmlns:a16="http://schemas.microsoft.com/office/drawing/2014/main" id="{DF056D41-A25C-9E20-2C1A-A166BDB931CB}"/>
              </a:ext>
            </a:extLst>
          </p:cNvPr>
          <p:cNvSpPr txBox="1"/>
          <p:nvPr/>
        </p:nvSpPr>
        <p:spPr>
          <a:xfrm>
            <a:off x="679578" y="4820467"/>
            <a:ext cx="5040087" cy="473632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en-GB" sz="1300" b="1" dirty="0">
                <a:solidFill>
                  <a:schemeClr val="bg1"/>
                </a:solidFill>
                <a:latin typeface="Montserrat" panose="00000500000000000000" pitchFamily="2" charset="0"/>
              </a:rPr>
              <a:t>Hard coding </a:t>
            </a:r>
            <a:r>
              <a:rPr lang="en-GB" sz="1300" dirty="0">
                <a:solidFill>
                  <a:schemeClr val="bg1"/>
                </a:solidFill>
                <a:latin typeface="Montserrat" panose="00000500000000000000" pitchFamily="2" charset="0"/>
              </a:rPr>
              <a:t>to define and build tables and schemas before importing data into the database.</a:t>
            </a:r>
          </a:p>
        </p:txBody>
      </p:sp>
      <p:pic>
        <p:nvPicPr>
          <p:cNvPr id="32" name="Picture 31">
            <a:extLst>
              <a:ext uri="{FF2B5EF4-FFF2-40B4-BE49-F238E27FC236}">
                <a16:creationId xmlns:a16="http://schemas.microsoft.com/office/drawing/2014/main" id="{373ADF7E-EE96-9B26-9E50-ADC3298FB5F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5561" y="5317134"/>
            <a:ext cx="404326" cy="404326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33" name="Contents Detail">
            <a:extLst>
              <a:ext uri="{FF2B5EF4-FFF2-40B4-BE49-F238E27FC236}">
                <a16:creationId xmlns:a16="http://schemas.microsoft.com/office/drawing/2014/main" id="{5970A43E-DF9A-4174-49FB-69268BD9AA2C}"/>
              </a:ext>
            </a:extLst>
          </p:cNvPr>
          <p:cNvSpPr txBox="1"/>
          <p:nvPr/>
        </p:nvSpPr>
        <p:spPr>
          <a:xfrm>
            <a:off x="1111894" y="5404740"/>
            <a:ext cx="5040087" cy="261636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en-GB" sz="1300" dirty="0">
                <a:solidFill>
                  <a:schemeClr val="bg1"/>
                </a:solidFill>
                <a:latin typeface="Montserrat" panose="00000500000000000000" pitchFamily="2" charset="0"/>
              </a:rPr>
              <a:t>Customisability, audit records, automatable. </a:t>
            </a:r>
          </a:p>
        </p:txBody>
      </p:sp>
      <p:pic>
        <p:nvPicPr>
          <p:cNvPr id="34" name="Picture 33">
            <a:extLst>
              <a:ext uri="{FF2B5EF4-FFF2-40B4-BE49-F238E27FC236}">
                <a16:creationId xmlns:a16="http://schemas.microsoft.com/office/drawing/2014/main" id="{0C1ECD70-5A3A-B875-F500-06A4483BAE2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5561" y="5718824"/>
            <a:ext cx="404326" cy="404326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35" name="Contents Detail">
            <a:extLst>
              <a:ext uri="{FF2B5EF4-FFF2-40B4-BE49-F238E27FC236}">
                <a16:creationId xmlns:a16="http://schemas.microsoft.com/office/drawing/2014/main" id="{FC0C63D0-90D0-8B0A-9F64-A5B574637F28}"/>
              </a:ext>
            </a:extLst>
          </p:cNvPr>
          <p:cNvSpPr txBox="1"/>
          <p:nvPr/>
        </p:nvSpPr>
        <p:spPr>
          <a:xfrm>
            <a:off x="1111894" y="5737486"/>
            <a:ext cx="5040087" cy="261636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en-GB" sz="1300" dirty="0">
                <a:solidFill>
                  <a:schemeClr val="bg1"/>
                </a:solidFill>
                <a:latin typeface="Montserrat" panose="00000500000000000000" pitchFamily="2" charset="0"/>
              </a:rPr>
              <a:t>Time-consuming to code, requires coding knowledge.</a:t>
            </a:r>
          </a:p>
        </p:txBody>
      </p:sp>
      <p:sp>
        <p:nvSpPr>
          <p:cNvPr id="36" name="Oval 35">
            <a:extLst>
              <a:ext uri="{FF2B5EF4-FFF2-40B4-BE49-F238E27FC236}">
                <a16:creationId xmlns:a16="http://schemas.microsoft.com/office/drawing/2014/main" id="{6497354C-5526-184F-A56C-01375CFE2054}"/>
              </a:ext>
            </a:extLst>
          </p:cNvPr>
          <p:cNvSpPr/>
          <p:nvPr/>
        </p:nvSpPr>
        <p:spPr>
          <a:xfrm>
            <a:off x="5885684" y="4680287"/>
            <a:ext cx="1080000" cy="1080000"/>
          </a:xfrm>
          <a:prstGeom prst="ellipse">
            <a:avLst/>
          </a:prstGeom>
          <a:solidFill>
            <a:srgbClr val="DC2C3E"/>
          </a:solidFill>
          <a:ln w="7620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37" name="Oval 36">
            <a:extLst>
              <a:ext uri="{FF2B5EF4-FFF2-40B4-BE49-F238E27FC236}">
                <a16:creationId xmlns:a16="http://schemas.microsoft.com/office/drawing/2014/main" id="{BDF80F06-22C4-66DC-33FA-651D757EC5AE}"/>
              </a:ext>
            </a:extLst>
          </p:cNvPr>
          <p:cNvSpPr/>
          <p:nvPr/>
        </p:nvSpPr>
        <p:spPr>
          <a:xfrm>
            <a:off x="6029778" y="4821628"/>
            <a:ext cx="792000" cy="792000"/>
          </a:xfrm>
          <a:prstGeom prst="ellipse">
            <a:avLst/>
          </a:prstGeom>
          <a:solidFill>
            <a:schemeClr val="bg1"/>
          </a:solidFill>
          <a:ln w="38100"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pic>
        <p:nvPicPr>
          <p:cNvPr id="42" name="Picture 41">
            <a:extLst>
              <a:ext uri="{FF2B5EF4-FFF2-40B4-BE49-F238E27FC236}">
                <a16:creationId xmlns:a16="http://schemas.microsoft.com/office/drawing/2014/main" id="{6DBC795B-47F7-E5C3-6D49-5550C17D8B27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58544" y="4589534"/>
            <a:ext cx="1122859" cy="1122859"/>
          </a:xfrm>
          <a:prstGeom prst="rect">
            <a:avLst/>
          </a:prstGeom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</p:pic>
      <p:sp>
        <p:nvSpPr>
          <p:cNvPr id="43" name="Contents Heading">
            <a:extLst>
              <a:ext uri="{FF2B5EF4-FFF2-40B4-BE49-F238E27FC236}">
                <a16:creationId xmlns:a16="http://schemas.microsoft.com/office/drawing/2014/main" id="{20C9F7E7-B082-07B9-DCCA-7BD68F7527EA}"/>
              </a:ext>
            </a:extLst>
          </p:cNvPr>
          <p:cNvSpPr txBox="1"/>
          <p:nvPr/>
        </p:nvSpPr>
        <p:spPr>
          <a:xfrm>
            <a:off x="7793861" y="2013235"/>
            <a:ext cx="3040394" cy="461665"/>
          </a:xfrm>
          <a:prstGeom prst="rect">
            <a:avLst/>
          </a:prstGeom>
          <a:noFill/>
        </p:spPr>
        <p:txBody>
          <a:bodyPr wrap="square" rtlCol="0" anchor="ctr">
            <a:noAutofit/>
          </a:bodyPr>
          <a:lstStyle/>
          <a:p>
            <a:r>
              <a:rPr lang="en-GB" sz="2400" dirty="0">
                <a:solidFill>
                  <a:srgbClr val="DC2C3E"/>
                </a:solidFill>
                <a:latin typeface="Montserrat" panose="00000500000000000000" pitchFamily="2" charset="0"/>
              </a:rPr>
              <a:t>Chosen Method</a:t>
            </a:r>
          </a:p>
        </p:txBody>
      </p:sp>
      <p:sp>
        <p:nvSpPr>
          <p:cNvPr id="44" name="Heading Bar">
            <a:extLst>
              <a:ext uri="{FF2B5EF4-FFF2-40B4-BE49-F238E27FC236}">
                <a16:creationId xmlns:a16="http://schemas.microsoft.com/office/drawing/2014/main" id="{61F3776F-4C50-460F-6703-F77C5D9A47F7}"/>
              </a:ext>
            </a:extLst>
          </p:cNvPr>
          <p:cNvSpPr/>
          <p:nvPr/>
        </p:nvSpPr>
        <p:spPr>
          <a:xfrm>
            <a:off x="7683741" y="2039542"/>
            <a:ext cx="61913" cy="390387"/>
          </a:xfrm>
          <a:prstGeom prst="rect">
            <a:avLst/>
          </a:prstGeom>
          <a:solidFill>
            <a:srgbClr val="DC2C3E"/>
          </a:solidFill>
          <a:ln>
            <a:noFill/>
          </a:ln>
        </p:spPr>
        <p:txBody>
          <a:bodyPr rtlCol="0" anchor="ctr"/>
          <a:lstStyle/>
          <a:p>
            <a:pPr algn="ctr"/>
            <a:endParaRPr lang="en-GB" dirty="0">
              <a:solidFill>
                <a:srgbClr val="DC2C3E"/>
              </a:solidFill>
            </a:endParaRPr>
          </a:p>
        </p:txBody>
      </p:sp>
      <p:sp>
        <p:nvSpPr>
          <p:cNvPr id="48" name="Checklist">
            <a:extLst>
              <a:ext uri="{FF2B5EF4-FFF2-40B4-BE49-F238E27FC236}">
                <a16:creationId xmlns:a16="http://schemas.microsoft.com/office/drawing/2014/main" id="{3423E8D5-91E4-4874-1FCD-FD22DB926804}"/>
              </a:ext>
            </a:extLst>
          </p:cNvPr>
          <p:cNvSpPr txBox="1"/>
          <p:nvPr/>
        </p:nvSpPr>
        <p:spPr>
          <a:xfrm>
            <a:off x="7834255" y="2499615"/>
            <a:ext cx="3000000" cy="357554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285750" indent="-285750">
              <a:spcAft>
                <a:spcPts val="1000"/>
              </a:spcAft>
              <a:buFont typeface="Wingdings" panose="05000000000000000000" pitchFamily="2" charset="2"/>
              <a:buChar char="ü"/>
            </a:pPr>
            <a:r>
              <a:rPr lang="en-GB" sz="1400" dirty="0">
                <a:solidFill>
                  <a:srgbClr val="1A1A1A"/>
                </a:solidFill>
                <a:latin typeface="Montserrat" panose="00000500000000000000" pitchFamily="2" charset="0"/>
              </a:rPr>
              <a:t>Programmatically</a:t>
            </a:r>
          </a:p>
        </p:txBody>
      </p:sp>
      <p:sp>
        <p:nvSpPr>
          <p:cNvPr id="49" name="Contents Heading">
            <a:extLst>
              <a:ext uri="{FF2B5EF4-FFF2-40B4-BE49-F238E27FC236}">
                <a16:creationId xmlns:a16="http://schemas.microsoft.com/office/drawing/2014/main" id="{7EEA2AEF-A261-9ADD-DEA8-8F3E6F23CD2C}"/>
              </a:ext>
            </a:extLst>
          </p:cNvPr>
          <p:cNvSpPr txBox="1"/>
          <p:nvPr/>
        </p:nvSpPr>
        <p:spPr>
          <a:xfrm>
            <a:off x="7793861" y="3176999"/>
            <a:ext cx="3040394" cy="461665"/>
          </a:xfrm>
          <a:prstGeom prst="rect">
            <a:avLst/>
          </a:prstGeom>
          <a:noFill/>
        </p:spPr>
        <p:txBody>
          <a:bodyPr wrap="square" rtlCol="0" anchor="ctr">
            <a:noAutofit/>
          </a:bodyPr>
          <a:lstStyle/>
          <a:p>
            <a:r>
              <a:rPr lang="en-GB" sz="2400" dirty="0">
                <a:solidFill>
                  <a:srgbClr val="DC2C3E"/>
                </a:solidFill>
                <a:latin typeface="Montserrat" panose="00000500000000000000" pitchFamily="2" charset="0"/>
              </a:rPr>
              <a:t>Why?</a:t>
            </a:r>
          </a:p>
        </p:txBody>
      </p:sp>
      <p:sp>
        <p:nvSpPr>
          <p:cNvPr id="50" name="Heading Bar">
            <a:extLst>
              <a:ext uri="{FF2B5EF4-FFF2-40B4-BE49-F238E27FC236}">
                <a16:creationId xmlns:a16="http://schemas.microsoft.com/office/drawing/2014/main" id="{3BD48F16-1FE5-1682-AE14-639A0D8D8A70}"/>
              </a:ext>
            </a:extLst>
          </p:cNvPr>
          <p:cNvSpPr/>
          <p:nvPr/>
        </p:nvSpPr>
        <p:spPr>
          <a:xfrm>
            <a:off x="7683741" y="3203306"/>
            <a:ext cx="61913" cy="390387"/>
          </a:xfrm>
          <a:prstGeom prst="rect">
            <a:avLst/>
          </a:prstGeom>
          <a:solidFill>
            <a:srgbClr val="DC2C3E"/>
          </a:solidFill>
          <a:ln>
            <a:noFill/>
          </a:ln>
        </p:spPr>
        <p:txBody>
          <a:bodyPr rtlCol="0" anchor="ctr"/>
          <a:lstStyle/>
          <a:p>
            <a:pPr algn="ctr"/>
            <a:endParaRPr lang="en-GB" dirty="0">
              <a:solidFill>
                <a:srgbClr val="DC2C3E"/>
              </a:solidFill>
            </a:endParaRPr>
          </a:p>
        </p:txBody>
      </p:sp>
      <p:sp>
        <p:nvSpPr>
          <p:cNvPr id="51" name="Checklist">
            <a:extLst>
              <a:ext uri="{FF2B5EF4-FFF2-40B4-BE49-F238E27FC236}">
                <a16:creationId xmlns:a16="http://schemas.microsoft.com/office/drawing/2014/main" id="{511B307A-3D24-136A-A492-50B8DEA819AC}"/>
              </a:ext>
            </a:extLst>
          </p:cNvPr>
          <p:cNvSpPr txBox="1"/>
          <p:nvPr/>
        </p:nvSpPr>
        <p:spPr>
          <a:xfrm>
            <a:off x="7834255" y="3663379"/>
            <a:ext cx="3000000" cy="2615933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285750" indent="-285750">
              <a:spcAft>
                <a:spcPts val="500"/>
              </a:spcAft>
              <a:buFont typeface="Arial" panose="020B0604020202020204" pitchFamily="34" charset="0"/>
              <a:buChar char="•"/>
            </a:pPr>
            <a:r>
              <a:rPr lang="en-GB" sz="1400" dirty="0">
                <a:solidFill>
                  <a:srgbClr val="1A1A1A"/>
                </a:solidFill>
                <a:latin typeface="Montserrat" panose="00000500000000000000" pitchFamily="2" charset="0"/>
              </a:rPr>
              <a:t>Data Quality Management</a:t>
            </a:r>
          </a:p>
          <a:p>
            <a:pPr lvl="1">
              <a:spcAft>
                <a:spcPts val="1000"/>
              </a:spcAft>
            </a:pPr>
            <a:r>
              <a:rPr lang="en-GB" sz="1100" dirty="0">
                <a:solidFill>
                  <a:srgbClr val="1A1A1A"/>
                </a:solidFill>
                <a:latin typeface="Montserrat" panose="00000500000000000000" pitchFamily="2" charset="0"/>
              </a:rPr>
              <a:t>Mitigating risk from incorrectly generated tables such as data types.</a:t>
            </a:r>
          </a:p>
          <a:p>
            <a:pPr marL="285750" indent="-285750">
              <a:spcAft>
                <a:spcPts val="500"/>
              </a:spcAft>
              <a:buFont typeface="Arial" panose="020B0604020202020204" pitchFamily="34" charset="0"/>
              <a:buChar char="•"/>
            </a:pPr>
            <a:r>
              <a:rPr lang="en-GB" sz="1400" dirty="0">
                <a:solidFill>
                  <a:srgbClr val="1A1A1A"/>
                </a:solidFill>
                <a:latin typeface="Montserrat" panose="00000500000000000000" pitchFamily="2" charset="0"/>
              </a:rPr>
              <a:t>Robust Workflow</a:t>
            </a:r>
          </a:p>
          <a:p>
            <a:pPr lvl="1">
              <a:spcAft>
                <a:spcPts val="1000"/>
              </a:spcAft>
            </a:pPr>
            <a:r>
              <a:rPr lang="en-GB" sz="1100" dirty="0">
                <a:solidFill>
                  <a:srgbClr val="1A1A1A"/>
                </a:solidFill>
                <a:latin typeface="Montserrat" panose="00000500000000000000" pitchFamily="2" charset="0"/>
              </a:rPr>
              <a:t>Leaves a record of reusable code involved with production.</a:t>
            </a:r>
          </a:p>
          <a:p>
            <a:pPr marL="285750" indent="-285750">
              <a:spcAft>
                <a:spcPts val="500"/>
              </a:spcAft>
              <a:buFont typeface="Arial" panose="020B0604020202020204" pitchFamily="34" charset="0"/>
              <a:buChar char="•"/>
            </a:pPr>
            <a:r>
              <a:rPr lang="en-GB" sz="1400" dirty="0">
                <a:solidFill>
                  <a:srgbClr val="1A1A1A"/>
                </a:solidFill>
                <a:latin typeface="Montserrat" panose="00000500000000000000" pitchFamily="2" charset="0"/>
              </a:rPr>
              <a:t>Self-Development</a:t>
            </a:r>
          </a:p>
          <a:p>
            <a:pPr lvl="1">
              <a:spcAft>
                <a:spcPts val="1000"/>
              </a:spcAft>
            </a:pPr>
            <a:r>
              <a:rPr lang="en-GB" sz="1100" dirty="0">
                <a:solidFill>
                  <a:srgbClr val="1A1A1A"/>
                </a:solidFill>
                <a:latin typeface="Montserrat" panose="00000500000000000000" pitchFamily="2" charset="0"/>
              </a:rPr>
              <a:t>Learning SQL is beneficial for my professional development.</a:t>
            </a:r>
          </a:p>
        </p:txBody>
      </p:sp>
    </p:spTree>
    <p:extLst>
      <p:ext uri="{BB962C8B-B14F-4D97-AF65-F5344CB8AC3E}">
        <p14:creationId xmlns:p14="http://schemas.microsoft.com/office/powerpoint/2010/main" val="357399792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0" name="Rail Connector"/>
          <p:cNvCxnSpPr/>
          <p:nvPr/>
        </p:nvCxnSpPr>
        <p:spPr>
          <a:xfrm>
            <a:off x="790000" y="1960259"/>
            <a:ext cx="0" cy="4100000"/>
          </a:xfrm>
          <a:prstGeom prst="line">
            <a:avLst/>
          </a:prstGeom>
          <a:ln w="28575">
            <a:solidFill>
              <a:srgbClr val="4D6C75"/>
            </a:solidFill>
            <a:prstDash val="sysDot"/>
          </a:ln>
        </p:spPr>
      </p:cxnSp>
      <p:sp>
        <p:nvSpPr>
          <p:cNvPr id="61" name="Circle 1"/>
          <p:cNvSpPr/>
          <p:nvPr/>
        </p:nvSpPr>
        <p:spPr>
          <a:xfrm>
            <a:off x="560000" y="1730259"/>
            <a:ext cx="460000" cy="460000"/>
          </a:xfrm>
          <a:prstGeom prst="ellipse">
            <a:avLst/>
          </a:prstGeom>
          <a:solidFill>
            <a:schemeClr val="bg1"/>
          </a:solidFill>
          <a:ln w="38100">
            <a:solidFill>
              <a:srgbClr val="B3213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rtlCol="0" anchor="ctr"/>
          <a:lstStyle/>
          <a:p>
            <a:pPr algn="ctr"/>
            <a:r>
              <a:rPr lang="en-GB" sz="1400" b="1">
                <a:solidFill>
                  <a:srgbClr val="B32131"/>
                </a:solidFill>
                <a:latin typeface="Rubik" panose="02000604000000020004" pitchFamily="2" charset="-79"/>
                <a:cs typeface="Rubik" panose="02000604000000020004" pitchFamily="2" charset="-79"/>
              </a:rPr>
              <a:t>1</a:t>
            </a:r>
          </a:p>
        </p:txBody>
      </p:sp>
      <p:sp>
        <p:nvSpPr>
          <p:cNvPr id="62" name="Label 1"/>
          <p:cNvSpPr txBox="1"/>
          <p:nvPr/>
        </p:nvSpPr>
        <p:spPr>
          <a:xfrm>
            <a:off x="1150000" y="1680259"/>
            <a:ext cx="1550000" cy="560000"/>
          </a:xfrm>
          <a:prstGeom prst="rect">
            <a:avLst/>
          </a:prstGeom>
          <a:noFill/>
        </p:spPr>
        <p:txBody>
          <a:bodyPr wrap="square" rtlCol="0" anchor="ctr">
            <a:noAutofit/>
          </a:bodyPr>
          <a:lstStyle/>
          <a:p>
            <a:r>
              <a:rPr lang="en-GB" sz="1200" b="1" dirty="0">
                <a:solidFill>
                  <a:srgbClr val="1E2A38"/>
                </a:solidFill>
                <a:latin typeface="Montserrat" panose="00000500000000000000" pitchFamily="2" charset="0"/>
              </a:rPr>
              <a:t>Stage</a:t>
            </a:r>
          </a:p>
          <a:p>
            <a:r>
              <a:rPr lang="en-GB" sz="850" dirty="0">
                <a:solidFill>
                  <a:srgbClr val="5A6B73"/>
                </a:solidFill>
                <a:latin typeface="Montserrat" panose="00000500000000000000" pitchFamily="2" charset="0"/>
              </a:rPr>
              <a:t>Holds the raw source files</a:t>
            </a:r>
          </a:p>
        </p:txBody>
      </p:sp>
      <p:sp>
        <p:nvSpPr>
          <p:cNvPr id="63" name="Circle 2"/>
          <p:cNvSpPr/>
          <p:nvPr/>
        </p:nvSpPr>
        <p:spPr>
          <a:xfrm>
            <a:off x="560000" y="2755259"/>
            <a:ext cx="460000" cy="460000"/>
          </a:xfrm>
          <a:prstGeom prst="ellipse">
            <a:avLst/>
          </a:prstGeom>
          <a:solidFill>
            <a:schemeClr val="bg1"/>
          </a:solidFill>
          <a:ln w="38100">
            <a:solidFill>
              <a:srgbClr val="B3213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rtlCol="0" anchor="ctr"/>
          <a:lstStyle/>
          <a:p>
            <a:pPr algn="ctr"/>
            <a:r>
              <a:rPr lang="en-GB" sz="1400" b="1">
                <a:solidFill>
                  <a:srgbClr val="B32131"/>
                </a:solidFill>
                <a:latin typeface="Rubik" panose="02000604000000020004" pitchFamily="2" charset="-79"/>
                <a:cs typeface="Rubik" panose="02000604000000020004" pitchFamily="2" charset="-79"/>
              </a:rPr>
              <a:t>2</a:t>
            </a:r>
          </a:p>
        </p:txBody>
      </p:sp>
      <p:sp>
        <p:nvSpPr>
          <p:cNvPr id="64" name="Label 2"/>
          <p:cNvSpPr txBox="1"/>
          <p:nvPr/>
        </p:nvSpPr>
        <p:spPr>
          <a:xfrm>
            <a:off x="1150000" y="2705259"/>
            <a:ext cx="1550000" cy="560000"/>
          </a:xfrm>
          <a:prstGeom prst="rect">
            <a:avLst/>
          </a:prstGeom>
          <a:noFill/>
        </p:spPr>
        <p:txBody>
          <a:bodyPr wrap="square" rtlCol="0" anchor="ctr">
            <a:noAutofit/>
          </a:bodyPr>
          <a:lstStyle/>
          <a:p>
            <a:r>
              <a:rPr lang="en-GB" sz="1200" b="1" dirty="0">
                <a:solidFill>
                  <a:srgbClr val="1E2A38"/>
                </a:solidFill>
                <a:latin typeface="Montserrat" panose="00000500000000000000" pitchFamily="2" charset="0"/>
              </a:rPr>
              <a:t>File Format</a:t>
            </a:r>
          </a:p>
          <a:p>
            <a:r>
              <a:rPr lang="en-GB" sz="850" dirty="0">
                <a:solidFill>
                  <a:srgbClr val="5A6B73"/>
                </a:solidFill>
                <a:latin typeface="Montserrat" panose="00000500000000000000" pitchFamily="2" charset="0"/>
              </a:rPr>
              <a:t>Defines CSV parsing rules.</a:t>
            </a:r>
          </a:p>
        </p:txBody>
      </p:sp>
      <p:sp>
        <p:nvSpPr>
          <p:cNvPr id="65" name="Circle 3"/>
          <p:cNvSpPr/>
          <p:nvPr/>
        </p:nvSpPr>
        <p:spPr>
          <a:xfrm>
            <a:off x="560000" y="3780259"/>
            <a:ext cx="460000" cy="460000"/>
          </a:xfrm>
          <a:prstGeom prst="ellipse">
            <a:avLst/>
          </a:prstGeom>
          <a:solidFill>
            <a:schemeClr val="bg1"/>
          </a:solidFill>
          <a:ln w="38100">
            <a:solidFill>
              <a:srgbClr val="B3213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rtlCol="0" anchor="ctr"/>
          <a:lstStyle/>
          <a:p>
            <a:pPr algn="ctr"/>
            <a:r>
              <a:rPr lang="en-GB" sz="1400" b="1">
                <a:solidFill>
                  <a:srgbClr val="B32131"/>
                </a:solidFill>
                <a:latin typeface="Rubik" panose="02000604000000020004" pitchFamily="2" charset="-79"/>
                <a:cs typeface="Rubik" panose="02000604000000020004" pitchFamily="2" charset="-79"/>
              </a:rPr>
              <a:t>3</a:t>
            </a:r>
          </a:p>
        </p:txBody>
      </p:sp>
      <p:sp>
        <p:nvSpPr>
          <p:cNvPr id="66" name="Label 3"/>
          <p:cNvSpPr txBox="1"/>
          <p:nvPr/>
        </p:nvSpPr>
        <p:spPr>
          <a:xfrm>
            <a:off x="1150000" y="3730259"/>
            <a:ext cx="1550000" cy="560000"/>
          </a:xfrm>
          <a:prstGeom prst="rect">
            <a:avLst/>
          </a:prstGeom>
          <a:noFill/>
        </p:spPr>
        <p:txBody>
          <a:bodyPr wrap="square" rtlCol="0" anchor="ctr">
            <a:noAutofit/>
          </a:bodyPr>
          <a:lstStyle/>
          <a:p>
            <a:r>
              <a:rPr lang="en-GB" sz="1200" b="1" dirty="0">
                <a:solidFill>
                  <a:srgbClr val="1E2A38"/>
                </a:solidFill>
                <a:latin typeface="Montserrat" panose="00000500000000000000" pitchFamily="2" charset="0"/>
              </a:rPr>
              <a:t>Infer Schema</a:t>
            </a:r>
          </a:p>
          <a:p>
            <a:r>
              <a:rPr lang="en-GB" sz="850" dirty="0">
                <a:solidFill>
                  <a:srgbClr val="5A6B73"/>
                </a:solidFill>
                <a:latin typeface="Montserrat" panose="00000500000000000000" pitchFamily="2" charset="0"/>
              </a:rPr>
              <a:t>Detects columns and types.</a:t>
            </a:r>
          </a:p>
        </p:txBody>
      </p:sp>
      <p:sp>
        <p:nvSpPr>
          <p:cNvPr id="67" name="Circle 4"/>
          <p:cNvSpPr/>
          <p:nvPr/>
        </p:nvSpPr>
        <p:spPr>
          <a:xfrm>
            <a:off x="560000" y="4805259"/>
            <a:ext cx="460000" cy="460000"/>
          </a:xfrm>
          <a:prstGeom prst="ellipse">
            <a:avLst/>
          </a:prstGeom>
          <a:solidFill>
            <a:schemeClr val="bg1"/>
          </a:solidFill>
          <a:ln w="38100">
            <a:solidFill>
              <a:srgbClr val="B3213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rtlCol="0" anchor="ctr"/>
          <a:lstStyle/>
          <a:p>
            <a:pPr algn="ctr"/>
            <a:r>
              <a:rPr lang="en-GB" sz="1400" b="1">
                <a:solidFill>
                  <a:srgbClr val="B32131"/>
                </a:solidFill>
                <a:latin typeface="Rubik" panose="02000604000000020004" pitchFamily="2" charset="-79"/>
                <a:cs typeface="Rubik" panose="02000604000000020004" pitchFamily="2" charset="-79"/>
              </a:rPr>
              <a:t>4</a:t>
            </a:r>
          </a:p>
        </p:txBody>
      </p:sp>
      <p:sp>
        <p:nvSpPr>
          <p:cNvPr id="68" name="Label 4"/>
          <p:cNvSpPr txBox="1"/>
          <p:nvPr/>
        </p:nvSpPr>
        <p:spPr>
          <a:xfrm>
            <a:off x="1150000" y="4755259"/>
            <a:ext cx="1550000" cy="560000"/>
          </a:xfrm>
          <a:prstGeom prst="rect">
            <a:avLst/>
          </a:prstGeom>
          <a:noFill/>
        </p:spPr>
        <p:txBody>
          <a:bodyPr wrap="square" rtlCol="0" anchor="ctr">
            <a:noAutofit/>
          </a:bodyPr>
          <a:lstStyle/>
          <a:p>
            <a:r>
              <a:rPr lang="en-GB" sz="1200" b="1" dirty="0">
                <a:solidFill>
                  <a:srgbClr val="1E2A38"/>
                </a:solidFill>
                <a:latin typeface="Montserrat" panose="00000500000000000000" pitchFamily="2" charset="0"/>
              </a:rPr>
              <a:t>Create Tables</a:t>
            </a:r>
          </a:p>
          <a:p>
            <a:r>
              <a:rPr lang="en-GB" sz="850" dirty="0">
                <a:solidFill>
                  <a:srgbClr val="5A6B73"/>
                </a:solidFill>
                <a:latin typeface="Montserrat" panose="00000500000000000000" pitchFamily="2" charset="0"/>
              </a:rPr>
              <a:t>Builds tables from the inferred schema.</a:t>
            </a:r>
          </a:p>
        </p:txBody>
      </p:sp>
      <p:sp>
        <p:nvSpPr>
          <p:cNvPr id="69" name="Circle 5"/>
          <p:cNvSpPr/>
          <p:nvPr/>
        </p:nvSpPr>
        <p:spPr>
          <a:xfrm>
            <a:off x="560000" y="5830259"/>
            <a:ext cx="460000" cy="460000"/>
          </a:xfrm>
          <a:prstGeom prst="ellipse">
            <a:avLst/>
          </a:prstGeom>
          <a:solidFill>
            <a:schemeClr val="bg1"/>
          </a:solidFill>
          <a:ln w="38100">
            <a:solidFill>
              <a:srgbClr val="B3213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rtlCol="0" anchor="ctr"/>
          <a:lstStyle/>
          <a:p>
            <a:pPr algn="ctr"/>
            <a:r>
              <a:rPr lang="en-GB" sz="1400" b="1">
                <a:solidFill>
                  <a:srgbClr val="B32131"/>
                </a:solidFill>
                <a:latin typeface="Rubik" panose="02000604000000020004" pitchFamily="2" charset="-79"/>
                <a:cs typeface="Rubik" panose="02000604000000020004" pitchFamily="2" charset="-79"/>
              </a:rPr>
              <a:t>5</a:t>
            </a:r>
          </a:p>
        </p:txBody>
      </p:sp>
      <p:sp>
        <p:nvSpPr>
          <p:cNvPr id="70" name="Label 5"/>
          <p:cNvSpPr txBox="1"/>
          <p:nvPr/>
        </p:nvSpPr>
        <p:spPr>
          <a:xfrm>
            <a:off x="1150000" y="5780259"/>
            <a:ext cx="1550000" cy="560000"/>
          </a:xfrm>
          <a:prstGeom prst="rect">
            <a:avLst/>
          </a:prstGeom>
          <a:noFill/>
        </p:spPr>
        <p:txBody>
          <a:bodyPr wrap="square" rtlCol="0" anchor="ctr">
            <a:noAutofit/>
          </a:bodyPr>
          <a:lstStyle/>
          <a:p>
            <a:r>
              <a:rPr lang="en-GB" sz="1200" b="1">
                <a:solidFill>
                  <a:srgbClr val="1E2A38"/>
                </a:solidFill>
                <a:latin typeface="Montserrat" panose="00000500000000000000" pitchFamily="2" charset="0"/>
              </a:rPr>
              <a:t>Populate</a:t>
            </a:r>
          </a:p>
          <a:p>
            <a:r>
              <a:rPr lang="en-GB" sz="850">
                <a:solidFill>
                  <a:srgbClr val="5A6B73"/>
                </a:solidFill>
                <a:latin typeface="Montserrat" panose="00000500000000000000" pitchFamily="2" charset="0"/>
              </a:rPr>
              <a:t>Copies data into the tables</a:t>
            </a:r>
          </a:p>
        </p:txBody>
      </p:sp>
      <p:sp>
        <p:nvSpPr>
          <p:cNvPr id="50" name="Code Card"/>
          <p:cNvSpPr/>
          <p:nvPr/>
        </p:nvSpPr>
        <p:spPr>
          <a:xfrm>
            <a:off x="2800000" y="1560259"/>
            <a:ext cx="9050000" cy="4950000"/>
          </a:xfrm>
          <a:prstGeom prst="roundRect">
            <a:avLst>
              <a:gd name="adj" fmla="val 3500"/>
            </a:avLst>
          </a:prstGeom>
          <a:solidFill>
            <a:schemeClr val="bg1"/>
          </a:solidFill>
          <a:ln w="9525">
            <a:noFill/>
          </a:ln>
          <a:effectLst>
            <a:outerShdw blurRad="80000" dist="30000" dir="5400000" rotWithShape="0">
              <a:srgbClr val="000000">
                <a:alpha val="28000"/>
              </a:srgbClr>
            </a:outerShdw>
          </a:effectLst>
        </p:spPr>
        <p:txBody>
          <a:bodyPr rtlCol="0" anchor="ctr"/>
          <a:lstStyle/>
          <a:p>
            <a:pPr algn="ctr"/>
            <a:endParaRPr lang="en-GB"/>
          </a:p>
        </p:txBody>
      </p:sp>
      <p:cxnSp>
        <p:nvCxnSpPr>
          <p:cNvPr id="51" name="Chrome Divider"/>
          <p:cNvCxnSpPr/>
          <p:nvPr/>
        </p:nvCxnSpPr>
        <p:spPr>
          <a:xfrm>
            <a:off x="2800000" y="1850259"/>
            <a:ext cx="9050000" cy="0"/>
          </a:xfrm>
          <a:prstGeom prst="line">
            <a:avLst/>
          </a:prstGeom>
          <a:ln w="9525">
            <a:solidFill>
              <a:schemeClr val="bg2"/>
            </a:solidFill>
          </a:ln>
        </p:spPr>
      </p:cxnSp>
      <p:sp>
        <p:nvSpPr>
          <p:cNvPr id="52" name="Dot Red"/>
          <p:cNvSpPr/>
          <p:nvPr/>
        </p:nvSpPr>
        <p:spPr>
          <a:xfrm>
            <a:off x="3010000" y="1650259"/>
            <a:ext cx="110000" cy="110000"/>
          </a:xfrm>
          <a:prstGeom prst="ellipse">
            <a:avLst/>
          </a:prstGeom>
          <a:solidFill>
            <a:srgbClr val="FF5F56"/>
          </a:solidFill>
          <a:ln>
            <a:noFill/>
          </a:ln>
        </p:spPr>
        <p:txBody>
          <a:bodyPr rtlCol="0" anchor="ctr"/>
          <a:lstStyle/>
          <a:p>
            <a:endParaRPr lang="en-GB"/>
          </a:p>
        </p:txBody>
      </p:sp>
      <p:sp>
        <p:nvSpPr>
          <p:cNvPr id="53" name="Dot Yellow"/>
          <p:cNvSpPr/>
          <p:nvPr/>
        </p:nvSpPr>
        <p:spPr>
          <a:xfrm>
            <a:off x="3190000" y="1650259"/>
            <a:ext cx="110000" cy="110000"/>
          </a:xfrm>
          <a:prstGeom prst="ellipse">
            <a:avLst/>
          </a:prstGeom>
          <a:solidFill>
            <a:srgbClr val="FFBD2E"/>
          </a:solidFill>
          <a:ln>
            <a:noFill/>
          </a:ln>
        </p:spPr>
        <p:txBody>
          <a:bodyPr rtlCol="0" anchor="ctr"/>
          <a:lstStyle/>
          <a:p>
            <a:endParaRPr lang="en-GB"/>
          </a:p>
        </p:txBody>
      </p:sp>
      <p:sp>
        <p:nvSpPr>
          <p:cNvPr id="54" name="Dot Green"/>
          <p:cNvSpPr/>
          <p:nvPr/>
        </p:nvSpPr>
        <p:spPr>
          <a:xfrm>
            <a:off x="3370000" y="1650259"/>
            <a:ext cx="110000" cy="110000"/>
          </a:xfrm>
          <a:prstGeom prst="ellipse">
            <a:avLst/>
          </a:prstGeom>
          <a:solidFill>
            <a:srgbClr val="27C93F"/>
          </a:solidFill>
          <a:ln>
            <a:noFill/>
          </a:ln>
        </p:spPr>
        <p:txBody>
          <a:bodyPr rtlCol="0" anchor="ctr"/>
          <a:lstStyle/>
          <a:p>
            <a:endParaRPr lang="en-GB"/>
          </a:p>
        </p:txBody>
      </p:sp>
      <p:sp>
        <p:nvSpPr>
          <p:cNvPr id="55" name="Filename"/>
          <p:cNvSpPr txBox="1"/>
          <p:nvPr/>
        </p:nvSpPr>
        <p:spPr>
          <a:xfrm>
            <a:off x="3650000" y="1580259"/>
            <a:ext cx="5000000" cy="260000"/>
          </a:xfrm>
          <a:prstGeom prst="rect">
            <a:avLst/>
          </a:prstGeom>
          <a:noFill/>
        </p:spPr>
        <p:txBody>
          <a:bodyPr wrap="square" rtlCol="0" anchor="ctr">
            <a:noAutofit/>
          </a:bodyPr>
          <a:lstStyle/>
          <a:p>
            <a:r>
              <a:rPr lang="en-GB" sz="900" dirty="0" err="1">
                <a:solidFill>
                  <a:srgbClr val="8B9BB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Sample_code.ipynb</a:t>
            </a:r>
            <a:endParaRPr lang="en-GB" sz="900" dirty="0">
              <a:solidFill>
                <a:srgbClr val="8B9BB0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B21534E9-51AB-71DE-EC1C-4498E57F2292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6526" t="44447"/>
          <a:stretch>
            <a:fillRect/>
          </a:stretch>
        </p:blipFill>
        <p:spPr>
          <a:xfrm>
            <a:off x="3038281" y="2133496"/>
            <a:ext cx="6058896" cy="339703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5B2FC7F1-606C-6F3C-9DEE-B077A11C0DBE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5893" t="22192"/>
          <a:stretch>
            <a:fillRect/>
          </a:stretch>
        </p:blipFill>
        <p:spPr>
          <a:xfrm>
            <a:off x="3038281" y="2474174"/>
            <a:ext cx="6621646" cy="1046745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FABE2133-C260-7812-C0FB-EAB1175A618A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4678" t="20748" r="891" b="490"/>
          <a:stretch>
            <a:fillRect/>
          </a:stretch>
        </p:blipFill>
        <p:spPr>
          <a:xfrm>
            <a:off x="3038281" y="3520919"/>
            <a:ext cx="7899397" cy="1046745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7EFC937A-3B5F-522D-D912-1ECA23AC9F3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038281" y="4738884"/>
            <a:ext cx="6799862" cy="774564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EAEE20AE-5A29-6E3A-B2C4-985AA98230BC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038281" y="5661139"/>
            <a:ext cx="3187945" cy="627805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2EF4A64B-A821-CBCD-C681-089924070775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038281" y="4567664"/>
            <a:ext cx="4435401" cy="171220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5BC54059-09DB-ED8C-1022-FEC3601265E6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038281" y="5513448"/>
            <a:ext cx="3522230" cy="163067"/>
          </a:xfrm>
          <a:prstGeom prst="rect">
            <a:avLst/>
          </a:prstGeom>
        </p:spPr>
      </p:pic>
      <p:sp>
        <p:nvSpPr>
          <p:cNvPr id="13" name="Title 1">
            <a:extLst>
              <a:ext uri="{FF2B5EF4-FFF2-40B4-BE49-F238E27FC236}">
                <a16:creationId xmlns:a16="http://schemas.microsoft.com/office/drawing/2014/main" id="{FE3CCD01-8234-F9E7-4EB7-D646AB1E344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en-GB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Montserrat SemiBold" panose="00000700000000000000" pitchFamily="2" charset="0"/>
              </a:rPr>
              <a:t>LOADING INTO SNOWFLAKE</a:t>
            </a:r>
          </a:p>
        </p:txBody>
      </p:sp>
    </p:spTree>
    <p:extLst>
      <p:ext uri="{BB962C8B-B14F-4D97-AF65-F5344CB8AC3E}">
        <p14:creationId xmlns:p14="http://schemas.microsoft.com/office/powerpoint/2010/main" val="386472526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CAFEB8C-6612-64DE-8970-4F3273E8866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Rectangle: Rounded Corners 44">
            <a:extLst>
              <a:ext uri="{FF2B5EF4-FFF2-40B4-BE49-F238E27FC236}">
                <a16:creationId xmlns:a16="http://schemas.microsoft.com/office/drawing/2014/main" id="{3C1F3865-9787-4505-9B57-074132052CF9}"/>
              </a:ext>
            </a:extLst>
          </p:cNvPr>
          <p:cNvSpPr/>
          <p:nvPr/>
        </p:nvSpPr>
        <p:spPr>
          <a:xfrm>
            <a:off x="5230835" y="1495319"/>
            <a:ext cx="8600842" cy="5661657"/>
          </a:xfrm>
          <a:prstGeom prst="roundRect">
            <a:avLst>
              <a:gd name="adj" fmla="val 2457"/>
            </a:avLst>
          </a:prstGeom>
          <a:solidFill>
            <a:srgbClr val="FBF8E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cxnSp>
        <p:nvCxnSpPr>
          <p:cNvPr id="38" name="Straight Connector 37">
            <a:extLst>
              <a:ext uri="{FF2B5EF4-FFF2-40B4-BE49-F238E27FC236}">
                <a16:creationId xmlns:a16="http://schemas.microsoft.com/office/drawing/2014/main" id="{AE8ADCA2-87B8-D632-8803-A0F9E8315530}"/>
              </a:ext>
            </a:extLst>
          </p:cNvPr>
          <p:cNvCxnSpPr>
            <a:cxnSpLocks/>
          </p:cNvCxnSpPr>
          <p:nvPr/>
        </p:nvCxnSpPr>
        <p:spPr>
          <a:xfrm>
            <a:off x="1724471" y="3016232"/>
            <a:ext cx="345587" cy="0"/>
          </a:xfrm>
          <a:prstGeom prst="line">
            <a:avLst/>
          </a:prstGeom>
          <a:ln w="38100">
            <a:solidFill>
              <a:srgbClr val="4D6C75"/>
            </a:solidFill>
            <a:prstDash val="sysDot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Straight Connector 38">
            <a:extLst>
              <a:ext uri="{FF2B5EF4-FFF2-40B4-BE49-F238E27FC236}">
                <a16:creationId xmlns:a16="http://schemas.microsoft.com/office/drawing/2014/main" id="{AA31DB9B-3C65-46CD-59A5-48752782049D}"/>
              </a:ext>
            </a:extLst>
          </p:cNvPr>
          <p:cNvCxnSpPr>
            <a:cxnSpLocks/>
          </p:cNvCxnSpPr>
          <p:nvPr/>
        </p:nvCxnSpPr>
        <p:spPr>
          <a:xfrm>
            <a:off x="1725722" y="4158739"/>
            <a:ext cx="345587" cy="0"/>
          </a:xfrm>
          <a:prstGeom prst="line">
            <a:avLst/>
          </a:prstGeom>
          <a:ln w="38100">
            <a:solidFill>
              <a:srgbClr val="4D6C75"/>
            </a:solidFill>
            <a:prstDash val="sysDot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Straight Connector 32">
            <a:extLst>
              <a:ext uri="{FF2B5EF4-FFF2-40B4-BE49-F238E27FC236}">
                <a16:creationId xmlns:a16="http://schemas.microsoft.com/office/drawing/2014/main" id="{620E7611-EB71-E727-2D03-37FFEF575125}"/>
              </a:ext>
            </a:extLst>
          </p:cNvPr>
          <p:cNvCxnSpPr>
            <a:cxnSpLocks/>
          </p:cNvCxnSpPr>
          <p:nvPr/>
        </p:nvCxnSpPr>
        <p:spPr>
          <a:xfrm>
            <a:off x="1742790" y="4906699"/>
            <a:ext cx="0" cy="1290901"/>
          </a:xfrm>
          <a:prstGeom prst="line">
            <a:avLst/>
          </a:prstGeom>
          <a:ln w="38100">
            <a:solidFill>
              <a:srgbClr val="4D6C75"/>
            </a:solidFill>
            <a:prstDash val="sysDot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Straight Connector 31">
            <a:extLst>
              <a:ext uri="{FF2B5EF4-FFF2-40B4-BE49-F238E27FC236}">
                <a16:creationId xmlns:a16="http://schemas.microsoft.com/office/drawing/2014/main" id="{6FA72465-4E2A-0FFB-2E51-E149489493F6}"/>
              </a:ext>
            </a:extLst>
          </p:cNvPr>
          <p:cNvCxnSpPr>
            <a:cxnSpLocks/>
          </p:cNvCxnSpPr>
          <p:nvPr/>
        </p:nvCxnSpPr>
        <p:spPr>
          <a:xfrm>
            <a:off x="1745171" y="3757288"/>
            <a:ext cx="0" cy="401532"/>
          </a:xfrm>
          <a:prstGeom prst="line">
            <a:avLst/>
          </a:prstGeom>
          <a:ln w="38100">
            <a:solidFill>
              <a:srgbClr val="4D6C75"/>
            </a:solidFill>
            <a:prstDash val="sysDot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B7A96360-D0D4-28D1-3FD7-59696BA732EB}"/>
              </a:ext>
            </a:extLst>
          </p:cNvPr>
          <p:cNvSpPr/>
          <p:nvPr/>
        </p:nvSpPr>
        <p:spPr>
          <a:xfrm>
            <a:off x="995882" y="1699725"/>
            <a:ext cx="1457606" cy="334316"/>
          </a:xfrm>
          <a:prstGeom prst="roundRect">
            <a:avLst>
              <a:gd name="adj" fmla="val 38331"/>
            </a:avLst>
          </a:prstGeom>
          <a:solidFill>
            <a:schemeClr val="bg1"/>
          </a:solidFill>
          <a:ln w="28575">
            <a:solidFill>
              <a:srgbClr val="FF0000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lang="en-GB" sz="1200" dirty="0">
                <a:solidFill>
                  <a:schemeClr val="tx1"/>
                </a:solidFill>
              </a:rPr>
              <a:t>CARS_DATA</a:t>
            </a:r>
          </a:p>
        </p:txBody>
      </p:sp>
      <p:cxnSp>
        <p:nvCxnSpPr>
          <p:cNvPr id="29" name="Straight Connector 28">
            <a:extLst>
              <a:ext uri="{FF2B5EF4-FFF2-40B4-BE49-F238E27FC236}">
                <a16:creationId xmlns:a16="http://schemas.microsoft.com/office/drawing/2014/main" id="{4B2756AF-62A6-AF92-CDC6-87D57CD5D735}"/>
              </a:ext>
            </a:extLst>
          </p:cNvPr>
          <p:cNvCxnSpPr>
            <a:cxnSpLocks/>
          </p:cNvCxnSpPr>
          <p:nvPr/>
        </p:nvCxnSpPr>
        <p:spPr>
          <a:xfrm>
            <a:off x="1742790" y="2617187"/>
            <a:ext cx="0" cy="401702"/>
          </a:xfrm>
          <a:prstGeom prst="line">
            <a:avLst/>
          </a:prstGeom>
          <a:ln w="38100">
            <a:solidFill>
              <a:srgbClr val="4D6C75"/>
            </a:solidFill>
            <a:prstDash val="sysDot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64BECCF5-B9D6-E6D2-DFF1-4E71949E03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Montserrat SemiBold" panose="00000700000000000000" pitchFamily="2" charset="0"/>
              </a:rPr>
              <a:t>DATABASE STRUCTURE</a:t>
            </a: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36EDC788-2E15-DCE0-F2E4-5BA468C7F1F1}"/>
              </a:ext>
            </a:extLst>
          </p:cNvPr>
          <p:cNvCxnSpPr>
            <a:cxnSpLocks/>
          </p:cNvCxnSpPr>
          <p:nvPr/>
        </p:nvCxnSpPr>
        <p:spPr>
          <a:xfrm>
            <a:off x="1198029" y="2050055"/>
            <a:ext cx="0" cy="3122020"/>
          </a:xfrm>
          <a:prstGeom prst="line">
            <a:avLst/>
          </a:prstGeom>
          <a:ln w="38100">
            <a:solidFill>
              <a:srgbClr val="4D6C75"/>
            </a:solidFill>
            <a:prstDash val="sysDot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7" name="Picture 6">
            <a:extLst>
              <a:ext uri="{FF2B5EF4-FFF2-40B4-BE49-F238E27FC236}">
                <a16:creationId xmlns:a16="http://schemas.microsoft.com/office/drawing/2014/main" id="{245C326A-A19B-3724-4B20-C7381DCBC2D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8971" y="1746877"/>
            <a:ext cx="258117" cy="258117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71ABDD82-88DF-9CF0-4EB1-6F942F0E175F}"/>
              </a:ext>
            </a:extLst>
          </p:cNvPr>
          <p:cNvSpPr/>
          <p:nvPr/>
        </p:nvSpPr>
        <p:spPr>
          <a:xfrm>
            <a:off x="1543616" y="2282871"/>
            <a:ext cx="1272010" cy="334316"/>
          </a:xfrm>
          <a:prstGeom prst="roundRect">
            <a:avLst>
              <a:gd name="adj" fmla="val 32915"/>
            </a:avLst>
          </a:prstGeom>
          <a:solidFill>
            <a:schemeClr val="bg1"/>
          </a:solidFill>
          <a:ln w="28575">
            <a:solidFill>
              <a:srgbClr val="FF0000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lang="en-GB" sz="1200" dirty="0">
                <a:solidFill>
                  <a:schemeClr val="tx1"/>
                </a:solidFill>
              </a:rPr>
              <a:t>MASTER</a:t>
            </a: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E4032754-DC33-9D12-4D35-43973C053BC9}"/>
              </a:ext>
            </a:extLst>
          </p:cNvPr>
          <p:cNvSpPr/>
          <p:nvPr/>
        </p:nvSpPr>
        <p:spPr>
          <a:xfrm>
            <a:off x="2067209" y="2851731"/>
            <a:ext cx="2152364" cy="334316"/>
          </a:xfrm>
          <a:prstGeom prst="roundRect">
            <a:avLst>
              <a:gd name="adj" fmla="val 35623"/>
            </a:avLst>
          </a:prstGeom>
          <a:solidFill>
            <a:schemeClr val="bg1"/>
          </a:solidFill>
          <a:ln w="28575">
            <a:solidFill>
              <a:srgbClr val="FF0000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lang="en-GB" sz="1200" dirty="0">
                <a:solidFill>
                  <a:schemeClr val="tx1"/>
                </a:solidFill>
              </a:rPr>
              <a:t>CLEANED_CARS_DATA</a:t>
            </a:r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76FB5C9F-DFC3-46E7-16DF-1C136C5BB0AD}"/>
              </a:ext>
            </a:extLst>
          </p:cNvPr>
          <p:cNvSpPr/>
          <p:nvPr/>
        </p:nvSpPr>
        <p:spPr>
          <a:xfrm>
            <a:off x="1545997" y="3422972"/>
            <a:ext cx="1161483" cy="334316"/>
          </a:xfrm>
          <a:prstGeom prst="roundRect">
            <a:avLst>
              <a:gd name="adj" fmla="val 32915"/>
            </a:avLst>
          </a:prstGeom>
          <a:solidFill>
            <a:schemeClr val="bg1"/>
          </a:solidFill>
          <a:ln w="28575">
            <a:solidFill>
              <a:srgbClr val="FF0000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lang="en-GB" sz="1200" dirty="0">
                <a:solidFill>
                  <a:schemeClr val="tx1"/>
                </a:solidFill>
              </a:rPr>
              <a:t>PUBLIC</a:t>
            </a:r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0B2B0522-25C5-6B48-E029-F2BEE180D3E0}"/>
              </a:ext>
            </a:extLst>
          </p:cNvPr>
          <p:cNvSpPr/>
          <p:nvPr/>
        </p:nvSpPr>
        <p:spPr>
          <a:xfrm>
            <a:off x="2069590" y="3991832"/>
            <a:ext cx="1161481" cy="334316"/>
          </a:xfrm>
          <a:prstGeom prst="roundRect">
            <a:avLst>
              <a:gd name="adj" fmla="val 32915"/>
            </a:avLst>
          </a:prstGeom>
          <a:solidFill>
            <a:schemeClr val="bg1"/>
          </a:solidFill>
          <a:ln w="28575">
            <a:solidFill>
              <a:srgbClr val="FF0000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lang="en-GB" sz="1200" dirty="0">
                <a:solidFill>
                  <a:schemeClr val="tx1"/>
                </a:solidFill>
              </a:rPr>
              <a:t>STAGE</a:t>
            </a:r>
          </a:p>
        </p:txBody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0EF97AE6-0B8D-9C81-42E1-D9E621F39DBB}"/>
              </a:ext>
            </a:extLst>
          </p:cNvPr>
          <p:cNvSpPr/>
          <p:nvPr/>
        </p:nvSpPr>
        <p:spPr>
          <a:xfrm>
            <a:off x="1543617" y="4567835"/>
            <a:ext cx="1161481" cy="334316"/>
          </a:xfrm>
          <a:prstGeom prst="roundRect">
            <a:avLst>
              <a:gd name="adj" fmla="val 32915"/>
            </a:avLst>
          </a:prstGeom>
          <a:solidFill>
            <a:schemeClr val="bg1"/>
          </a:solidFill>
          <a:ln w="28575">
            <a:solidFill>
              <a:srgbClr val="FF0000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lang="en-GB" sz="1200" dirty="0">
                <a:solidFill>
                  <a:schemeClr val="tx1"/>
                </a:solidFill>
              </a:rPr>
              <a:t>TYPE_A</a:t>
            </a:r>
          </a:p>
        </p:txBody>
      </p: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527C8D85-EBEF-DF20-8156-9452E7DEA47E}"/>
              </a:ext>
            </a:extLst>
          </p:cNvPr>
          <p:cNvSpPr/>
          <p:nvPr/>
        </p:nvSpPr>
        <p:spPr>
          <a:xfrm>
            <a:off x="2067209" y="5136695"/>
            <a:ext cx="1009362" cy="334316"/>
          </a:xfrm>
          <a:prstGeom prst="roundRect">
            <a:avLst>
              <a:gd name="adj" fmla="val 35623"/>
            </a:avLst>
          </a:prstGeom>
          <a:solidFill>
            <a:schemeClr val="bg1"/>
          </a:solidFill>
          <a:ln w="28575">
            <a:solidFill>
              <a:srgbClr val="FF0000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lang="en-GB" sz="1200" dirty="0">
                <a:solidFill>
                  <a:schemeClr val="tx1"/>
                </a:solidFill>
              </a:rPr>
              <a:t>AUDI</a:t>
            </a:r>
          </a:p>
        </p:txBody>
      </p:sp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443A0937-DFD4-288F-6234-09124775A02A}"/>
              </a:ext>
            </a:extLst>
          </p:cNvPr>
          <p:cNvSpPr/>
          <p:nvPr/>
        </p:nvSpPr>
        <p:spPr>
          <a:xfrm>
            <a:off x="2067208" y="5738893"/>
            <a:ext cx="1009361" cy="334316"/>
          </a:xfrm>
          <a:prstGeom prst="roundRect">
            <a:avLst>
              <a:gd name="adj" fmla="val 32915"/>
            </a:avLst>
          </a:prstGeom>
          <a:solidFill>
            <a:schemeClr val="bg1"/>
          </a:solidFill>
          <a:ln w="28575">
            <a:solidFill>
              <a:srgbClr val="FF0000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lang="en-GB" sz="1200" dirty="0">
                <a:solidFill>
                  <a:schemeClr val="tx1"/>
                </a:solidFill>
              </a:rPr>
              <a:t>BMW</a:t>
            </a:r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290D107A-BEBB-01AD-17FA-EF60C00F30C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22785" y="2329177"/>
            <a:ext cx="258117" cy="258117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pic>
        <p:nvPicPr>
          <p:cNvPr id="20" name="Picture 19">
            <a:extLst>
              <a:ext uri="{FF2B5EF4-FFF2-40B4-BE49-F238E27FC236}">
                <a16:creationId xmlns:a16="http://schemas.microsoft.com/office/drawing/2014/main" id="{7B0CA3F1-A603-4529-FBDC-09390EEDEF1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25166" y="3463773"/>
            <a:ext cx="258117" cy="258117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pic>
        <p:nvPicPr>
          <p:cNvPr id="21" name="Picture 20">
            <a:extLst>
              <a:ext uri="{FF2B5EF4-FFF2-40B4-BE49-F238E27FC236}">
                <a16:creationId xmlns:a16="http://schemas.microsoft.com/office/drawing/2014/main" id="{F1DC3F90-A4D1-68BD-40DA-518E381BCE3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22785" y="4605934"/>
            <a:ext cx="258117" cy="258117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pic>
        <p:nvPicPr>
          <p:cNvPr id="25" name="Picture 24">
            <a:extLst>
              <a:ext uri="{FF2B5EF4-FFF2-40B4-BE49-F238E27FC236}">
                <a16:creationId xmlns:a16="http://schemas.microsoft.com/office/drawing/2014/main" id="{513BD428-4AD4-366C-3273-D927783BDC3A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49880" y="2808032"/>
            <a:ext cx="421714" cy="421714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pic>
        <p:nvPicPr>
          <p:cNvPr id="26" name="Picture 25">
            <a:extLst>
              <a:ext uri="{FF2B5EF4-FFF2-40B4-BE49-F238E27FC236}">
                <a16:creationId xmlns:a16="http://schemas.microsoft.com/office/drawing/2014/main" id="{AD40528B-9751-992F-289A-BDD1CE309C68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52261" y="3957186"/>
            <a:ext cx="421714" cy="421714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id="{F7CF113A-1C98-3040-741F-0C7349B9B398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49880" y="5102049"/>
            <a:ext cx="421714" cy="421714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pic>
        <p:nvPicPr>
          <p:cNvPr id="28" name="Picture 27">
            <a:extLst>
              <a:ext uri="{FF2B5EF4-FFF2-40B4-BE49-F238E27FC236}">
                <a16:creationId xmlns:a16="http://schemas.microsoft.com/office/drawing/2014/main" id="{C2081E41-32F5-DDF2-5438-5470BF2469EC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49880" y="5704247"/>
            <a:ext cx="421714" cy="421714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cxnSp>
        <p:nvCxnSpPr>
          <p:cNvPr id="35" name="Straight Connector 34">
            <a:extLst>
              <a:ext uri="{FF2B5EF4-FFF2-40B4-BE49-F238E27FC236}">
                <a16:creationId xmlns:a16="http://schemas.microsoft.com/office/drawing/2014/main" id="{E38FA870-645E-E342-0238-F86B67CDE3D3}"/>
              </a:ext>
            </a:extLst>
          </p:cNvPr>
          <p:cNvCxnSpPr>
            <a:cxnSpLocks/>
          </p:cNvCxnSpPr>
          <p:nvPr/>
        </p:nvCxnSpPr>
        <p:spPr>
          <a:xfrm>
            <a:off x="1178980" y="2450029"/>
            <a:ext cx="345587" cy="0"/>
          </a:xfrm>
          <a:prstGeom prst="line">
            <a:avLst/>
          </a:prstGeom>
          <a:ln w="38100">
            <a:solidFill>
              <a:srgbClr val="4D6C75"/>
            </a:solidFill>
            <a:prstDash val="sysDot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Straight Connector 39">
            <a:extLst>
              <a:ext uri="{FF2B5EF4-FFF2-40B4-BE49-F238E27FC236}">
                <a16:creationId xmlns:a16="http://schemas.microsoft.com/office/drawing/2014/main" id="{38D2D41B-563B-7B9A-7D76-ECC12F82FC8C}"/>
              </a:ext>
            </a:extLst>
          </p:cNvPr>
          <p:cNvCxnSpPr>
            <a:cxnSpLocks/>
          </p:cNvCxnSpPr>
          <p:nvPr/>
        </p:nvCxnSpPr>
        <p:spPr>
          <a:xfrm>
            <a:off x="1723742" y="5308881"/>
            <a:ext cx="324887" cy="0"/>
          </a:xfrm>
          <a:prstGeom prst="line">
            <a:avLst/>
          </a:prstGeom>
          <a:ln w="38100">
            <a:solidFill>
              <a:srgbClr val="4D6C75"/>
            </a:solidFill>
            <a:prstDash val="sysDot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Straight Connector 41">
            <a:extLst>
              <a:ext uri="{FF2B5EF4-FFF2-40B4-BE49-F238E27FC236}">
                <a16:creationId xmlns:a16="http://schemas.microsoft.com/office/drawing/2014/main" id="{68ED7621-78F8-C56B-9044-B5A1D417B3B3}"/>
              </a:ext>
            </a:extLst>
          </p:cNvPr>
          <p:cNvCxnSpPr>
            <a:cxnSpLocks/>
          </p:cNvCxnSpPr>
          <p:nvPr/>
        </p:nvCxnSpPr>
        <p:spPr>
          <a:xfrm>
            <a:off x="1721769" y="5917485"/>
            <a:ext cx="332552" cy="0"/>
          </a:xfrm>
          <a:prstGeom prst="line">
            <a:avLst/>
          </a:prstGeom>
          <a:ln w="38100">
            <a:solidFill>
              <a:srgbClr val="4D6C75"/>
            </a:solidFill>
            <a:prstDash val="sysDot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" name="Straight Connector 46">
            <a:extLst>
              <a:ext uri="{FF2B5EF4-FFF2-40B4-BE49-F238E27FC236}">
                <a16:creationId xmlns:a16="http://schemas.microsoft.com/office/drawing/2014/main" id="{187A13A7-0738-01DA-5F93-665419852210}"/>
              </a:ext>
            </a:extLst>
          </p:cNvPr>
          <p:cNvCxnSpPr>
            <a:cxnSpLocks/>
          </p:cNvCxnSpPr>
          <p:nvPr/>
        </p:nvCxnSpPr>
        <p:spPr>
          <a:xfrm>
            <a:off x="1178981" y="4735590"/>
            <a:ext cx="345587" cy="0"/>
          </a:xfrm>
          <a:prstGeom prst="line">
            <a:avLst/>
          </a:prstGeom>
          <a:ln w="38100">
            <a:solidFill>
              <a:srgbClr val="4D6C75"/>
            </a:solidFill>
            <a:prstDash val="sysDot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" name="Straight Connector 48">
            <a:extLst>
              <a:ext uri="{FF2B5EF4-FFF2-40B4-BE49-F238E27FC236}">
                <a16:creationId xmlns:a16="http://schemas.microsoft.com/office/drawing/2014/main" id="{7FCB0778-DE68-4402-684B-413327388E54}"/>
              </a:ext>
            </a:extLst>
          </p:cNvPr>
          <p:cNvCxnSpPr>
            <a:cxnSpLocks/>
          </p:cNvCxnSpPr>
          <p:nvPr/>
        </p:nvCxnSpPr>
        <p:spPr>
          <a:xfrm>
            <a:off x="1178981" y="3592589"/>
            <a:ext cx="345587" cy="0"/>
          </a:xfrm>
          <a:prstGeom prst="line">
            <a:avLst/>
          </a:prstGeom>
          <a:ln w="38100">
            <a:solidFill>
              <a:srgbClr val="4D6C75"/>
            </a:solidFill>
            <a:prstDash val="sysDot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4" name="Rectangle: Rounded Corners 43">
            <a:extLst>
              <a:ext uri="{FF2B5EF4-FFF2-40B4-BE49-F238E27FC236}">
                <a16:creationId xmlns:a16="http://schemas.microsoft.com/office/drawing/2014/main" id="{90A582CC-086F-797E-B0AC-E4E26CE60ACD}"/>
              </a:ext>
            </a:extLst>
          </p:cNvPr>
          <p:cNvSpPr/>
          <p:nvPr/>
        </p:nvSpPr>
        <p:spPr>
          <a:xfrm>
            <a:off x="4961095" y="1715683"/>
            <a:ext cx="546074" cy="563007"/>
          </a:xfrm>
          <a:prstGeom prst="roundRect">
            <a:avLst>
              <a:gd name="adj" fmla="val 11192"/>
            </a:avLst>
          </a:prstGeom>
          <a:solidFill>
            <a:schemeClr val="bg1"/>
          </a:solidFill>
          <a:ln w="38100">
            <a:solidFill>
              <a:srgbClr val="DC2C3E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pic>
        <p:nvPicPr>
          <p:cNvPr id="43" name="Picture 42">
            <a:extLst>
              <a:ext uri="{FF2B5EF4-FFF2-40B4-BE49-F238E27FC236}">
                <a16:creationId xmlns:a16="http://schemas.microsoft.com/office/drawing/2014/main" id="{9CF6DC51-9238-2F6A-32E8-AEEA74DF58D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56732" y="1830891"/>
            <a:ext cx="348206" cy="348206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48" name="Contents Heading">
            <a:extLst>
              <a:ext uri="{FF2B5EF4-FFF2-40B4-BE49-F238E27FC236}">
                <a16:creationId xmlns:a16="http://schemas.microsoft.com/office/drawing/2014/main" id="{2ACD7F35-6FFC-D218-F58A-B805E75A5382}"/>
              </a:ext>
            </a:extLst>
          </p:cNvPr>
          <p:cNvSpPr txBox="1"/>
          <p:nvPr/>
        </p:nvSpPr>
        <p:spPr>
          <a:xfrm>
            <a:off x="5836322" y="1774161"/>
            <a:ext cx="3040394" cy="461665"/>
          </a:xfrm>
          <a:prstGeom prst="rect">
            <a:avLst/>
          </a:prstGeom>
          <a:noFill/>
        </p:spPr>
        <p:txBody>
          <a:bodyPr wrap="square" rtlCol="0" anchor="ctr">
            <a:noAutofit/>
          </a:bodyPr>
          <a:lstStyle/>
          <a:p>
            <a:r>
              <a:rPr lang="en-GB" sz="2400" dirty="0">
                <a:solidFill>
                  <a:srgbClr val="DC2C3E"/>
                </a:solidFill>
                <a:latin typeface="Montserrat" panose="00000500000000000000" pitchFamily="2" charset="0"/>
              </a:rPr>
              <a:t>Databases</a:t>
            </a:r>
          </a:p>
        </p:txBody>
      </p:sp>
      <p:sp>
        <p:nvSpPr>
          <p:cNvPr id="50" name="Heading Bar">
            <a:extLst>
              <a:ext uri="{FF2B5EF4-FFF2-40B4-BE49-F238E27FC236}">
                <a16:creationId xmlns:a16="http://schemas.microsoft.com/office/drawing/2014/main" id="{77529776-515B-8A0A-935E-D54A25FE52C9}"/>
              </a:ext>
            </a:extLst>
          </p:cNvPr>
          <p:cNvSpPr/>
          <p:nvPr/>
        </p:nvSpPr>
        <p:spPr>
          <a:xfrm>
            <a:off x="5726202" y="1800468"/>
            <a:ext cx="61913" cy="390387"/>
          </a:xfrm>
          <a:prstGeom prst="rect">
            <a:avLst/>
          </a:prstGeom>
          <a:solidFill>
            <a:srgbClr val="DC2C3E"/>
          </a:solidFill>
          <a:ln>
            <a:noFill/>
          </a:ln>
        </p:spPr>
        <p:txBody>
          <a:bodyPr rtlCol="0" anchor="ctr"/>
          <a:lstStyle/>
          <a:p>
            <a:pPr algn="ctr"/>
            <a:endParaRPr lang="en-GB" dirty="0">
              <a:solidFill>
                <a:srgbClr val="DC2C3E"/>
              </a:solidFill>
            </a:endParaRPr>
          </a:p>
        </p:txBody>
      </p:sp>
      <p:sp>
        <p:nvSpPr>
          <p:cNvPr id="51" name="Checklist">
            <a:extLst>
              <a:ext uri="{FF2B5EF4-FFF2-40B4-BE49-F238E27FC236}">
                <a16:creationId xmlns:a16="http://schemas.microsoft.com/office/drawing/2014/main" id="{81CC9F38-039E-7E6E-E127-2DB2B4801244}"/>
              </a:ext>
            </a:extLst>
          </p:cNvPr>
          <p:cNvSpPr txBox="1"/>
          <p:nvPr/>
        </p:nvSpPr>
        <p:spPr>
          <a:xfrm>
            <a:off x="5925499" y="2241366"/>
            <a:ext cx="5159267" cy="357554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285750" indent="-285750"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en-GB" sz="1100" b="1" dirty="0">
                <a:solidFill>
                  <a:srgbClr val="1A1A1A"/>
                </a:solidFill>
                <a:latin typeface="Montserrat" panose="00000500000000000000" pitchFamily="2" charset="0"/>
              </a:rPr>
              <a:t>CARS_DATA</a:t>
            </a:r>
          </a:p>
          <a:p>
            <a:pPr lvl="1">
              <a:spcAft>
                <a:spcPts val="500"/>
              </a:spcAft>
            </a:pPr>
            <a:r>
              <a:rPr lang="en-GB" sz="1100" dirty="0">
                <a:solidFill>
                  <a:srgbClr val="1A1A1A"/>
                </a:solidFill>
                <a:latin typeface="Montserrat" panose="00000500000000000000" pitchFamily="2" charset="0"/>
              </a:rPr>
              <a:t>The main workspace containing all raw and process data.</a:t>
            </a:r>
          </a:p>
          <a:p>
            <a:pPr marL="285750" indent="-285750">
              <a:spcAft>
                <a:spcPts val="500"/>
              </a:spcAft>
              <a:buFont typeface="Arial" panose="020B0604020202020204" pitchFamily="34" charset="0"/>
              <a:buChar char="•"/>
            </a:pPr>
            <a:r>
              <a:rPr lang="en-GB" sz="1100" b="1" dirty="0">
                <a:solidFill>
                  <a:srgbClr val="1A1A1A"/>
                </a:solidFill>
                <a:latin typeface="Montserrat" panose="00000500000000000000" pitchFamily="2" charset="0"/>
              </a:rPr>
              <a:t>CARS_DATA_BACKUP</a:t>
            </a:r>
          </a:p>
          <a:p>
            <a:pPr lvl="1">
              <a:spcAft>
                <a:spcPts val="500"/>
              </a:spcAft>
            </a:pPr>
            <a:r>
              <a:rPr lang="en-GB" sz="1100" dirty="0">
                <a:solidFill>
                  <a:srgbClr val="1A1A1A"/>
                </a:solidFill>
                <a:latin typeface="Montserrat" panose="00000500000000000000" pitchFamily="2" charset="0"/>
              </a:rPr>
              <a:t>A safe copy of the database as contingency for rollback.  </a:t>
            </a:r>
          </a:p>
        </p:txBody>
      </p:sp>
      <p:sp>
        <p:nvSpPr>
          <p:cNvPr id="52" name="Rectangle: Rounded Corners 51">
            <a:extLst>
              <a:ext uri="{FF2B5EF4-FFF2-40B4-BE49-F238E27FC236}">
                <a16:creationId xmlns:a16="http://schemas.microsoft.com/office/drawing/2014/main" id="{F9BC8235-1ECE-88F1-D203-F28218A2CD54}"/>
              </a:ext>
            </a:extLst>
          </p:cNvPr>
          <p:cNvSpPr/>
          <p:nvPr/>
        </p:nvSpPr>
        <p:spPr>
          <a:xfrm>
            <a:off x="4957798" y="3244435"/>
            <a:ext cx="546074" cy="563007"/>
          </a:xfrm>
          <a:prstGeom prst="roundRect">
            <a:avLst>
              <a:gd name="adj" fmla="val 11192"/>
            </a:avLst>
          </a:prstGeom>
          <a:solidFill>
            <a:schemeClr val="bg1"/>
          </a:solidFill>
          <a:ln w="38100">
            <a:solidFill>
              <a:srgbClr val="DC2C3E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pic>
        <p:nvPicPr>
          <p:cNvPr id="23" name="Picture 22">
            <a:extLst>
              <a:ext uri="{FF2B5EF4-FFF2-40B4-BE49-F238E27FC236}">
                <a16:creationId xmlns:a16="http://schemas.microsoft.com/office/drawing/2014/main" id="{9AD8B41A-030B-2DE4-05F6-38F4087ACEF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56732" y="3351835"/>
            <a:ext cx="348206" cy="348206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53" name="Contents Heading">
            <a:extLst>
              <a:ext uri="{FF2B5EF4-FFF2-40B4-BE49-F238E27FC236}">
                <a16:creationId xmlns:a16="http://schemas.microsoft.com/office/drawing/2014/main" id="{B5DFBBF1-1F78-4913-A9D0-1DAE9390FE80}"/>
              </a:ext>
            </a:extLst>
          </p:cNvPr>
          <p:cNvSpPr txBox="1"/>
          <p:nvPr/>
        </p:nvSpPr>
        <p:spPr>
          <a:xfrm>
            <a:off x="5836322" y="3301723"/>
            <a:ext cx="3040394" cy="461665"/>
          </a:xfrm>
          <a:prstGeom prst="rect">
            <a:avLst/>
          </a:prstGeom>
          <a:noFill/>
        </p:spPr>
        <p:txBody>
          <a:bodyPr wrap="square" rtlCol="0" anchor="ctr">
            <a:noAutofit/>
          </a:bodyPr>
          <a:lstStyle/>
          <a:p>
            <a:r>
              <a:rPr lang="en-GB" sz="2400" dirty="0">
                <a:solidFill>
                  <a:srgbClr val="DC2C3E"/>
                </a:solidFill>
                <a:latin typeface="Montserrat" panose="00000500000000000000" pitchFamily="2" charset="0"/>
              </a:rPr>
              <a:t>Schemas</a:t>
            </a:r>
          </a:p>
        </p:txBody>
      </p:sp>
      <p:sp>
        <p:nvSpPr>
          <p:cNvPr id="54" name="Heading Bar">
            <a:extLst>
              <a:ext uri="{FF2B5EF4-FFF2-40B4-BE49-F238E27FC236}">
                <a16:creationId xmlns:a16="http://schemas.microsoft.com/office/drawing/2014/main" id="{517AED8D-CB32-154F-8847-9A400CB83151}"/>
              </a:ext>
            </a:extLst>
          </p:cNvPr>
          <p:cNvSpPr/>
          <p:nvPr/>
        </p:nvSpPr>
        <p:spPr>
          <a:xfrm>
            <a:off x="5726202" y="3328030"/>
            <a:ext cx="61913" cy="390387"/>
          </a:xfrm>
          <a:prstGeom prst="rect">
            <a:avLst/>
          </a:prstGeom>
          <a:solidFill>
            <a:srgbClr val="DC2C3E"/>
          </a:solidFill>
          <a:ln>
            <a:noFill/>
          </a:ln>
        </p:spPr>
        <p:txBody>
          <a:bodyPr rtlCol="0" anchor="ctr"/>
          <a:lstStyle/>
          <a:p>
            <a:pPr algn="ctr"/>
            <a:endParaRPr lang="en-GB" dirty="0">
              <a:solidFill>
                <a:srgbClr val="DC2C3E"/>
              </a:solidFill>
            </a:endParaRPr>
          </a:p>
        </p:txBody>
      </p:sp>
      <p:sp>
        <p:nvSpPr>
          <p:cNvPr id="55" name="Checklist">
            <a:extLst>
              <a:ext uri="{FF2B5EF4-FFF2-40B4-BE49-F238E27FC236}">
                <a16:creationId xmlns:a16="http://schemas.microsoft.com/office/drawing/2014/main" id="{73A954DC-DEF7-A1E3-5B23-E97792304701}"/>
              </a:ext>
            </a:extLst>
          </p:cNvPr>
          <p:cNvSpPr txBox="1"/>
          <p:nvPr/>
        </p:nvSpPr>
        <p:spPr>
          <a:xfrm>
            <a:off x="5925499" y="3776323"/>
            <a:ext cx="5159267" cy="357554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285750" indent="-285750"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en-GB" sz="1100" b="1" dirty="0">
                <a:solidFill>
                  <a:srgbClr val="1A1A1A"/>
                </a:solidFill>
                <a:latin typeface="Montserrat" panose="00000500000000000000" pitchFamily="2" charset="0"/>
              </a:rPr>
              <a:t>MASTER</a:t>
            </a:r>
          </a:p>
          <a:p>
            <a:pPr lvl="1">
              <a:spcAft>
                <a:spcPts val="500"/>
              </a:spcAft>
            </a:pPr>
            <a:r>
              <a:rPr lang="en-GB" sz="1100" dirty="0">
                <a:solidFill>
                  <a:srgbClr val="1A1A1A"/>
                </a:solidFill>
                <a:latin typeface="Montserrat" panose="00000500000000000000" pitchFamily="2" charset="0"/>
              </a:rPr>
              <a:t>Holds the final cleaned data ready for use.</a:t>
            </a:r>
          </a:p>
          <a:p>
            <a:pPr marL="285750" indent="-285750">
              <a:spcAft>
                <a:spcPts val="500"/>
              </a:spcAft>
              <a:buFont typeface="Arial" panose="020B0604020202020204" pitchFamily="34" charset="0"/>
              <a:buChar char="•"/>
            </a:pPr>
            <a:r>
              <a:rPr lang="en-GB" sz="1100" b="1" dirty="0">
                <a:solidFill>
                  <a:srgbClr val="1A1A1A"/>
                </a:solidFill>
                <a:latin typeface="Montserrat" panose="00000500000000000000" pitchFamily="2" charset="0"/>
              </a:rPr>
              <a:t>PUBLIC</a:t>
            </a:r>
          </a:p>
          <a:p>
            <a:pPr lvl="1">
              <a:spcAft>
                <a:spcPts val="500"/>
              </a:spcAft>
            </a:pPr>
            <a:r>
              <a:rPr lang="en-GB" sz="1100" dirty="0">
                <a:solidFill>
                  <a:srgbClr val="1A1A1A"/>
                </a:solidFill>
                <a:latin typeface="Montserrat" panose="00000500000000000000" pitchFamily="2" charset="0"/>
              </a:rPr>
              <a:t>Mixing zone where datasets are combined into a single view.</a:t>
            </a:r>
          </a:p>
          <a:p>
            <a:pPr marL="285750" indent="-285750">
              <a:spcAft>
                <a:spcPts val="500"/>
              </a:spcAft>
              <a:buFont typeface="Arial" panose="020B0604020202020204" pitchFamily="34" charset="0"/>
              <a:buChar char="•"/>
            </a:pPr>
            <a:r>
              <a:rPr lang="en-GB" sz="1100" b="1" dirty="0">
                <a:solidFill>
                  <a:srgbClr val="1A1A1A"/>
                </a:solidFill>
                <a:latin typeface="Montserrat" panose="00000500000000000000" pitchFamily="2" charset="0"/>
              </a:rPr>
              <a:t>TYPE_A - C</a:t>
            </a:r>
          </a:p>
          <a:p>
            <a:pPr lvl="1">
              <a:spcAft>
                <a:spcPts val="500"/>
              </a:spcAft>
            </a:pPr>
            <a:r>
              <a:rPr lang="en-GB" sz="1100" dirty="0">
                <a:solidFill>
                  <a:srgbClr val="1A1A1A"/>
                </a:solidFill>
                <a:latin typeface="Montserrat" panose="00000500000000000000" pitchFamily="2" charset="0"/>
              </a:rPr>
              <a:t>Categories to group data by their table structure.</a:t>
            </a:r>
          </a:p>
          <a:p>
            <a:pPr lvl="1">
              <a:spcAft>
                <a:spcPts val="500"/>
              </a:spcAft>
            </a:pPr>
            <a:r>
              <a:rPr lang="en-GB" sz="1100" dirty="0">
                <a:solidFill>
                  <a:srgbClr val="1A1A1A"/>
                </a:solidFill>
                <a:latin typeface="Montserrat" panose="00000500000000000000" pitchFamily="2" charset="0"/>
              </a:rPr>
              <a:t>  </a:t>
            </a:r>
          </a:p>
        </p:txBody>
      </p:sp>
      <p:sp>
        <p:nvSpPr>
          <p:cNvPr id="59" name="Rectangle: Rounded Corners 58">
            <a:extLst>
              <a:ext uri="{FF2B5EF4-FFF2-40B4-BE49-F238E27FC236}">
                <a16:creationId xmlns:a16="http://schemas.microsoft.com/office/drawing/2014/main" id="{B864DDE8-1935-63E1-B7E6-73DDE001BD43}"/>
              </a:ext>
            </a:extLst>
          </p:cNvPr>
          <p:cNvSpPr/>
          <p:nvPr/>
        </p:nvSpPr>
        <p:spPr>
          <a:xfrm>
            <a:off x="4960908" y="5206976"/>
            <a:ext cx="546074" cy="563007"/>
          </a:xfrm>
          <a:prstGeom prst="roundRect">
            <a:avLst>
              <a:gd name="adj" fmla="val 11192"/>
            </a:avLst>
          </a:prstGeom>
          <a:solidFill>
            <a:schemeClr val="bg1"/>
          </a:solidFill>
          <a:ln w="38100">
            <a:solidFill>
              <a:srgbClr val="DC2C3E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61" name="Contents Heading">
            <a:extLst>
              <a:ext uri="{FF2B5EF4-FFF2-40B4-BE49-F238E27FC236}">
                <a16:creationId xmlns:a16="http://schemas.microsoft.com/office/drawing/2014/main" id="{ADA0605B-E0E2-E343-146D-2B49E7C5B1A4}"/>
              </a:ext>
            </a:extLst>
          </p:cNvPr>
          <p:cNvSpPr txBox="1"/>
          <p:nvPr/>
        </p:nvSpPr>
        <p:spPr>
          <a:xfrm>
            <a:off x="5839432" y="5264264"/>
            <a:ext cx="3040394" cy="461665"/>
          </a:xfrm>
          <a:prstGeom prst="rect">
            <a:avLst/>
          </a:prstGeom>
          <a:noFill/>
        </p:spPr>
        <p:txBody>
          <a:bodyPr wrap="square" rtlCol="0" anchor="ctr">
            <a:noAutofit/>
          </a:bodyPr>
          <a:lstStyle/>
          <a:p>
            <a:r>
              <a:rPr lang="en-GB" sz="2400" dirty="0">
                <a:solidFill>
                  <a:srgbClr val="DC2C3E"/>
                </a:solidFill>
                <a:latin typeface="Montserrat" panose="00000500000000000000" pitchFamily="2" charset="0"/>
              </a:rPr>
              <a:t>Tables</a:t>
            </a:r>
          </a:p>
        </p:txBody>
      </p:sp>
      <p:sp>
        <p:nvSpPr>
          <p:cNvPr id="62" name="Heading Bar">
            <a:extLst>
              <a:ext uri="{FF2B5EF4-FFF2-40B4-BE49-F238E27FC236}">
                <a16:creationId xmlns:a16="http://schemas.microsoft.com/office/drawing/2014/main" id="{F33E3E14-8897-BAC0-1113-DEAC4343945B}"/>
              </a:ext>
            </a:extLst>
          </p:cNvPr>
          <p:cNvSpPr/>
          <p:nvPr/>
        </p:nvSpPr>
        <p:spPr>
          <a:xfrm>
            <a:off x="5729312" y="5290571"/>
            <a:ext cx="61913" cy="390387"/>
          </a:xfrm>
          <a:prstGeom prst="rect">
            <a:avLst/>
          </a:prstGeom>
          <a:solidFill>
            <a:srgbClr val="DC2C3E"/>
          </a:solidFill>
          <a:ln>
            <a:noFill/>
          </a:ln>
        </p:spPr>
        <p:txBody>
          <a:bodyPr rtlCol="0" anchor="ctr"/>
          <a:lstStyle/>
          <a:p>
            <a:pPr algn="ctr"/>
            <a:endParaRPr lang="en-GB" dirty="0">
              <a:solidFill>
                <a:srgbClr val="DC2C3E"/>
              </a:solidFill>
            </a:endParaRPr>
          </a:p>
        </p:txBody>
      </p:sp>
      <p:sp>
        <p:nvSpPr>
          <p:cNvPr id="63" name="Checklist">
            <a:extLst>
              <a:ext uri="{FF2B5EF4-FFF2-40B4-BE49-F238E27FC236}">
                <a16:creationId xmlns:a16="http://schemas.microsoft.com/office/drawing/2014/main" id="{8E143604-7A74-39D3-A23A-1FFD7B72C818}"/>
              </a:ext>
            </a:extLst>
          </p:cNvPr>
          <p:cNvSpPr txBox="1"/>
          <p:nvPr/>
        </p:nvSpPr>
        <p:spPr>
          <a:xfrm>
            <a:off x="5928609" y="5738864"/>
            <a:ext cx="5159267" cy="357554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285750" indent="-285750"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en-GB" sz="1100" b="1" dirty="0">
                <a:solidFill>
                  <a:srgbClr val="1A1A1A"/>
                </a:solidFill>
                <a:latin typeface="Montserrat" panose="00000500000000000000" pitchFamily="2" charset="0"/>
              </a:rPr>
              <a:t>CLEANED_CARS_DATA</a:t>
            </a:r>
          </a:p>
          <a:p>
            <a:pPr lvl="1">
              <a:spcAft>
                <a:spcPts val="300"/>
              </a:spcAft>
            </a:pPr>
            <a:r>
              <a:rPr lang="en-GB" sz="1100" dirty="0">
                <a:solidFill>
                  <a:srgbClr val="1A1A1A"/>
                </a:solidFill>
                <a:latin typeface="Montserrat" panose="00000500000000000000" pitchFamily="2" charset="0"/>
              </a:rPr>
              <a:t>Final version of the dataset after merging and cleaning.</a:t>
            </a:r>
          </a:p>
          <a:p>
            <a:pPr marL="285750" indent="-285750"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en-GB" sz="1100" b="1" dirty="0">
                <a:solidFill>
                  <a:srgbClr val="1A1A1A"/>
                </a:solidFill>
                <a:latin typeface="Montserrat" panose="00000500000000000000" pitchFamily="2" charset="0"/>
              </a:rPr>
              <a:t>CARS</a:t>
            </a:r>
          </a:p>
          <a:p>
            <a:pPr lvl="1">
              <a:spcAft>
                <a:spcPts val="500"/>
              </a:spcAft>
            </a:pPr>
            <a:r>
              <a:rPr lang="en-GB" sz="1100" dirty="0">
                <a:solidFill>
                  <a:srgbClr val="1A1A1A"/>
                </a:solidFill>
                <a:latin typeface="Montserrat" panose="00000500000000000000" pitchFamily="2" charset="0"/>
              </a:rPr>
              <a:t>Raw datasets loaded from their source files.</a:t>
            </a:r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FFB4CD5B-0A8D-5BD5-70C4-5CD14426FA14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41273" y="5194412"/>
            <a:ext cx="582704" cy="582704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269768545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265A443-5987-86CC-1BA9-DB5BAFC4D17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d Panel">
            <a:extLst>
              <a:ext uri="{FF2B5EF4-FFF2-40B4-BE49-F238E27FC236}">
                <a16:creationId xmlns:a16="http://schemas.microsoft.com/office/drawing/2014/main" id="{E56A7FD5-6057-EACF-65B8-2D65D5867102}"/>
              </a:ext>
            </a:extLst>
          </p:cNvPr>
          <p:cNvSpPr/>
          <p:nvPr/>
        </p:nvSpPr>
        <p:spPr>
          <a:xfrm>
            <a:off x="7730559" y="1636"/>
            <a:ext cx="4097359" cy="6858000"/>
          </a:xfrm>
          <a:prstGeom prst="rect">
            <a:avLst/>
          </a:prstGeom>
          <a:solidFill>
            <a:srgbClr val="DC2C3E"/>
          </a:solidFill>
          <a:ln>
            <a:noFill/>
          </a:ln>
          <a:effectLst>
            <a:outerShdw blurRad="50800" dist="38100" algn="l" rotWithShape="0">
              <a:prstClr val="black">
                <a:alpha val="20000"/>
              </a:prstClr>
            </a:outerShdw>
          </a:effectLst>
        </p:spPr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FB3363E-CB4C-1D47-0F52-FAFA98D7EC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Montserrat SemiBold" panose="00000700000000000000" pitchFamily="2" charset="0"/>
              </a:rPr>
              <a:t>VERSION CONTROL</a:t>
            </a:r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7DB15B35-6A39-11ED-045D-FFF013EC6AAA}"/>
              </a:ext>
            </a:extLst>
          </p:cNvPr>
          <p:cNvGrpSpPr>
            <a:grpSpLocks noChangeAspect="1"/>
          </p:cNvGrpSpPr>
          <p:nvPr/>
        </p:nvGrpSpPr>
        <p:grpSpPr>
          <a:xfrm>
            <a:off x="586274" y="1625371"/>
            <a:ext cx="6764170" cy="1889028"/>
            <a:chOff x="392787" y="2223141"/>
            <a:chExt cx="10515600" cy="2936689"/>
          </a:xfrm>
        </p:grpSpPr>
        <p:sp>
          <p:nvSpPr>
            <p:cNvPr id="9" name="Card A">
              <a:extLst>
                <a:ext uri="{FF2B5EF4-FFF2-40B4-BE49-F238E27FC236}">
                  <a16:creationId xmlns:a16="http://schemas.microsoft.com/office/drawing/2014/main" id="{2C8A4DD6-4553-F373-E17E-76F702A753AA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392787" y="2223141"/>
              <a:ext cx="10515600" cy="2936689"/>
            </a:xfrm>
            <a:prstGeom prst="roundRect">
              <a:avLst>
                <a:gd name="adj" fmla="val 5000"/>
              </a:avLst>
            </a:prstGeom>
            <a:solidFill>
              <a:schemeClr val="bg1"/>
            </a:solidFill>
            <a:ln w="9525">
              <a:noFill/>
            </a:ln>
            <a:effectLst>
              <a:outerShdw blurRad="80000" dist="30000" dir="5400000" rotWithShape="0">
                <a:srgbClr val="000000">
                  <a:alpha val="18000"/>
                </a:srgbClr>
              </a:outerShdw>
            </a:effectLst>
          </p:spPr>
          <p:txBody>
            <a:bodyPr rtlCol="0" anchor="ctr"/>
            <a:lstStyle/>
            <a:p>
              <a:pPr algn="ctr"/>
              <a:endParaRPr lang="en-GB" dirty="0"/>
            </a:p>
          </p:txBody>
        </p:sp>
        <p:pic>
          <p:nvPicPr>
            <p:cNvPr id="6" name="Picture 5">
              <a:extLst>
                <a:ext uri="{FF2B5EF4-FFF2-40B4-BE49-F238E27FC236}">
                  <a16:creationId xmlns:a16="http://schemas.microsoft.com/office/drawing/2014/main" id="{86CFC322-AAB3-58F1-BD7B-257181159757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392788" y="2292303"/>
              <a:ext cx="7935432" cy="562053"/>
            </a:xfrm>
            <a:prstGeom prst="rect">
              <a:avLst/>
            </a:prstGeom>
          </p:spPr>
        </p:pic>
        <p:pic>
          <p:nvPicPr>
            <p:cNvPr id="8" name="Picture 7">
              <a:extLst>
                <a:ext uri="{FF2B5EF4-FFF2-40B4-BE49-F238E27FC236}">
                  <a16:creationId xmlns:a16="http://schemas.microsoft.com/office/drawing/2014/main" id="{C537EA8B-A355-D804-C457-52C790E7249A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439443" y="2996924"/>
              <a:ext cx="10431331" cy="2095792"/>
            </a:xfrm>
            <a:prstGeom prst="rect">
              <a:avLst/>
            </a:prstGeom>
          </p:spPr>
        </p:pic>
      </p:grpSp>
      <p:sp>
        <p:nvSpPr>
          <p:cNvPr id="11" name="Contents Heading">
            <a:extLst>
              <a:ext uri="{FF2B5EF4-FFF2-40B4-BE49-F238E27FC236}">
                <a16:creationId xmlns:a16="http://schemas.microsoft.com/office/drawing/2014/main" id="{2817B9D8-E4E7-FE72-BFD2-25EF8E4B8B0F}"/>
              </a:ext>
            </a:extLst>
          </p:cNvPr>
          <p:cNvSpPr txBox="1"/>
          <p:nvPr/>
        </p:nvSpPr>
        <p:spPr>
          <a:xfrm>
            <a:off x="8326973" y="1627549"/>
            <a:ext cx="2707433" cy="461665"/>
          </a:xfrm>
          <a:prstGeom prst="rect">
            <a:avLst/>
          </a:prstGeom>
          <a:noFill/>
        </p:spPr>
        <p:txBody>
          <a:bodyPr wrap="square" rtlCol="0" anchor="ctr">
            <a:noAutofit/>
          </a:bodyPr>
          <a:lstStyle/>
          <a:p>
            <a:r>
              <a:rPr lang="en-GB" sz="2400" dirty="0">
                <a:solidFill>
                  <a:schemeClr val="bg1"/>
                </a:solidFill>
                <a:latin typeface="Montserrat" panose="00000500000000000000" pitchFamily="2" charset="0"/>
              </a:rPr>
              <a:t>Database Clone</a:t>
            </a:r>
          </a:p>
        </p:txBody>
      </p:sp>
      <p:sp>
        <p:nvSpPr>
          <p:cNvPr id="13" name="Contents Detail">
            <a:extLst>
              <a:ext uri="{FF2B5EF4-FFF2-40B4-BE49-F238E27FC236}">
                <a16:creationId xmlns:a16="http://schemas.microsoft.com/office/drawing/2014/main" id="{CA26D1E0-93F7-5D98-824E-F80BE791327A}"/>
              </a:ext>
            </a:extLst>
          </p:cNvPr>
          <p:cNvSpPr txBox="1"/>
          <p:nvPr/>
        </p:nvSpPr>
        <p:spPr>
          <a:xfrm>
            <a:off x="8326973" y="2070651"/>
            <a:ext cx="3388569" cy="473632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en-GB" sz="1300" dirty="0">
                <a:solidFill>
                  <a:schemeClr val="bg1"/>
                </a:solidFill>
                <a:latin typeface="Montserrat" panose="00000500000000000000" pitchFamily="2" charset="0"/>
              </a:rPr>
              <a:t>Keeping a master copy of the original database as a safety net for rollback in extreme circumstances.</a:t>
            </a:r>
          </a:p>
        </p:txBody>
      </p:sp>
      <p:sp>
        <p:nvSpPr>
          <p:cNvPr id="14" name="Contents Heading">
            <a:extLst>
              <a:ext uri="{FF2B5EF4-FFF2-40B4-BE49-F238E27FC236}">
                <a16:creationId xmlns:a16="http://schemas.microsoft.com/office/drawing/2014/main" id="{A1554592-84D8-ED58-9E3D-2259687E6365}"/>
              </a:ext>
            </a:extLst>
          </p:cNvPr>
          <p:cNvSpPr txBox="1"/>
          <p:nvPr/>
        </p:nvSpPr>
        <p:spPr>
          <a:xfrm>
            <a:off x="8326973" y="4342958"/>
            <a:ext cx="2707433" cy="461665"/>
          </a:xfrm>
          <a:prstGeom prst="rect">
            <a:avLst/>
          </a:prstGeom>
          <a:noFill/>
        </p:spPr>
        <p:txBody>
          <a:bodyPr wrap="square" rtlCol="0" anchor="ctr">
            <a:noAutofit/>
          </a:bodyPr>
          <a:lstStyle/>
          <a:p>
            <a:r>
              <a:rPr lang="en-GB" sz="2400" dirty="0">
                <a:solidFill>
                  <a:schemeClr val="bg1"/>
                </a:solidFill>
                <a:latin typeface="Montserrat" panose="00000500000000000000" pitchFamily="2" charset="0"/>
              </a:rPr>
              <a:t>Time Travel</a:t>
            </a:r>
          </a:p>
        </p:txBody>
      </p:sp>
      <p:sp>
        <p:nvSpPr>
          <p:cNvPr id="16" name="Contents Detail">
            <a:extLst>
              <a:ext uri="{FF2B5EF4-FFF2-40B4-BE49-F238E27FC236}">
                <a16:creationId xmlns:a16="http://schemas.microsoft.com/office/drawing/2014/main" id="{DE17DCA0-C3DE-9AF8-2B59-20AE2DB1A374}"/>
              </a:ext>
            </a:extLst>
          </p:cNvPr>
          <p:cNvSpPr txBox="1"/>
          <p:nvPr/>
        </p:nvSpPr>
        <p:spPr>
          <a:xfrm>
            <a:off x="8326973" y="4786060"/>
            <a:ext cx="3388569" cy="473632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en-GB" sz="1300" dirty="0">
                <a:solidFill>
                  <a:schemeClr val="bg1"/>
                </a:solidFill>
                <a:latin typeface="Montserrat" panose="00000500000000000000" pitchFamily="2" charset="0"/>
              </a:rPr>
              <a:t>A Snowflake rollback feature that allows for changes to be reverted up to 24-hours by specifying the timeframe or period.</a:t>
            </a:r>
          </a:p>
        </p:txBody>
      </p:sp>
      <p:sp>
        <p:nvSpPr>
          <p:cNvPr id="17" name="Contents Heading">
            <a:extLst>
              <a:ext uri="{FF2B5EF4-FFF2-40B4-BE49-F238E27FC236}">
                <a16:creationId xmlns:a16="http://schemas.microsoft.com/office/drawing/2014/main" id="{8DEE3FCB-973D-B4EB-9556-147BF8DECEC8}"/>
              </a:ext>
            </a:extLst>
          </p:cNvPr>
          <p:cNvSpPr txBox="1"/>
          <p:nvPr/>
        </p:nvSpPr>
        <p:spPr>
          <a:xfrm>
            <a:off x="696393" y="3678434"/>
            <a:ext cx="2697327" cy="461665"/>
          </a:xfrm>
          <a:prstGeom prst="rect">
            <a:avLst/>
          </a:prstGeom>
          <a:noFill/>
        </p:spPr>
        <p:txBody>
          <a:bodyPr wrap="square" rtlCol="0" anchor="ctr">
            <a:noAutofit/>
          </a:bodyPr>
          <a:lstStyle/>
          <a:p>
            <a:r>
              <a:rPr lang="en-GB" sz="2400" dirty="0">
                <a:solidFill>
                  <a:srgbClr val="DC2C3E"/>
                </a:solidFill>
                <a:latin typeface="Montserrat" panose="00000500000000000000" pitchFamily="2" charset="0"/>
              </a:rPr>
              <a:t>Implementation</a:t>
            </a:r>
          </a:p>
        </p:txBody>
      </p:sp>
      <p:sp>
        <p:nvSpPr>
          <p:cNvPr id="18" name="Heading Bar">
            <a:extLst>
              <a:ext uri="{FF2B5EF4-FFF2-40B4-BE49-F238E27FC236}">
                <a16:creationId xmlns:a16="http://schemas.microsoft.com/office/drawing/2014/main" id="{788A940F-2517-AEF6-4621-07D320A34042}"/>
              </a:ext>
            </a:extLst>
          </p:cNvPr>
          <p:cNvSpPr/>
          <p:nvPr/>
        </p:nvSpPr>
        <p:spPr>
          <a:xfrm>
            <a:off x="586274" y="3704741"/>
            <a:ext cx="61913" cy="390387"/>
          </a:xfrm>
          <a:prstGeom prst="rect">
            <a:avLst/>
          </a:prstGeom>
          <a:solidFill>
            <a:srgbClr val="DC2C3E"/>
          </a:solidFill>
          <a:ln>
            <a:noFill/>
          </a:ln>
        </p:spPr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19" name="Contents Detail">
            <a:extLst>
              <a:ext uri="{FF2B5EF4-FFF2-40B4-BE49-F238E27FC236}">
                <a16:creationId xmlns:a16="http://schemas.microsoft.com/office/drawing/2014/main" id="{8D5CD646-C42B-8CB1-EAA4-D42CE3ED4903}"/>
              </a:ext>
            </a:extLst>
          </p:cNvPr>
          <p:cNvSpPr txBox="1"/>
          <p:nvPr/>
        </p:nvSpPr>
        <p:spPr>
          <a:xfrm>
            <a:off x="696393" y="4121535"/>
            <a:ext cx="5040087" cy="2157967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en-GB" sz="1300" dirty="0">
                <a:latin typeface="Montserrat" panose="00000500000000000000" pitchFamily="2" charset="0"/>
              </a:rPr>
              <a:t>Version control provides a safe environment to make </a:t>
            </a:r>
            <a:r>
              <a:rPr lang="en-GB" sz="1300" b="1" dirty="0">
                <a:solidFill>
                  <a:srgbClr val="4D6C75"/>
                </a:solidFill>
                <a:latin typeface="Montserrat" panose="00000500000000000000" pitchFamily="2" charset="0"/>
              </a:rPr>
              <a:t>changes</a:t>
            </a:r>
            <a:r>
              <a:rPr lang="en-GB" sz="1300" dirty="0">
                <a:latin typeface="Montserrat" panose="00000500000000000000" pitchFamily="2" charset="0"/>
              </a:rPr>
              <a:t> to files, allowing for alterations to be </a:t>
            </a:r>
            <a:r>
              <a:rPr lang="en-GB" sz="1300" b="1" dirty="0">
                <a:solidFill>
                  <a:srgbClr val="4D6C75"/>
                </a:solidFill>
                <a:latin typeface="Montserrat" panose="00000500000000000000" pitchFamily="2" charset="0"/>
              </a:rPr>
              <a:t>tracked</a:t>
            </a:r>
            <a:r>
              <a:rPr lang="en-GB" sz="1300" dirty="0">
                <a:latin typeface="Montserrat" panose="00000500000000000000" pitchFamily="2" charset="0"/>
              </a:rPr>
              <a:t> and </a:t>
            </a:r>
            <a:r>
              <a:rPr lang="en-GB" sz="1300" b="1" dirty="0">
                <a:solidFill>
                  <a:srgbClr val="4D6C75"/>
                </a:solidFill>
                <a:latin typeface="Montserrat" panose="00000500000000000000" pitchFamily="2" charset="0"/>
              </a:rPr>
              <a:t>reverted</a:t>
            </a:r>
            <a:r>
              <a:rPr lang="en-GB" sz="1300" dirty="0">
                <a:latin typeface="Montserrat" panose="00000500000000000000" pitchFamily="2" charset="0"/>
              </a:rPr>
              <a:t> if necessary.</a:t>
            </a:r>
          </a:p>
          <a:p>
            <a:endParaRPr lang="en-GB" sz="1300" dirty="0">
              <a:latin typeface="Montserrat" panose="00000500000000000000" pitchFamily="2" charset="0"/>
            </a:endParaRPr>
          </a:p>
          <a:p>
            <a:r>
              <a:rPr lang="en-GB" sz="1300" dirty="0">
                <a:latin typeface="Montserrat" panose="00000500000000000000" pitchFamily="2" charset="0"/>
              </a:rPr>
              <a:t>After loading the data into Snowflake, a copy of the database was made which can be used to revert to the original database if necessary.</a:t>
            </a:r>
          </a:p>
          <a:p>
            <a:endParaRPr lang="en-GB" sz="1300" dirty="0">
              <a:latin typeface="Montserrat" panose="00000500000000000000" pitchFamily="2" charset="0"/>
            </a:endParaRPr>
          </a:p>
          <a:p>
            <a:r>
              <a:rPr lang="en-GB" sz="1300" dirty="0">
                <a:latin typeface="Montserrat" panose="00000500000000000000" pitchFamily="2" charset="0"/>
              </a:rPr>
              <a:t>Time travel is another form of version control, unique to Snowflake which can help revert minor changes.</a:t>
            </a:r>
          </a:p>
        </p:txBody>
      </p:sp>
      <p:pic>
        <p:nvPicPr>
          <p:cNvPr id="24" name="Picture 23">
            <a:extLst>
              <a:ext uri="{FF2B5EF4-FFF2-40B4-BE49-F238E27FC236}">
                <a16:creationId xmlns:a16="http://schemas.microsoft.com/office/drawing/2014/main" id="{97E36FE0-F3BA-B6CE-1962-B3EF56154AF7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97384" y="1727534"/>
            <a:ext cx="295646" cy="295646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pic>
        <p:nvPicPr>
          <p:cNvPr id="26" name="Picture 25">
            <a:extLst>
              <a:ext uri="{FF2B5EF4-FFF2-40B4-BE49-F238E27FC236}">
                <a16:creationId xmlns:a16="http://schemas.microsoft.com/office/drawing/2014/main" id="{990EB5C0-ADE5-F225-9777-2E2B646DA34B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27715" y="4325705"/>
            <a:ext cx="477508" cy="477508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265058815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Rectangle: Rounded Corners 75">
            <a:extLst>
              <a:ext uri="{FF2B5EF4-FFF2-40B4-BE49-F238E27FC236}">
                <a16:creationId xmlns:a16="http://schemas.microsoft.com/office/drawing/2014/main" id="{67832F68-34B2-524A-2E43-7E1980773D00}"/>
              </a:ext>
            </a:extLst>
          </p:cNvPr>
          <p:cNvSpPr/>
          <p:nvPr/>
        </p:nvSpPr>
        <p:spPr>
          <a:xfrm>
            <a:off x="5535142" y="1494735"/>
            <a:ext cx="7048245" cy="4268134"/>
          </a:xfrm>
          <a:prstGeom prst="roundRect">
            <a:avLst>
              <a:gd name="adj" fmla="val 5778"/>
            </a:avLst>
          </a:prstGeom>
          <a:solidFill>
            <a:srgbClr val="FBF8EF"/>
          </a:solidFill>
          <a:ln>
            <a:noFill/>
          </a:ln>
          <a:effectLst>
            <a:outerShdw blurRad="50800" dist="38100" dir="8100000" algn="tr" rotWithShape="0">
              <a:schemeClr val="bg1">
                <a:lumMod val="95000"/>
                <a:alpha val="40000"/>
              </a:scheme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75" name="Image Card">
            <a:extLst>
              <a:ext uri="{FF2B5EF4-FFF2-40B4-BE49-F238E27FC236}">
                <a16:creationId xmlns:a16="http://schemas.microsoft.com/office/drawing/2014/main" id="{6EC45DB2-38CC-D374-6877-83C0274254F2}"/>
              </a:ext>
            </a:extLst>
          </p:cNvPr>
          <p:cNvSpPr/>
          <p:nvPr/>
        </p:nvSpPr>
        <p:spPr>
          <a:xfrm>
            <a:off x="8894616" y="757382"/>
            <a:ext cx="2567704" cy="5726257"/>
          </a:xfrm>
          <a:prstGeom prst="roundRect">
            <a:avLst>
              <a:gd name="adj" fmla="val 4000"/>
            </a:avLst>
          </a:prstGeom>
          <a:solidFill>
            <a:schemeClr val="bg1"/>
          </a:solidFill>
          <a:ln w="9525">
            <a:solidFill>
              <a:srgbClr val="E3DCCB"/>
            </a:solidFill>
          </a:ln>
          <a:effectLst>
            <a:outerShdw blurRad="90000" dist="38100" dir="5400000" rotWithShape="0">
              <a:srgbClr val="000000">
                <a:alpha val="22000"/>
              </a:srgbClr>
            </a:outerShdw>
          </a:effectLst>
        </p:spPr>
        <p:txBody>
          <a:bodyPr rtlCol="0" anchor="ctr"/>
          <a:lstStyle/>
          <a:p>
            <a:pPr algn="ctr"/>
            <a:endParaRPr lang="en-GB"/>
          </a:p>
        </p:txBody>
      </p:sp>
      <p:cxnSp>
        <p:nvCxnSpPr>
          <p:cNvPr id="72" name="Straight Connector 71">
            <a:extLst>
              <a:ext uri="{FF2B5EF4-FFF2-40B4-BE49-F238E27FC236}">
                <a16:creationId xmlns:a16="http://schemas.microsoft.com/office/drawing/2014/main" id="{CFF3B735-F64F-BC92-F046-2136E346698C}"/>
              </a:ext>
            </a:extLst>
          </p:cNvPr>
          <p:cNvCxnSpPr>
            <a:cxnSpLocks/>
          </p:cNvCxnSpPr>
          <p:nvPr/>
        </p:nvCxnSpPr>
        <p:spPr>
          <a:xfrm>
            <a:off x="5064126" y="6244380"/>
            <a:ext cx="465460" cy="0"/>
          </a:xfrm>
          <a:prstGeom prst="line">
            <a:avLst/>
          </a:prstGeom>
          <a:ln w="38100">
            <a:solidFill>
              <a:srgbClr val="4D6C75"/>
            </a:solidFill>
            <a:prstDash val="sysDot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" name="Straight Connector 57">
            <a:extLst>
              <a:ext uri="{FF2B5EF4-FFF2-40B4-BE49-F238E27FC236}">
                <a16:creationId xmlns:a16="http://schemas.microsoft.com/office/drawing/2014/main" id="{D7F2F8C4-1016-FA96-4C49-EA210B4867CD}"/>
              </a:ext>
            </a:extLst>
          </p:cNvPr>
          <p:cNvCxnSpPr>
            <a:cxnSpLocks/>
          </p:cNvCxnSpPr>
          <p:nvPr/>
        </p:nvCxnSpPr>
        <p:spPr>
          <a:xfrm>
            <a:off x="2619370" y="5407723"/>
            <a:ext cx="676208" cy="0"/>
          </a:xfrm>
          <a:prstGeom prst="line">
            <a:avLst/>
          </a:prstGeom>
          <a:ln w="38100">
            <a:solidFill>
              <a:srgbClr val="4D6C75"/>
            </a:solidFill>
            <a:prstDash val="sysDot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98892827-1F7C-3FF1-BAC4-EC5E4AEB7C66}"/>
              </a:ext>
            </a:extLst>
          </p:cNvPr>
          <p:cNvCxnSpPr/>
          <p:nvPr/>
        </p:nvCxnSpPr>
        <p:spPr>
          <a:xfrm>
            <a:off x="2105886" y="1828800"/>
            <a:ext cx="535709" cy="0"/>
          </a:xfrm>
          <a:prstGeom prst="line">
            <a:avLst/>
          </a:prstGeom>
          <a:ln w="38100">
            <a:solidFill>
              <a:srgbClr val="4D6C75"/>
            </a:solidFill>
            <a:prstDash val="sysDot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2E127CC3-3461-75A9-36AD-8B571DC7D388}"/>
              </a:ext>
            </a:extLst>
          </p:cNvPr>
          <p:cNvCxnSpPr/>
          <p:nvPr/>
        </p:nvCxnSpPr>
        <p:spPr>
          <a:xfrm>
            <a:off x="2103293" y="2209511"/>
            <a:ext cx="535709" cy="0"/>
          </a:xfrm>
          <a:prstGeom prst="line">
            <a:avLst/>
          </a:prstGeom>
          <a:ln w="38100">
            <a:solidFill>
              <a:srgbClr val="4D6C75"/>
            </a:solidFill>
            <a:prstDash val="sysDot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062E1EC1-A105-1025-5810-006262EA2105}"/>
              </a:ext>
            </a:extLst>
          </p:cNvPr>
          <p:cNvCxnSpPr/>
          <p:nvPr/>
        </p:nvCxnSpPr>
        <p:spPr>
          <a:xfrm>
            <a:off x="2099536" y="2592126"/>
            <a:ext cx="535709" cy="0"/>
          </a:xfrm>
          <a:prstGeom prst="line">
            <a:avLst/>
          </a:prstGeom>
          <a:ln w="38100">
            <a:solidFill>
              <a:srgbClr val="4D6C75"/>
            </a:solidFill>
            <a:prstDash val="sysDot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Straight Connector 25">
            <a:extLst>
              <a:ext uri="{FF2B5EF4-FFF2-40B4-BE49-F238E27FC236}">
                <a16:creationId xmlns:a16="http://schemas.microsoft.com/office/drawing/2014/main" id="{BEAF7DCF-D08A-32E8-F219-BB9AF097070E}"/>
              </a:ext>
            </a:extLst>
          </p:cNvPr>
          <p:cNvCxnSpPr/>
          <p:nvPr/>
        </p:nvCxnSpPr>
        <p:spPr>
          <a:xfrm>
            <a:off x="2096943" y="2972837"/>
            <a:ext cx="535709" cy="0"/>
          </a:xfrm>
          <a:prstGeom prst="line">
            <a:avLst/>
          </a:prstGeom>
          <a:ln w="38100">
            <a:solidFill>
              <a:srgbClr val="4D6C75"/>
            </a:solidFill>
            <a:prstDash val="sysDot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1B730ED7-7612-5D5D-167A-A724616E5FE7}"/>
              </a:ext>
            </a:extLst>
          </p:cNvPr>
          <p:cNvCxnSpPr>
            <a:cxnSpLocks/>
            <a:endCxn id="18" idx="1"/>
          </p:cNvCxnSpPr>
          <p:nvPr/>
        </p:nvCxnSpPr>
        <p:spPr>
          <a:xfrm flipV="1">
            <a:off x="2096361" y="3350713"/>
            <a:ext cx="1212861" cy="3463"/>
          </a:xfrm>
          <a:prstGeom prst="line">
            <a:avLst/>
          </a:prstGeom>
          <a:ln w="38100">
            <a:solidFill>
              <a:srgbClr val="4D6C75"/>
            </a:solidFill>
            <a:prstDash val="sysDot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Straight Connector 27">
            <a:extLst>
              <a:ext uri="{FF2B5EF4-FFF2-40B4-BE49-F238E27FC236}">
                <a16:creationId xmlns:a16="http://schemas.microsoft.com/office/drawing/2014/main" id="{F88B12D4-D6FE-D2AF-9516-18FFEBA80546}"/>
              </a:ext>
            </a:extLst>
          </p:cNvPr>
          <p:cNvCxnSpPr/>
          <p:nvPr/>
        </p:nvCxnSpPr>
        <p:spPr>
          <a:xfrm>
            <a:off x="2096943" y="3734887"/>
            <a:ext cx="535709" cy="0"/>
          </a:xfrm>
          <a:prstGeom prst="line">
            <a:avLst/>
          </a:prstGeom>
          <a:ln w="38100">
            <a:solidFill>
              <a:srgbClr val="4D6C75"/>
            </a:solidFill>
            <a:prstDash val="sysDot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Straight Connector 28">
            <a:extLst>
              <a:ext uri="{FF2B5EF4-FFF2-40B4-BE49-F238E27FC236}">
                <a16:creationId xmlns:a16="http://schemas.microsoft.com/office/drawing/2014/main" id="{CAAB2202-A11B-3B08-A1C7-D20B0D3F70E9}"/>
              </a:ext>
            </a:extLst>
          </p:cNvPr>
          <p:cNvCxnSpPr/>
          <p:nvPr/>
        </p:nvCxnSpPr>
        <p:spPr>
          <a:xfrm>
            <a:off x="2096361" y="4114327"/>
            <a:ext cx="535709" cy="0"/>
          </a:xfrm>
          <a:prstGeom prst="line">
            <a:avLst/>
          </a:prstGeom>
          <a:ln w="38100">
            <a:solidFill>
              <a:srgbClr val="4D6C75"/>
            </a:solidFill>
            <a:prstDash val="sysDot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Straight Connector 29">
            <a:extLst>
              <a:ext uri="{FF2B5EF4-FFF2-40B4-BE49-F238E27FC236}">
                <a16:creationId xmlns:a16="http://schemas.microsoft.com/office/drawing/2014/main" id="{57E7D926-8681-F642-848C-7C4BB81D1927}"/>
              </a:ext>
            </a:extLst>
          </p:cNvPr>
          <p:cNvCxnSpPr/>
          <p:nvPr/>
        </p:nvCxnSpPr>
        <p:spPr>
          <a:xfrm>
            <a:off x="2087418" y="4495038"/>
            <a:ext cx="535709" cy="0"/>
          </a:xfrm>
          <a:prstGeom prst="line">
            <a:avLst/>
          </a:prstGeom>
          <a:ln w="38100">
            <a:solidFill>
              <a:srgbClr val="4D6C75"/>
            </a:solidFill>
            <a:prstDash val="sysDot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Straight Connector 35">
            <a:extLst>
              <a:ext uri="{FF2B5EF4-FFF2-40B4-BE49-F238E27FC236}">
                <a16:creationId xmlns:a16="http://schemas.microsoft.com/office/drawing/2014/main" id="{E963F37B-D83C-7B36-1F81-D1B93DF08062}"/>
              </a:ext>
            </a:extLst>
          </p:cNvPr>
          <p:cNvCxnSpPr/>
          <p:nvPr/>
        </p:nvCxnSpPr>
        <p:spPr>
          <a:xfrm>
            <a:off x="2086836" y="4877614"/>
            <a:ext cx="535709" cy="0"/>
          </a:xfrm>
          <a:prstGeom prst="line">
            <a:avLst/>
          </a:prstGeom>
          <a:ln w="38100">
            <a:solidFill>
              <a:srgbClr val="4D6C75"/>
            </a:solidFill>
            <a:prstDash val="sysDot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Straight Connector 36">
            <a:extLst>
              <a:ext uri="{FF2B5EF4-FFF2-40B4-BE49-F238E27FC236}">
                <a16:creationId xmlns:a16="http://schemas.microsoft.com/office/drawing/2014/main" id="{E7A4BDE5-605D-A0E4-7E6D-69714CA8AA5B}"/>
              </a:ext>
            </a:extLst>
          </p:cNvPr>
          <p:cNvCxnSpPr/>
          <p:nvPr/>
        </p:nvCxnSpPr>
        <p:spPr>
          <a:xfrm>
            <a:off x="2086543" y="5256572"/>
            <a:ext cx="535709" cy="0"/>
          </a:xfrm>
          <a:prstGeom prst="line">
            <a:avLst/>
          </a:prstGeom>
          <a:ln w="38100">
            <a:solidFill>
              <a:srgbClr val="4D6C75"/>
            </a:solidFill>
            <a:prstDash val="sysDot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Straight Connector 37">
            <a:extLst>
              <a:ext uri="{FF2B5EF4-FFF2-40B4-BE49-F238E27FC236}">
                <a16:creationId xmlns:a16="http://schemas.microsoft.com/office/drawing/2014/main" id="{F49804B1-485D-E551-AEDF-86EF26258E2F}"/>
              </a:ext>
            </a:extLst>
          </p:cNvPr>
          <p:cNvCxnSpPr/>
          <p:nvPr/>
        </p:nvCxnSpPr>
        <p:spPr>
          <a:xfrm>
            <a:off x="2083661" y="5637283"/>
            <a:ext cx="535709" cy="0"/>
          </a:xfrm>
          <a:prstGeom prst="line">
            <a:avLst/>
          </a:prstGeom>
          <a:ln w="38100">
            <a:solidFill>
              <a:srgbClr val="4D6C75"/>
            </a:solidFill>
            <a:prstDash val="sysDot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Straight Connector 38">
            <a:extLst>
              <a:ext uri="{FF2B5EF4-FFF2-40B4-BE49-F238E27FC236}">
                <a16:creationId xmlns:a16="http://schemas.microsoft.com/office/drawing/2014/main" id="{0D3211C7-FFC4-946F-16D7-BF3D569D713D}"/>
              </a:ext>
            </a:extLst>
          </p:cNvPr>
          <p:cNvCxnSpPr/>
          <p:nvPr/>
        </p:nvCxnSpPr>
        <p:spPr>
          <a:xfrm>
            <a:off x="2076729" y="6019898"/>
            <a:ext cx="535709" cy="0"/>
          </a:xfrm>
          <a:prstGeom prst="line">
            <a:avLst/>
          </a:prstGeom>
          <a:ln w="38100">
            <a:solidFill>
              <a:srgbClr val="4D6C75"/>
            </a:solidFill>
            <a:prstDash val="sysDot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Straight Connector 39">
            <a:extLst>
              <a:ext uri="{FF2B5EF4-FFF2-40B4-BE49-F238E27FC236}">
                <a16:creationId xmlns:a16="http://schemas.microsoft.com/office/drawing/2014/main" id="{68595767-0ABF-B82B-4C99-B24BEA50B6FB}"/>
              </a:ext>
            </a:extLst>
          </p:cNvPr>
          <p:cNvCxnSpPr/>
          <p:nvPr/>
        </p:nvCxnSpPr>
        <p:spPr>
          <a:xfrm>
            <a:off x="2080486" y="6400609"/>
            <a:ext cx="535709" cy="0"/>
          </a:xfrm>
          <a:prstGeom prst="line">
            <a:avLst/>
          </a:prstGeom>
          <a:ln w="38100">
            <a:solidFill>
              <a:srgbClr val="4D6C75"/>
            </a:solidFill>
            <a:prstDash val="sysDot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Straight Connector 40">
            <a:extLst>
              <a:ext uri="{FF2B5EF4-FFF2-40B4-BE49-F238E27FC236}">
                <a16:creationId xmlns:a16="http://schemas.microsoft.com/office/drawing/2014/main" id="{CC1D74C1-C38B-1DCE-2026-B45FE73EEA12}"/>
              </a:ext>
            </a:extLst>
          </p:cNvPr>
          <p:cNvCxnSpPr>
            <a:cxnSpLocks/>
          </p:cNvCxnSpPr>
          <p:nvPr/>
        </p:nvCxnSpPr>
        <p:spPr>
          <a:xfrm flipH="1">
            <a:off x="2639002" y="1809750"/>
            <a:ext cx="18175" cy="3088481"/>
          </a:xfrm>
          <a:prstGeom prst="line">
            <a:avLst/>
          </a:prstGeom>
          <a:ln w="38100">
            <a:solidFill>
              <a:srgbClr val="4D6C75"/>
            </a:solidFill>
            <a:prstDash val="sysDot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itle 1">
            <a:extLst>
              <a:ext uri="{FF2B5EF4-FFF2-40B4-BE49-F238E27FC236}">
                <a16:creationId xmlns:a16="http://schemas.microsoft.com/office/drawing/2014/main" id="{262BD3A5-AAE8-ACB8-A35D-F86C6BBD7AE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en-GB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Montserrat SemiBold" panose="00000700000000000000" pitchFamily="2" charset="0"/>
              </a:rPr>
              <a:t>UNIFIED VIEW</a:t>
            </a:r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69205BEA-A13B-95D3-208E-7D1D8809B619}"/>
              </a:ext>
            </a:extLst>
          </p:cNvPr>
          <p:cNvSpPr/>
          <p:nvPr/>
        </p:nvSpPr>
        <p:spPr>
          <a:xfrm>
            <a:off x="866775" y="1690688"/>
            <a:ext cx="1258452" cy="285561"/>
          </a:xfrm>
          <a:prstGeom prst="roundRect">
            <a:avLst>
              <a:gd name="adj" fmla="val 11192"/>
            </a:avLst>
          </a:prstGeom>
          <a:solidFill>
            <a:schemeClr val="bg1"/>
          </a:solidFill>
          <a:ln w="38100">
            <a:solidFill>
              <a:srgbClr val="DC2C3E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050" dirty="0">
                <a:solidFill>
                  <a:schemeClr val="tx1"/>
                </a:solidFill>
                <a:latin typeface="Montserrat" panose="00000500000000000000" pitchFamily="2" charset="0"/>
              </a:rPr>
              <a:t>AUDI</a:t>
            </a: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B6167308-9F25-E381-B42D-330F839DF643}"/>
              </a:ext>
            </a:extLst>
          </p:cNvPr>
          <p:cNvSpPr/>
          <p:nvPr/>
        </p:nvSpPr>
        <p:spPr>
          <a:xfrm>
            <a:off x="873124" y="2066824"/>
            <a:ext cx="1249219" cy="285561"/>
          </a:xfrm>
          <a:prstGeom prst="roundRect">
            <a:avLst>
              <a:gd name="adj" fmla="val 11192"/>
            </a:avLst>
          </a:prstGeom>
          <a:solidFill>
            <a:schemeClr val="bg1"/>
          </a:solidFill>
          <a:ln w="38100">
            <a:solidFill>
              <a:srgbClr val="DC2C3E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050" dirty="0">
                <a:solidFill>
                  <a:schemeClr val="tx1"/>
                </a:solidFill>
                <a:latin typeface="Montserrat" panose="00000500000000000000" pitchFamily="2" charset="0"/>
              </a:rPr>
              <a:t>BMW</a:t>
            </a: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7039AA2A-D816-745B-4484-65A105060AC6}"/>
              </a:ext>
            </a:extLst>
          </p:cNvPr>
          <p:cNvSpPr/>
          <p:nvPr/>
        </p:nvSpPr>
        <p:spPr>
          <a:xfrm>
            <a:off x="869949" y="2446135"/>
            <a:ext cx="1249219" cy="285561"/>
          </a:xfrm>
          <a:prstGeom prst="roundRect">
            <a:avLst>
              <a:gd name="adj" fmla="val 11192"/>
            </a:avLst>
          </a:prstGeom>
          <a:solidFill>
            <a:schemeClr val="bg1"/>
          </a:solidFill>
          <a:ln w="38100">
            <a:solidFill>
              <a:srgbClr val="DC2C3E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050" dirty="0">
                <a:solidFill>
                  <a:schemeClr val="tx1"/>
                </a:solidFill>
                <a:latin typeface="Montserrat" panose="00000500000000000000" pitchFamily="2" charset="0"/>
              </a:rPr>
              <a:t>FORD</a:t>
            </a: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3984C400-43C3-DD70-D23F-739342C38680}"/>
              </a:ext>
            </a:extLst>
          </p:cNvPr>
          <p:cNvSpPr/>
          <p:nvPr/>
        </p:nvSpPr>
        <p:spPr>
          <a:xfrm>
            <a:off x="857248" y="2828621"/>
            <a:ext cx="1258454" cy="285561"/>
          </a:xfrm>
          <a:prstGeom prst="roundRect">
            <a:avLst>
              <a:gd name="adj" fmla="val 11192"/>
            </a:avLst>
          </a:prstGeom>
          <a:solidFill>
            <a:schemeClr val="bg1"/>
          </a:solidFill>
          <a:ln w="38100">
            <a:solidFill>
              <a:srgbClr val="DC2C3E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050" dirty="0">
                <a:solidFill>
                  <a:schemeClr val="tx1"/>
                </a:solidFill>
                <a:latin typeface="Montserrat" panose="00000500000000000000" pitchFamily="2" charset="0"/>
              </a:rPr>
              <a:t>HYUNDI</a:t>
            </a:r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07C55F06-FAF1-A563-666E-EDEE57193AAA}"/>
              </a:ext>
            </a:extLst>
          </p:cNvPr>
          <p:cNvSpPr/>
          <p:nvPr/>
        </p:nvSpPr>
        <p:spPr>
          <a:xfrm>
            <a:off x="866482" y="3207932"/>
            <a:ext cx="1249220" cy="285561"/>
          </a:xfrm>
          <a:prstGeom prst="roundRect">
            <a:avLst>
              <a:gd name="adj" fmla="val 11192"/>
            </a:avLst>
          </a:prstGeom>
          <a:solidFill>
            <a:schemeClr val="bg1"/>
          </a:solidFill>
          <a:ln w="38100">
            <a:solidFill>
              <a:srgbClr val="DC2C3E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050" dirty="0">
                <a:solidFill>
                  <a:schemeClr val="tx1"/>
                </a:solidFill>
                <a:latin typeface="Montserrat" panose="00000500000000000000" pitchFamily="2" charset="0"/>
              </a:rPr>
              <a:t>MERCEDES</a:t>
            </a: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143AEF86-D2DF-4BBE-A8BB-3BFEA7FC1AA1}"/>
              </a:ext>
            </a:extLst>
          </p:cNvPr>
          <p:cNvSpPr/>
          <p:nvPr/>
        </p:nvSpPr>
        <p:spPr>
          <a:xfrm>
            <a:off x="866482" y="3590418"/>
            <a:ext cx="1249220" cy="285561"/>
          </a:xfrm>
          <a:prstGeom prst="roundRect">
            <a:avLst>
              <a:gd name="adj" fmla="val 11192"/>
            </a:avLst>
          </a:prstGeom>
          <a:solidFill>
            <a:schemeClr val="bg1"/>
          </a:solidFill>
          <a:ln w="38100">
            <a:solidFill>
              <a:srgbClr val="DC2C3E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050" dirty="0">
                <a:solidFill>
                  <a:schemeClr val="tx1"/>
                </a:solidFill>
                <a:latin typeface="Montserrat" panose="00000500000000000000" pitchFamily="2" charset="0"/>
              </a:rPr>
              <a:t>SKODA</a:t>
            </a:r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A792C13B-7899-4758-6362-08956C658EEC}"/>
              </a:ext>
            </a:extLst>
          </p:cNvPr>
          <p:cNvSpPr/>
          <p:nvPr/>
        </p:nvSpPr>
        <p:spPr>
          <a:xfrm>
            <a:off x="866482" y="3967959"/>
            <a:ext cx="1249220" cy="285561"/>
          </a:xfrm>
          <a:prstGeom prst="roundRect">
            <a:avLst>
              <a:gd name="adj" fmla="val 11192"/>
            </a:avLst>
          </a:prstGeom>
          <a:solidFill>
            <a:schemeClr val="bg1"/>
          </a:solidFill>
          <a:ln w="38100">
            <a:solidFill>
              <a:srgbClr val="DC2C3E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050" dirty="0">
                <a:solidFill>
                  <a:schemeClr val="tx1"/>
                </a:solidFill>
                <a:latin typeface="Montserrat" panose="00000500000000000000" pitchFamily="2" charset="0"/>
              </a:rPr>
              <a:t>TOYOTA</a:t>
            </a:r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18DBD99C-BB46-D6B3-2AC8-91A841C77771}"/>
              </a:ext>
            </a:extLst>
          </p:cNvPr>
          <p:cNvSpPr/>
          <p:nvPr/>
        </p:nvSpPr>
        <p:spPr>
          <a:xfrm>
            <a:off x="866482" y="4352215"/>
            <a:ext cx="1239986" cy="285561"/>
          </a:xfrm>
          <a:prstGeom prst="roundRect">
            <a:avLst>
              <a:gd name="adj" fmla="val 11192"/>
            </a:avLst>
          </a:prstGeom>
          <a:solidFill>
            <a:schemeClr val="bg1"/>
          </a:solidFill>
          <a:ln w="38100">
            <a:solidFill>
              <a:srgbClr val="DC2C3E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050" dirty="0">
                <a:solidFill>
                  <a:schemeClr val="tx1"/>
                </a:solidFill>
                <a:latin typeface="Montserrat" panose="00000500000000000000" pitchFamily="2" charset="0"/>
              </a:rPr>
              <a:t>VAUXHALL</a:t>
            </a:r>
          </a:p>
        </p:txBody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36452767-84E2-6679-7D0F-C568CF9E925B}"/>
              </a:ext>
            </a:extLst>
          </p:cNvPr>
          <p:cNvSpPr/>
          <p:nvPr/>
        </p:nvSpPr>
        <p:spPr>
          <a:xfrm>
            <a:off x="866482" y="4735628"/>
            <a:ext cx="1239986" cy="285561"/>
          </a:xfrm>
          <a:prstGeom prst="roundRect">
            <a:avLst>
              <a:gd name="adj" fmla="val 11192"/>
            </a:avLst>
          </a:prstGeom>
          <a:solidFill>
            <a:schemeClr val="bg1"/>
          </a:solidFill>
          <a:ln w="38100">
            <a:solidFill>
              <a:srgbClr val="DC2C3E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050" dirty="0">
                <a:solidFill>
                  <a:schemeClr val="tx1"/>
                </a:solidFill>
                <a:latin typeface="Montserrat" panose="00000500000000000000" pitchFamily="2" charset="0"/>
              </a:rPr>
              <a:t>VOLKSWAGEN</a:t>
            </a:r>
          </a:p>
        </p:txBody>
      </p: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99C5B450-1054-750D-57D0-85426E6BC7AA}"/>
              </a:ext>
            </a:extLst>
          </p:cNvPr>
          <p:cNvSpPr/>
          <p:nvPr/>
        </p:nvSpPr>
        <p:spPr>
          <a:xfrm>
            <a:off x="853491" y="5110256"/>
            <a:ext cx="1249220" cy="285561"/>
          </a:xfrm>
          <a:prstGeom prst="roundRect">
            <a:avLst>
              <a:gd name="adj" fmla="val 11192"/>
            </a:avLst>
          </a:prstGeom>
          <a:solidFill>
            <a:schemeClr val="bg1"/>
          </a:solidFill>
          <a:ln w="38100">
            <a:solidFill>
              <a:srgbClr val="DC2C3E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050" dirty="0">
                <a:solidFill>
                  <a:schemeClr val="tx1"/>
                </a:solidFill>
                <a:latin typeface="Montserrat" panose="00000500000000000000" pitchFamily="2" charset="0"/>
              </a:rPr>
              <a:t>BCLASS</a:t>
            </a:r>
          </a:p>
        </p:txBody>
      </p:sp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FA94BC45-0BE7-3F2F-BFDE-B1BF87D14D66}"/>
              </a:ext>
            </a:extLst>
          </p:cNvPr>
          <p:cNvSpPr/>
          <p:nvPr/>
        </p:nvSpPr>
        <p:spPr>
          <a:xfrm>
            <a:off x="853782" y="5495917"/>
            <a:ext cx="1249220" cy="285561"/>
          </a:xfrm>
          <a:prstGeom prst="roundRect">
            <a:avLst>
              <a:gd name="adj" fmla="val 11192"/>
            </a:avLst>
          </a:prstGeom>
          <a:solidFill>
            <a:schemeClr val="bg1"/>
          </a:solidFill>
          <a:ln w="38100">
            <a:solidFill>
              <a:srgbClr val="DC2C3E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050" dirty="0">
                <a:solidFill>
                  <a:schemeClr val="tx1"/>
                </a:solidFill>
                <a:latin typeface="Montserrat" panose="00000500000000000000" pitchFamily="2" charset="0"/>
              </a:rPr>
              <a:t>FIESTA</a:t>
            </a:r>
          </a:p>
        </p:txBody>
      </p: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F6C4C21E-9A49-6CA2-CB69-308E8C1E3B58}"/>
              </a:ext>
            </a:extLst>
          </p:cNvPr>
          <p:cNvSpPr/>
          <p:nvPr/>
        </p:nvSpPr>
        <p:spPr>
          <a:xfrm>
            <a:off x="856666" y="5875228"/>
            <a:ext cx="1239986" cy="285561"/>
          </a:xfrm>
          <a:prstGeom prst="roundRect">
            <a:avLst>
              <a:gd name="adj" fmla="val 11192"/>
            </a:avLst>
          </a:prstGeom>
          <a:solidFill>
            <a:schemeClr val="bg1"/>
          </a:solidFill>
          <a:ln w="38100">
            <a:solidFill>
              <a:srgbClr val="DC2C3E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050" dirty="0">
                <a:solidFill>
                  <a:schemeClr val="tx1"/>
                </a:solidFill>
                <a:latin typeface="Montserrat" panose="00000500000000000000" pitchFamily="2" charset="0"/>
              </a:rPr>
              <a:t>CCLASS</a:t>
            </a:r>
          </a:p>
        </p:txBody>
      </p:sp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F2385A68-104E-386E-590D-149E3AF65CBF}"/>
              </a:ext>
            </a:extLst>
          </p:cNvPr>
          <p:cNvSpPr/>
          <p:nvPr/>
        </p:nvSpPr>
        <p:spPr>
          <a:xfrm>
            <a:off x="859841" y="6255466"/>
            <a:ext cx="1239986" cy="285561"/>
          </a:xfrm>
          <a:prstGeom prst="roundRect">
            <a:avLst>
              <a:gd name="adj" fmla="val 11192"/>
            </a:avLst>
          </a:prstGeom>
          <a:solidFill>
            <a:schemeClr val="bg1"/>
          </a:solidFill>
          <a:ln w="38100">
            <a:solidFill>
              <a:srgbClr val="DC2C3E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050" dirty="0">
                <a:solidFill>
                  <a:schemeClr val="tx1"/>
                </a:solidFill>
                <a:latin typeface="Montserrat" panose="00000500000000000000" pitchFamily="2" charset="0"/>
              </a:rPr>
              <a:t>FOCUS</a:t>
            </a:r>
          </a:p>
        </p:txBody>
      </p:sp>
      <p:sp>
        <p:nvSpPr>
          <p:cNvPr id="18" name="Rectangle: Rounded Corners 17">
            <a:extLst>
              <a:ext uri="{FF2B5EF4-FFF2-40B4-BE49-F238E27FC236}">
                <a16:creationId xmlns:a16="http://schemas.microsoft.com/office/drawing/2014/main" id="{A8C8B01F-9D8F-D643-BBDC-BA67F2958956}"/>
              </a:ext>
            </a:extLst>
          </p:cNvPr>
          <p:cNvSpPr/>
          <p:nvPr/>
        </p:nvSpPr>
        <p:spPr>
          <a:xfrm>
            <a:off x="3309222" y="3207932"/>
            <a:ext cx="1258452" cy="285561"/>
          </a:xfrm>
          <a:prstGeom prst="roundRect">
            <a:avLst>
              <a:gd name="adj" fmla="val 11192"/>
            </a:avLst>
          </a:prstGeom>
          <a:solidFill>
            <a:schemeClr val="bg1"/>
          </a:solidFill>
          <a:ln w="38100">
            <a:solidFill>
              <a:srgbClr val="DC2C3E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050" dirty="0">
                <a:solidFill>
                  <a:schemeClr val="tx1"/>
                </a:solidFill>
                <a:latin typeface="Montserrat" panose="00000500000000000000" pitchFamily="2" charset="0"/>
              </a:rPr>
              <a:t>TYPE_A_VIEW</a:t>
            </a:r>
          </a:p>
        </p:txBody>
      </p:sp>
      <p:sp>
        <p:nvSpPr>
          <p:cNvPr id="19" name="Rectangle: Rounded Corners 18">
            <a:extLst>
              <a:ext uri="{FF2B5EF4-FFF2-40B4-BE49-F238E27FC236}">
                <a16:creationId xmlns:a16="http://schemas.microsoft.com/office/drawing/2014/main" id="{C43D3BEA-1818-8866-33C7-68AB2DA82CF6}"/>
              </a:ext>
            </a:extLst>
          </p:cNvPr>
          <p:cNvSpPr/>
          <p:nvPr/>
        </p:nvSpPr>
        <p:spPr>
          <a:xfrm>
            <a:off x="3309222" y="5264858"/>
            <a:ext cx="1258452" cy="285561"/>
          </a:xfrm>
          <a:prstGeom prst="roundRect">
            <a:avLst>
              <a:gd name="adj" fmla="val 11192"/>
            </a:avLst>
          </a:prstGeom>
          <a:solidFill>
            <a:schemeClr val="bg1"/>
          </a:solidFill>
          <a:ln w="38100">
            <a:solidFill>
              <a:srgbClr val="DC2C3E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050" dirty="0">
                <a:solidFill>
                  <a:schemeClr val="tx1"/>
                </a:solidFill>
                <a:latin typeface="Montserrat" panose="00000500000000000000" pitchFamily="2" charset="0"/>
              </a:rPr>
              <a:t>TYPE_B_VIEW</a:t>
            </a:r>
          </a:p>
        </p:txBody>
      </p:sp>
      <p:sp>
        <p:nvSpPr>
          <p:cNvPr id="20" name="Rectangle: Rounded Corners 19">
            <a:extLst>
              <a:ext uri="{FF2B5EF4-FFF2-40B4-BE49-F238E27FC236}">
                <a16:creationId xmlns:a16="http://schemas.microsoft.com/office/drawing/2014/main" id="{9422FDAC-8DD3-F41A-0D0D-0BB61021DBAF}"/>
              </a:ext>
            </a:extLst>
          </p:cNvPr>
          <p:cNvSpPr/>
          <p:nvPr/>
        </p:nvSpPr>
        <p:spPr>
          <a:xfrm>
            <a:off x="3295578" y="6090214"/>
            <a:ext cx="1258452" cy="285561"/>
          </a:xfrm>
          <a:prstGeom prst="roundRect">
            <a:avLst>
              <a:gd name="adj" fmla="val 11192"/>
            </a:avLst>
          </a:prstGeom>
          <a:solidFill>
            <a:schemeClr val="bg1"/>
          </a:solidFill>
          <a:ln w="38100">
            <a:solidFill>
              <a:srgbClr val="DC2C3E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050" dirty="0">
                <a:solidFill>
                  <a:schemeClr val="tx1"/>
                </a:solidFill>
                <a:latin typeface="Montserrat" panose="00000500000000000000" pitchFamily="2" charset="0"/>
              </a:rPr>
              <a:t>TYPE_C_VIEW</a:t>
            </a:r>
          </a:p>
        </p:txBody>
      </p:sp>
      <p:sp>
        <p:nvSpPr>
          <p:cNvPr id="21" name="Rectangle: Rounded Corners 20">
            <a:extLst>
              <a:ext uri="{FF2B5EF4-FFF2-40B4-BE49-F238E27FC236}">
                <a16:creationId xmlns:a16="http://schemas.microsoft.com/office/drawing/2014/main" id="{E9CC1300-FE55-56A7-A312-8D97989932C3}"/>
              </a:ext>
            </a:extLst>
          </p:cNvPr>
          <p:cNvSpPr/>
          <p:nvPr/>
        </p:nvSpPr>
        <p:spPr>
          <a:xfrm>
            <a:off x="5529586" y="6090213"/>
            <a:ext cx="1766455" cy="285561"/>
          </a:xfrm>
          <a:prstGeom prst="roundRect">
            <a:avLst>
              <a:gd name="adj" fmla="val 11192"/>
            </a:avLst>
          </a:prstGeom>
          <a:solidFill>
            <a:schemeClr val="bg1"/>
          </a:solidFill>
          <a:ln w="38100">
            <a:solidFill>
              <a:srgbClr val="DC2C3E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050" dirty="0">
                <a:solidFill>
                  <a:schemeClr val="tx1"/>
                </a:solidFill>
                <a:latin typeface="Montserrat" panose="00000500000000000000" pitchFamily="2" charset="0"/>
              </a:rPr>
              <a:t>UNIFIED_CARS_VIEW</a:t>
            </a:r>
          </a:p>
        </p:txBody>
      </p:sp>
      <p:cxnSp>
        <p:nvCxnSpPr>
          <p:cNvPr id="52" name="Straight Connector 51">
            <a:extLst>
              <a:ext uri="{FF2B5EF4-FFF2-40B4-BE49-F238E27FC236}">
                <a16:creationId xmlns:a16="http://schemas.microsoft.com/office/drawing/2014/main" id="{3D0920B0-82D8-22AF-9898-1E5159B02875}"/>
              </a:ext>
            </a:extLst>
          </p:cNvPr>
          <p:cNvCxnSpPr>
            <a:cxnSpLocks/>
          </p:cNvCxnSpPr>
          <p:nvPr/>
        </p:nvCxnSpPr>
        <p:spPr>
          <a:xfrm>
            <a:off x="2637386" y="5236008"/>
            <a:ext cx="0" cy="433748"/>
          </a:xfrm>
          <a:prstGeom prst="line">
            <a:avLst/>
          </a:prstGeom>
          <a:ln w="38100">
            <a:solidFill>
              <a:srgbClr val="4D6C75"/>
            </a:solidFill>
            <a:prstDash val="sysDot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" name="Straight Connector 55">
            <a:extLst>
              <a:ext uri="{FF2B5EF4-FFF2-40B4-BE49-F238E27FC236}">
                <a16:creationId xmlns:a16="http://schemas.microsoft.com/office/drawing/2014/main" id="{6E11D715-CF76-854A-ECE2-9D2050D6CF42}"/>
              </a:ext>
            </a:extLst>
          </p:cNvPr>
          <p:cNvCxnSpPr>
            <a:cxnSpLocks/>
          </p:cNvCxnSpPr>
          <p:nvPr/>
        </p:nvCxnSpPr>
        <p:spPr>
          <a:xfrm>
            <a:off x="2628438" y="6001341"/>
            <a:ext cx="0" cy="433748"/>
          </a:xfrm>
          <a:prstGeom prst="line">
            <a:avLst/>
          </a:prstGeom>
          <a:ln w="38100">
            <a:solidFill>
              <a:srgbClr val="4D6C75"/>
            </a:solidFill>
            <a:prstDash val="sysDot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1" name="Straight Connector 60">
            <a:extLst>
              <a:ext uri="{FF2B5EF4-FFF2-40B4-BE49-F238E27FC236}">
                <a16:creationId xmlns:a16="http://schemas.microsoft.com/office/drawing/2014/main" id="{241B2487-604D-EAC2-D9C1-7D60D398E25E}"/>
              </a:ext>
            </a:extLst>
          </p:cNvPr>
          <p:cNvCxnSpPr>
            <a:cxnSpLocks/>
          </p:cNvCxnSpPr>
          <p:nvPr/>
        </p:nvCxnSpPr>
        <p:spPr>
          <a:xfrm>
            <a:off x="2609846" y="6248315"/>
            <a:ext cx="676208" cy="0"/>
          </a:xfrm>
          <a:prstGeom prst="line">
            <a:avLst/>
          </a:prstGeom>
          <a:ln w="38100">
            <a:solidFill>
              <a:srgbClr val="4D6C75"/>
            </a:solidFill>
            <a:prstDash val="sysDot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2" name="Straight Connector 61">
            <a:extLst>
              <a:ext uri="{FF2B5EF4-FFF2-40B4-BE49-F238E27FC236}">
                <a16:creationId xmlns:a16="http://schemas.microsoft.com/office/drawing/2014/main" id="{82924BBF-A2FE-715F-01BA-0071C7679AB5}"/>
              </a:ext>
            </a:extLst>
          </p:cNvPr>
          <p:cNvCxnSpPr>
            <a:cxnSpLocks/>
          </p:cNvCxnSpPr>
          <p:nvPr/>
        </p:nvCxnSpPr>
        <p:spPr>
          <a:xfrm>
            <a:off x="4617715" y="3350712"/>
            <a:ext cx="465460" cy="0"/>
          </a:xfrm>
          <a:prstGeom prst="line">
            <a:avLst/>
          </a:prstGeom>
          <a:ln w="38100">
            <a:solidFill>
              <a:srgbClr val="4D6C75"/>
            </a:solidFill>
            <a:prstDash val="sysDot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4" name="Straight Connector 63">
            <a:extLst>
              <a:ext uri="{FF2B5EF4-FFF2-40B4-BE49-F238E27FC236}">
                <a16:creationId xmlns:a16="http://schemas.microsoft.com/office/drawing/2014/main" id="{411DCF19-767C-C564-5327-44061CBC4EAA}"/>
              </a:ext>
            </a:extLst>
          </p:cNvPr>
          <p:cNvCxnSpPr>
            <a:cxnSpLocks/>
          </p:cNvCxnSpPr>
          <p:nvPr/>
        </p:nvCxnSpPr>
        <p:spPr>
          <a:xfrm flipH="1">
            <a:off x="5083175" y="3330516"/>
            <a:ext cx="8766" cy="2965509"/>
          </a:xfrm>
          <a:prstGeom prst="line">
            <a:avLst/>
          </a:prstGeom>
          <a:ln w="38100">
            <a:solidFill>
              <a:srgbClr val="4D6C75"/>
            </a:solidFill>
            <a:prstDash val="sysDot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0" name="Straight Connector 69">
            <a:extLst>
              <a:ext uri="{FF2B5EF4-FFF2-40B4-BE49-F238E27FC236}">
                <a16:creationId xmlns:a16="http://schemas.microsoft.com/office/drawing/2014/main" id="{7764ABDB-FD05-7847-4ABE-35F02B684CFA}"/>
              </a:ext>
            </a:extLst>
          </p:cNvPr>
          <p:cNvCxnSpPr>
            <a:cxnSpLocks/>
          </p:cNvCxnSpPr>
          <p:nvPr/>
        </p:nvCxnSpPr>
        <p:spPr>
          <a:xfrm>
            <a:off x="4617715" y="5407638"/>
            <a:ext cx="465460" cy="0"/>
          </a:xfrm>
          <a:prstGeom prst="line">
            <a:avLst/>
          </a:prstGeom>
          <a:ln w="38100">
            <a:solidFill>
              <a:srgbClr val="4D6C75"/>
            </a:solidFill>
            <a:prstDash val="sysDot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1" name="Straight Connector 70">
            <a:extLst>
              <a:ext uri="{FF2B5EF4-FFF2-40B4-BE49-F238E27FC236}">
                <a16:creationId xmlns:a16="http://schemas.microsoft.com/office/drawing/2014/main" id="{8715969A-4002-57B9-6775-1E17C63B4424}"/>
              </a:ext>
            </a:extLst>
          </p:cNvPr>
          <p:cNvCxnSpPr>
            <a:cxnSpLocks/>
          </p:cNvCxnSpPr>
          <p:nvPr/>
        </p:nvCxnSpPr>
        <p:spPr>
          <a:xfrm>
            <a:off x="4611365" y="6244795"/>
            <a:ext cx="465460" cy="0"/>
          </a:xfrm>
          <a:prstGeom prst="line">
            <a:avLst/>
          </a:prstGeom>
          <a:ln w="38100">
            <a:solidFill>
              <a:srgbClr val="4D6C75"/>
            </a:solidFill>
            <a:prstDash val="sysDot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74" name="Picture 73">
            <a:extLst>
              <a:ext uri="{FF2B5EF4-FFF2-40B4-BE49-F238E27FC236}">
                <a16:creationId xmlns:a16="http://schemas.microsoft.com/office/drawing/2014/main" id="{603875FD-C13F-E1A8-4723-3A79CB251D7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92714" y="850941"/>
            <a:ext cx="2384307" cy="5515598"/>
          </a:xfrm>
          <a:prstGeom prst="rect">
            <a:avLst/>
          </a:prstGeom>
        </p:spPr>
      </p:pic>
      <p:sp>
        <p:nvSpPr>
          <p:cNvPr id="77" name="Contents Heading">
            <a:extLst>
              <a:ext uri="{FF2B5EF4-FFF2-40B4-BE49-F238E27FC236}">
                <a16:creationId xmlns:a16="http://schemas.microsoft.com/office/drawing/2014/main" id="{EB50E68D-4CBD-11C2-2C2B-1C183D4573C0}"/>
              </a:ext>
            </a:extLst>
          </p:cNvPr>
          <p:cNvSpPr txBox="1"/>
          <p:nvPr/>
        </p:nvSpPr>
        <p:spPr>
          <a:xfrm>
            <a:off x="5836322" y="1652856"/>
            <a:ext cx="3040394" cy="461665"/>
          </a:xfrm>
          <a:prstGeom prst="rect">
            <a:avLst/>
          </a:prstGeom>
          <a:noFill/>
        </p:spPr>
        <p:txBody>
          <a:bodyPr wrap="square" rtlCol="0" anchor="ctr">
            <a:noAutofit/>
          </a:bodyPr>
          <a:lstStyle/>
          <a:p>
            <a:r>
              <a:rPr lang="en-GB" sz="2400" dirty="0">
                <a:solidFill>
                  <a:srgbClr val="DC2C3E"/>
                </a:solidFill>
                <a:latin typeface="Montserrat" panose="00000500000000000000" pitchFamily="2" charset="0"/>
              </a:rPr>
              <a:t>Merging Views</a:t>
            </a:r>
          </a:p>
        </p:txBody>
      </p:sp>
      <p:sp>
        <p:nvSpPr>
          <p:cNvPr id="78" name="Heading Bar">
            <a:extLst>
              <a:ext uri="{FF2B5EF4-FFF2-40B4-BE49-F238E27FC236}">
                <a16:creationId xmlns:a16="http://schemas.microsoft.com/office/drawing/2014/main" id="{9C936B27-E6FB-BAFE-9400-59E8E628B560}"/>
              </a:ext>
            </a:extLst>
          </p:cNvPr>
          <p:cNvSpPr/>
          <p:nvPr/>
        </p:nvSpPr>
        <p:spPr>
          <a:xfrm>
            <a:off x="5726202" y="1679163"/>
            <a:ext cx="61913" cy="390387"/>
          </a:xfrm>
          <a:prstGeom prst="rect">
            <a:avLst/>
          </a:prstGeom>
          <a:solidFill>
            <a:srgbClr val="DC2C3E"/>
          </a:solidFill>
          <a:ln>
            <a:noFill/>
          </a:ln>
        </p:spPr>
        <p:txBody>
          <a:bodyPr rtlCol="0" anchor="ctr"/>
          <a:lstStyle/>
          <a:p>
            <a:pPr algn="ctr"/>
            <a:endParaRPr lang="en-GB" dirty="0">
              <a:solidFill>
                <a:srgbClr val="DC2C3E"/>
              </a:solidFill>
            </a:endParaRPr>
          </a:p>
        </p:txBody>
      </p:sp>
      <p:sp>
        <p:nvSpPr>
          <p:cNvPr id="79" name="Checklist">
            <a:extLst>
              <a:ext uri="{FF2B5EF4-FFF2-40B4-BE49-F238E27FC236}">
                <a16:creationId xmlns:a16="http://schemas.microsoft.com/office/drawing/2014/main" id="{BA3EF43C-6CE2-76B3-09F7-D2C754D106C3}"/>
              </a:ext>
            </a:extLst>
          </p:cNvPr>
          <p:cNvSpPr txBox="1"/>
          <p:nvPr/>
        </p:nvSpPr>
        <p:spPr>
          <a:xfrm>
            <a:off x="5726202" y="2251699"/>
            <a:ext cx="3000000" cy="3222106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285750" indent="-285750">
              <a:spcAft>
                <a:spcPts val="500"/>
              </a:spcAft>
              <a:buFont typeface="Arial" panose="020B0604020202020204" pitchFamily="34" charset="0"/>
              <a:buChar char="•"/>
            </a:pPr>
            <a:r>
              <a:rPr lang="en-GB" sz="1400" dirty="0">
                <a:solidFill>
                  <a:srgbClr val="1A1A1A"/>
                </a:solidFill>
                <a:latin typeface="Montserrat" panose="00000500000000000000" pitchFamily="2" charset="0"/>
              </a:rPr>
              <a:t>TYPE VIEWs</a:t>
            </a:r>
          </a:p>
          <a:p>
            <a:pPr lvl="1">
              <a:spcAft>
                <a:spcPts val="1000"/>
              </a:spcAft>
            </a:pPr>
            <a:r>
              <a:rPr lang="en-GB" sz="1100" dirty="0">
                <a:solidFill>
                  <a:srgbClr val="1A1A1A"/>
                </a:solidFill>
                <a:latin typeface="Montserrat" panose="00000500000000000000" pitchFamily="2" charset="0"/>
              </a:rPr>
              <a:t>Datasets of the same table structure were merged into views first for interpretability.</a:t>
            </a:r>
          </a:p>
          <a:p>
            <a:pPr marL="285750" indent="-285750">
              <a:spcAft>
                <a:spcPts val="500"/>
              </a:spcAft>
              <a:buFont typeface="Arial" panose="020B0604020202020204" pitchFamily="34" charset="0"/>
              <a:buChar char="•"/>
            </a:pPr>
            <a:r>
              <a:rPr lang="en-GB" sz="1400" dirty="0">
                <a:solidFill>
                  <a:srgbClr val="1A1A1A"/>
                </a:solidFill>
                <a:latin typeface="Montserrat" panose="00000500000000000000" pitchFamily="2" charset="0"/>
              </a:rPr>
              <a:t>Unified View</a:t>
            </a:r>
          </a:p>
          <a:p>
            <a:pPr lvl="1">
              <a:spcAft>
                <a:spcPts val="1000"/>
              </a:spcAft>
            </a:pPr>
            <a:r>
              <a:rPr lang="en-GB" sz="1100" dirty="0">
                <a:solidFill>
                  <a:srgbClr val="1A1A1A"/>
                </a:solidFill>
                <a:latin typeface="Montserrat" panose="00000500000000000000" pitchFamily="2" charset="0"/>
              </a:rPr>
              <a:t>Due to conflicting data types, all columns were casted as </a:t>
            </a:r>
            <a:r>
              <a:rPr lang="en-GB" sz="1100" b="1" dirty="0">
                <a:solidFill>
                  <a:srgbClr val="4D6C75"/>
                </a:solidFill>
                <a:latin typeface="Montserrat" panose="00000500000000000000" pitchFamily="2" charset="0"/>
              </a:rPr>
              <a:t>VARCHAR</a:t>
            </a:r>
            <a:r>
              <a:rPr lang="en-GB" sz="1100" dirty="0">
                <a:solidFill>
                  <a:srgbClr val="1A1A1A"/>
                </a:solidFill>
                <a:latin typeface="Montserrat" panose="00000500000000000000" pitchFamily="2" charset="0"/>
              </a:rPr>
              <a:t>.</a:t>
            </a:r>
          </a:p>
          <a:p>
            <a:pPr marL="285750" indent="-285750">
              <a:spcAft>
                <a:spcPts val="500"/>
              </a:spcAft>
              <a:buFont typeface="Arial" panose="020B0604020202020204" pitchFamily="34" charset="0"/>
              <a:buChar char="•"/>
            </a:pPr>
            <a:r>
              <a:rPr lang="en-GB" sz="1400" dirty="0">
                <a:solidFill>
                  <a:srgbClr val="1A1A1A"/>
                </a:solidFill>
                <a:latin typeface="Montserrat" panose="00000500000000000000" pitchFamily="2" charset="0"/>
              </a:rPr>
              <a:t>Columns</a:t>
            </a:r>
          </a:p>
          <a:p>
            <a:pPr lvl="1">
              <a:spcAft>
                <a:spcPts val="500"/>
              </a:spcAft>
            </a:pPr>
            <a:r>
              <a:rPr lang="en-GB" sz="1100" b="1" dirty="0">
                <a:solidFill>
                  <a:srgbClr val="4D6C75"/>
                </a:solidFill>
                <a:latin typeface="Montserrat" panose="00000500000000000000" pitchFamily="2" charset="0"/>
              </a:rPr>
              <a:t>13</a:t>
            </a:r>
            <a:r>
              <a:rPr lang="en-GB" sz="1100" dirty="0">
                <a:solidFill>
                  <a:srgbClr val="1A1A1A"/>
                </a:solidFill>
                <a:latin typeface="Montserrat" panose="00000500000000000000" pitchFamily="2" charset="0"/>
              </a:rPr>
              <a:t> total columns.</a:t>
            </a:r>
          </a:p>
          <a:p>
            <a:pPr marL="285750" indent="-285750">
              <a:spcAft>
                <a:spcPts val="500"/>
              </a:spcAft>
              <a:buFont typeface="Arial" panose="020B0604020202020204" pitchFamily="34" charset="0"/>
              <a:buChar char="•"/>
            </a:pPr>
            <a:r>
              <a:rPr lang="en-GB" sz="1400" dirty="0">
                <a:solidFill>
                  <a:srgbClr val="1A1A1A"/>
                </a:solidFill>
                <a:latin typeface="Montserrat" panose="00000500000000000000" pitchFamily="2" charset="0"/>
              </a:rPr>
              <a:t>Column Headers</a:t>
            </a:r>
          </a:p>
          <a:p>
            <a:pPr lvl="1">
              <a:spcAft>
                <a:spcPts val="500"/>
              </a:spcAft>
            </a:pPr>
            <a:r>
              <a:rPr lang="en-GB" sz="1100" b="1" dirty="0">
                <a:solidFill>
                  <a:srgbClr val="4D6C75"/>
                </a:solidFill>
                <a:latin typeface="Montserrat" panose="00000500000000000000" pitchFamily="2" charset="0"/>
              </a:rPr>
              <a:t>camelCase</a:t>
            </a:r>
            <a:r>
              <a:rPr lang="en-GB" sz="1100" dirty="0">
                <a:solidFill>
                  <a:srgbClr val="1A1A1A"/>
                </a:solidFill>
                <a:latin typeface="Montserrat" panose="00000500000000000000" pitchFamily="2" charset="0"/>
              </a:rPr>
              <a:t> was used for consistency, with ‘</a:t>
            </a:r>
            <a:r>
              <a:rPr lang="en-GB" sz="1100" i="1" dirty="0">
                <a:solidFill>
                  <a:srgbClr val="1A1A1A"/>
                </a:solidFill>
                <a:latin typeface="Montserrat" panose="00000500000000000000" pitchFamily="2" charset="0"/>
              </a:rPr>
              <a:t>duplicate</a:t>
            </a:r>
            <a:r>
              <a:rPr lang="en-GB" sz="1100" dirty="0">
                <a:solidFill>
                  <a:srgbClr val="1A1A1A"/>
                </a:solidFill>
                <a:latin typeface="Montserrat" panose="00000500000000000000" pitchFamily="2" charset="0"/>
              </a:rPr>
              <a:t>’ columns having a trailing 2.</a:t>
            </a:r>
            <a:br>
              <a:rPr lang="en-GB" sz="1100" dirty="0">
                <a:solidFill>
                  <a:srgbClr val="1A1A1A"/>
                </a:solidFill>
                <a:latin typeface="Montserrat" panose="00000500000000000000" pitchFamily="2" charset="0"/>
              </a:rPr>
            </a:br>
            <a:r>
              <a:rPr lang="en-GB" sz="1100" dirty="0">
                <a:solidFill>
                  <a:srgbClr val="1A1A1A"/>
                </a:solidFill>
                <a:latin typeface="Montserrat" panose="00000500000000000000" pitchFamily="2" charset="0"/>
              </a:rPr>
              <a:t>e.g. ‘engineSize2’.</a:t>
            </a:r>
          </a:p>
          <a:p>
            <a:pPr lvl="1">
              <a:spcAft>
                <a:spcPts val="500"/>
              </a:spcAft>
            </a:pPr>
            <a:endParaRPr lang="en-GB" sz="1400" dirty="0">
              <a:solidFill>
                <a:srgbClr val="1A1A1A"/>
              </a:solidFill>
              <a:latin typeface="Montserrat" panose="000005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7234502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07EABA-DC79-3F6B-5BE8-C0255EBDC6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Montserrat SemiBold" panose="00000700000000000000" pitchFamily="2" charset="0"/>
              </a:rPr>
              <a:t>DATA PROFILING</a:t>
            </a:r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E6F9B751-756B-421C-FDDE-3FB7FDA56971}"/>
              </a:ext>
            </a:extLst>
          </p:cNvPr>
          <p:cNvGrpSpPr>
            <a:grpSpLocks noChangeAspect="1"/>
          </p:cNvGrpSpPr>
          <p:nvPr/>
        </p:nvGrpSpPr>
        <p:grpSpPr>
          <a:xfrm>
            <a:off x="845644" y="2150556"/>
            <a:ext cx="5939834" cy="1039006"/>
            <a:chOff x="838200" y="2697018"/>
            <a:chExt cx="6504992" cy="1137864"/>
          </a:xfrm>
        </p:grpSpPr>
        <p:sp>
          <p:nvSpPr>
            <p:cNvPr id="4" name="Image Card">
              <a:extLst>
                <a:ext uri="{FF2B5EF4-FFF2-40B4-BE49-F238E27FC236}">
                  <a16:creationId xmlns:a16="http://schemas.microsoft.com/office/drawing/2014/main" id="{E686B0DC-5C8C-2BF3-7102-533CB0A1E1BC}"/>
                </a:ext>
              </a:extLst>
            </p:cNvPr>
            <p:cNvSpPr/>
            <p:nvPr/>
          </p:nvSpPr>
          <p:spPr>
            <a:xfrm>
              <a:off x="838200" y="2697018"/>
              <a:ext cx="6504992" cy="1137864"/>
            </a:xfrm>
            <a:prstGeom prst="roundRect">
              <a:avLst>
                <a:gd name="adj" fmla="val 4000"/>
              </a:avLst>
            </a:prstGeom>
            <a:solidFill>
              <a:schemeClr val="bg1"/>
            </a:solidFill>
            <a:ln w="9525">
              <a:solidFill>
                <a:srgbClr val="E3DCCB"/>
              </a:solidFill>
            </a:ln>
            <a:effectLst>
              <a:outerShdw blurRad="90000" dist="38100" dir="5400000" rotWithShape="0">
                <a:srgbClr val="000000">
                  <a:alpha val="22000"/>
                </a:srgbClr>
              </a:outerShdw>
            </a:effectLst>
          </p:spPr>
          <p:txBody>
            <a:bodyPr rtlCol="0" anchor="ctr"/>
            <a:lstStyle/>
            <a:p>
              <a:pPr algn="ctr"/>
              <a:endParaRPr lang="en-GB" dirty="0"/>
            </a:p>
          </p:txBody>
        </p:sp>
        <p:pic>
          <p:nvPicPr>
            <p:cNvPr id="6" name="Picture 5">
              <a:extLst>
                <a:ext uri="{FF2B5EF4-FFF2-40B4-BE49-F238E27FC236}">
                  <a16:creationId xmlns:a16="http://schemas.microsoft.com/office/drawing/2014/main" id="{6BDD75B0-A82E-43D8-6B09-651D688AF4DF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906117" y="2763966"/>
              <a:ext cx="6395111" cy="1009228"/>
            </a:xfrm>
            <a:prstGeom prst="rect">
              <a:avLst/>
            </a:prstGeom>
          </p:spPr>
        </p:pic>
      </p:grpSp>
      <p:grpSp>
        <p:nvGrpSpPr>
          <p:cNvPr id="11" name="Group 10">
            <a:extLst>
              <a:ext uri="{FF2B5EF4-FFF2-40B4-BE49-F238E27FC236}">
                <a16:creationId xmlns:a16="http://schemas.microsoft.com/office/drawing/2014/main" id="{16B7DB57-C5F9-C104-862A-C912B0CEFC8B}"/>
              </a:ext>
            </a:extLst>
          </p:cNvPr>
          <p:cNvGrpSpPr>
            <a:grpSpLocks noChangeAspect="1"/>
          </p:cNvGrpSpPr>
          <p:nvPr/>
        </p:nvGrpSpPr>
        <p:grpSpPr>
          <a:xfrm>
            <a:off x="7658688" y="1131769"/>
            <a:ext cx="3646549" cy="5361106"/>
            <a:chOff x="7853501" y="365125"/>
            <a:chExt cx="4133243" cy="6076636"/>
          </a:xfrm>
        </p:grpSpPr>
        <p:sp>
          <p:nvSpPr>
            <p:cNvPr id="10" name="Image Card">
              <a:extLst>
                <a:ext uri="{FF2B5EF4-FFF2-40B4-BE49-F238E27FC236}">
                  <a16:creationId xmlns:a16="http://schemas.microsoft.com/office/drawing/2014/main" id="{B174C747-B324-3980-2DBA-E7EB07121587}"/>
                </a:ext>
              </a:extLst>
            </p:cNvPr>
            <p:cNvSpPr/>
            <p:nvPr/>
          </p:nvSpPr>
          <p:spPr>
            <a:xfrm>
              <a:off x="7853501" y="365125"/>
              <a:ext cx="4133243" cy="6076636"/>
            </a:xfrm>
            <a:prstGeom prst="roundRect">
              <a:avLst>
                <a:gd name="adj" fmla="val 2659"/>
              </a:avLst>
            </a:prstGeom>
            <a:solidFill>
              <a:schemeClr val="bg1"/>
            </a:solidFill>
            <a:ln w="9525">
              <a:solidFill>
                <a:srgbClr val="E3DCCB"/>
              </a:solidFill>
            </a:ln>
            <a:effectLst>
              <a:outerShdw blurRad="90000" dist="38100" dir="5400000" rotWithShape="0">
                <a:srgbClr val="000000">
                  <a:alpha val="22000"/>
                </a:srgbClr>
              </a:outerShdw>
            </a:effectLst>
          </p:spPr>
          <p:txBody>
            <a:bodyPr rtlCol="0" anchor="ctr"/>
            <a:lstStyle/>
            <a:p>
              <a:pPr algn="ctr"/>
              <a:endParaRPr lang="en-GB" dirty="0"/>
            </a:p>
          </p:txBody>
        </p:sp>
        <p:pic>
          <p:nvPicPr>
            <p:cNvPr id="9" name="Picture 8">
              <a:extLst>
                <a:ext uri="{FF2B5EF4-FFF2-40B4-BE49-F238E27FC236}">
                  <a16:creationId xmlns:a16="http://schemas.microsoft.com/office/drawing/2014/main" id="{4C419E87-F6D5-D6C5-404F-6BEEBF449611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7900320" y="425475"/>
              <a:ext cx="4030741" cy="5956854"/>
            </a:xfrm>
            <a:prstGeom prst="rect">
              <a:avLst/>
            </a:prstGeom>
          </p:spPr>
        </p:pic>
      </p:grpSp>
      <p:grpSp>
        <p:nvGrpSpPr>
          <p:cNvPr id="15" name="Group 14">
            <a:extLst>
              <a:ext uri="{FF2B5EF4-FFF2-40B4-BE49-F238E27FC236}">
                <a16:creationId xmlns:a16="http://schemas.microsoft.com/office/drawing/2014/main" id="{AC9D0ADC-0017-5FDE-3721-E43186457419}"/>
              </a:ext>
            </a:extLst>
          </p:cNvPr>
          <p:cNvGrpSpPr>
            <a:grpSpLocks noChangeAspect="1"/>
          </p:cNvGrpSpPr>
          <p:nvPr/>
        </p:nvGrpSpPr>
        <p:grpSpPr>
          <a:xfrm>
            <a:off x="3887144" y="3733251"/>
            <a:ext cx="2898334" cy="2759624"/>
            <a:chOff x="2667284" y="3468255"/>
            <a:chExt cx="3149808" cy="2999063"/>
          </a:xfrm>
        </p:grpSpPr>
        <p:sp>
          <p:nvSpPr>
            <p:cNvPr id="12" name="Image Card">
              <a:extLst>
                <a:ext uri="{FF2B5EF4-FFF2-40B4-BE49-F238E27FC236}">
                  <a16:creationId xmlns:a16="http://schemas.microsoft.com/office/drawing/2014/main" id="{57104F65-21B5-58DE-7745-8639A7BBE562}"/>
                </a:ext>
              </a:extLst>
            </p:cNvPr>
            <p:cNvSpPr/>
            <p:nvPr/>
          </p:nvSpPr>
          <p:spPr>
            <a:xfrm>
              <a:off x="2667284" y="3468255"/>
              <a:ext cx="3149808" cy="2999063"/>
            </a:xfrm>
            <a:prstGeom prst="roundRect">
              <a:avLst>
                <a:gd name="adj" fmla="val 2659"/>
              </a:avLst>
            </a:prstGeom>
            <a:solidFill>
              <a:schemeClr val="bg1"/>
            </a:solidFill>
            <a:ln w="9525">
              <a:solidFill>
                <a:srgbClr val="E3DCCB"/>
              </a:solidFill>
            </a:ln>
            <a:effectLst>
              <a:outerShdw blurRad="90000" dist="38100" dir="5400000" rotWithShape="0">
                <a:srgbClr val="000000">
                  <a:alpha val="22000"/>
                </a:srgbClr>
              </a:outerShdw>
            </a:effectLst>
          </p:spPr>
          <p:txBody>
            <a:bodyPr rtlCol="0" anchor="ctr"/>
            <a:lstStyle/>
            <a:p>
              <a:pPr algn="ctr"/>
              <a:endParaRPr lang="en-GB" dirty="0"/>
            </a:p>
          </p:txBody>
        </p:sp>
        <p:pic>
          <p:nvPicPr>
            <p:cNvPr id="14" name="Picture 13">
              <a:extLst>
                <a:ext uri="{FF2B5EF4-FFF2-40B4-BE49-F238E27FC236}">
                  <a16:creationId xmlns:a16="http://schemas.microsoft.com/office/drawing/2014/main" id="{D44D061E-6403-383A-078A-55EEAFF880C9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2741829" y="3543483"/>
              <a:ext cx="3019846" cy="2838846"/>
            </a:xfrm>
            <a:prstGeom prst="rect">
              <a:avLst/>
            </a:prstGeom>
          </p:spPr>
        </p:pic>
      </p:grpSp>
      <p:grpSp>
        <p:nvGrpSpPr>
          <p:cNvPr id="24" name="Group 23">
            <a:extLst>
              <a:ext uri="{FF2B5EF4-FFF2-40B4-BE49-F238E27FC236}">
                <a16:creationId xmlns:a16="http://schemas.microsoft.com/office/drawing/2014/main" id="{BB1A9E72-638C-D372-771C-5132991BB991}"/>
              </a:ext>
            </a:extLst>
          </p:cNvPr>
          <p:cNvGrpSpPr/>
          <p:nvPr/>
        </p:nvGrpSpPr>
        <p:grpSpPr>
          <a:xfrm>
            <a:off x="940504" y="1606867"/>
            <a:ext cx="3104334" cy="461665"/>
            <a:chOff x="940504" y="1606867"/>
            <a:chExt cx="3104334" cy="461665"/>
          </a:xfrm>
        </p:grpSpPr>
        <p:sp>
          <p:nvSpPr>
            <p:cNvPr id="22" name="Contents Heading">
              <a:extLst>
                <a:ext uri="{FF2B5EF4-FFF2-40B4-BE49-F238E27FC236}">
                  <a16:creationId xmlns:a16="http://schemas.microsoft.com/office/drawing/2014/main" id="{E030F2BC-1CF2-A35D-F1EF-137CDFF8A4DC}"/>
                </a:ext>
              </a:extLst>
            </p:cNvPr>
            <p:cNvSpPr txBox="1"/>
            <p:nvPr/>
          </p:nvSpPr>
          <p:spPr>
            <a:xfrm>
              <a:off x="1004444" y="1606867"/>
              <a:ext cx="3040394" cy="461665"/>
            </a:xfrm>
            <a:prstGeom prst="rect">
              <a:avLst/>
            </a:prstGeom>
            <a:noFill/>
          </p:spPr>
          <p:txBody>
            <a:bodyPr wrap="square" rtlCol="0" anchor="ctr">
              <a:noAutofit/>
            </a:bodyPr>
            <a:lstStyle/>
            <a:p>
              <a:r>
                <a:rPr lang="en-GB" sz="1600" dirty="0">
                  <a:solidFill>
                    <a:srgbClr val="DC2C3E"/>
                  </a:solidFill>
                  <a:latin typeface="Montserrat" panose="00000500000000000000" pitchFamily="2" charset="0"/>
                </a:rPr>
                <a:t>Summary Statistics</a:t>
              </a:r>
            </a:p>
          </p:txBody>
        </p:sp>
        <p:sp>
          <p:nvSpPr>
            <p:cNvPr id="23" name="Heading Bar">
              <a:extLst>
                <a:ext uri="{FF2B5EF4-FFF2-40B4-BE49-F238E27FC236}">
                  <a16:creationId xmlns:a16="http://schemas.microsoft.com/office/drawing/2014/main" id="{D4F755E6-7B69-1D18-7DED-455BF3E6D11A}"/>
                </a:ext>
              </a:extLst>
            </p:cNvPr>
            <p:cNvSpPr/>
            <p:nvPr/>
          </p:nvSpPr>
          <p:spPr>
            <a:xfrm>
              <a:off x="940504" y="1697826"/>
              <a:ext cx="61913" cy="288000"/>
            </a:xfrm>
            <a:prstGeom prst="rect">
              <a:avLst/>
            </a:prstGeom>
            <a:solidFill>
              <a:srgbClr val="DC2C3E"/>
            </a:solidFill>
            <a:ln>
              <a:noFill/>
            </a:ln>
          </p:spPr>
          <p:txBody>
            <a:bodyPr rtlCol="0" anchor="ctr"/>
            <a:lstStyle/>
            <a:p>
              <a:pPr algn="ctr"/>
              <a:endParaRPr lang="en-GB" dirty="0">
                <a:solidFill>
                  <a:srgbClr val="DC2C3E"/>
                </a:solidFill>
              </a:endParaRPr>
            </a:p>
          </p:txBody>
        </p:sp>
      </p:grpSp>
      <p:grpSp>
        <p:nvGrpSpPr>
          <p:cNvPr id="25" name="Group 24">
            <a:extLst>
              <a:ext uri="{FF2B5EF4-FFF2-40B4-BE49-F238E27FC236}">
                <a16:creationId xmlns:a16="http://schemas.microsoft.com/office/drawing/2014/main" id="{F7E5B591-1FC7-BAE9-0F98-544EA0E4C657}"/>
              </a:ext>
            </a:extLst>
          </p:cNvPr>
          <p:cNvGrpSpPr/>
          <p:nvPr/>
        </p:nvGrpSpPr>
        <p:grpSpPr>
          <a:xfrm>
            <a:off x="940504" y="3257119"/>
            <a:ext cx="3104334" cy="461665"/>
            <a:chOff x="940504" y="1606867"/>
            <a:chExt cx="3104334" cy="461665"/>
          </a:xfrm>
        </p:grpSpPr>
        <p:sp>
          <p:nvSpPr>
            <p:cNvPr id="26" name="Contents Heading">
              <a:extLst>
                <a:ext uri="{FF2B5EF4-FFF2-40B4-BE49-F238E27FC236}">
                  <a16:creationId xmlns:a16="http://schemas.microsoft.com/office/drawing/2014/main" id="{8A9D6E14-D16A-8706-5A9A-A92914C8069E}"/>
                </a:ext>
              </a:extLst>
            </p:cNvPr>
            <p:cNvSpPr txBox="1"/>
            <p:nvPr/>
          </p:nvSpPr>
          <p:spPr>
            <a:xfrm>
              <a:off x="1004444" y="1606867"/>
              <a:ext cx="3040394" cy="461665"/>
            </a:xfrm>
            <a:prstGeom prst="rect">
              <a:avLst/>
            </a:prstGeom>
            <a:noFill/>
          </p:spPr>
          <p:txBody>
            <a:bodyPr wrap="square" rtlCol="0" anchor="ctr">
              <a:noAutofit/>
            </a:bodyPr>
            <a:lstStyle/>
            <a:p>
              <a:r>
                <a:rPr lang="en-GB" sz="1600" dirty="0">
                  <a:solidFill>
                    <a:srgbClr val="DC2C3E"/>
                  </a:solidFill>
                  <a:latin typeface="Montserrat" panose="00000500000000000000" pitchFamily="2" charset="0"/>
                </a:rPr>
                <a:t>Extreme Values</a:t>
              </a:r>
            </a:p>
          </p:txBody>
        </p:sp>
        <p:sp>
          <p:nvSpPr>
            <p:cNvPr id="27" name="Heading Bar">
              <a:extLst>
                <a:ext uri="{FF2B5EF4-FFF2-40B4-BE49-F238E27FC236}">
                  <a16:creationId xmlns:a16="http://schemas.microsoft.com/office/drawing/2014/main" id="{485941DC-EE6B-2471-077F-1FF7EB5E9865}"/>
                </a:ext>
              </a:extLst>
            </p:cNvPr>
            <p:cNvSpPr/>
            <p:nvPr/>
          </p:nvSpPr>
          <p:spPr>
            <a:xfrm>
              <a:off x="940504" y="1697826"/>
              <a:ext cx="61913" cy="288000"/>
            </a:xfrm>
            <a:prstGeom prst="rect">
              <a:avLst/>
            </a:prstGeom>
            <a:solidFill>
              <a:srgbClr val="DC2C3E"/>
            </a:solidFill>
            <a:ln>
              <a:noFill/>
            </a:ln>
          </p:spPr>
          <p:txBody>
            <a:bodyPr rtlCol="0" anchor="ctr"/>
            <a:lstStyle/>
            <a:p>
              <a:pPr algn="ctr"/>
              <a:endParaRPr lang="en-GB" dirty="0">
                <a:solidFill>
                  <a:srgbClr val="DC2C3E"/>
                </a:solidFill>
              </a:endParaRPr>
            </a:p>
          </p:txBody>
        </p:sp>
      </p:grpSp>
      <p:grpSp>
        <p:nvGrpSpPr>
          <p:cNvPr id="33" name="Group 32">
            <a:extLst>
              <a:ext uri="{FF2B5EF4-FFF2-40B4-BE49-F238E27FC236}">
                <a16:creationId xmlns:a16="http://schemas.microsoft.com/office/drawing/2014/main" id="{412596AF-FD64-D112-BAD2-33B260774079}"/>
              </a:ext>
            </a:extLst>
          </p:cNvPr>
          <p:cNvGrpSpPr>
            <a:grpSpLocks noChangeAspect="1"/>
          </p:cNvGrpSpPr>
          <p:nvPr/>
        </p:nvGrpSpPr>
        <p:grpSpPr>
          <a:xfrm>
            <a:off x="849041" y="3733251"/>
            <a:ext cx="2898334" cy="2759624"/>
            <a:chOff x="849041" y="3733251"/>
            <a:chExt cx="2898334" cy="2759624"/>
          </a:xfrm>
        </p:grpSpPr>
        <p:grpSp>
          <p:nvGrpSpPr>
            <p:cNvPr id="21" name="Group 20">
              <a:extLst>
                <a:ext uri="{FF2B5EF4-FFF2-40B4-BE49-F238E27FC236}">
                  <a16:creationId xmlns:a16="http://schemas.microsoft.com/office/drawing/2014/main" id="{96E8A976-915B-5BBB-6800-8BECE3C8FF8C}"/>
                </a:ext>
              </a:extLst>
            </p:cNvPr>
            <p:cNvGrpSpPr/>
            <p:nvPr/>
          </p:nvGrpSpPr>
          <p:grpSpPr>
            <a:xfrm>
              <a:off x="849041" y="3733251"/>
              <a:ext cx="2898334" cy="2759624"/>
              <a:chOff x="2109207" y="3733251"/>
              <a:chExt cx="2898334" cy="2759624"/>
            </a:xfrm>
          </p:grpSpPr>
          <p:sp>
            <p:nvSpPr>
              <p:cNvPr id="18" name="Image Card">
                <a:extLst>
                  <a:ext uri="{FF2B5EF4-FFF2-40B4-BE49-F238E27FC236}">
                    <a16:creationId xmlns:a16="http://schemas.microsoft.com/office/drawing/2014/main" id="{2CAE4AD6-8341-349B-922F-EF1BA4591A4A}"/>
                  </a:ext>
                </a:extLst>
              </p:cNvPr>
              <p:cNvSpPr/>
              <p:nvPr/>
            </p:nvSpPr>
            <p:spPr>
              <a:xfrm>
                <a:off x="2109207" y="3733251"/>
                <a:ext cx="2898334" cy="2759624"/>
              </a:xfrm>
              <a:prstGeom prst="roundRect">
                <a:avLst>
                  <a:gd name="adj" fmla="val 2659"/>
                </a:avLst>
              </a:prstGeom>
              <a:solidFill>
                <a:schemeClr val="bg1"/>
              </a:solidFill>
              <a:ln w="9525">
                <a:solidFill>
                  <a:srgbClr val="E3DCCB"/>
                </a:solidFill>
              </a:ln>
              <a:effectLst>
                <a:outerShdw blurRad="90000" dist="38100" dir="5400000" rotWithShape="0">
                  <a:srgbClr val="000000">
                    <a:alpha val="22000"/>
                  </a:srgbClr>
                </a:outerShdw>
              </a:effectLst>
            </p:spPr>
            <p:txBody>
              <a:bodyPr rtlCol="0" anchor="ctr"/>
              <a:lstStyle/>
              <a:p>
                <a:pPr algn="ctr"/>
                <a:endParaRPr lang="en-GB" dirty="0"/>
              </a:p>
            </p:txBody>
          </p:sp>
          <p:pic>
            <p:nvPicPr>
              <p:cNvPr id="20" name="Picture 19">
                <a:extLst>
                  <a:ext uri="{FF2B5EF4-FFF2-40B4-BE49-F238E27FC236}">
                    <a16:creationId xmlns:a16="http://schemas.microsoft.com/office/drawing/2014/main" id="{A5879499-22E3-891D-27E1-3C12CAD5ACE8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2146929" y="3845312"/>
                <a:ext cx="2822890" cy="2576657"/>
              </a:xfrm>
              <a:prstGeom prst="rect">
                <a:avLst/>
              </a:prstGeom>
            </p:spPr>
          </p:pic>
        </p:grpSp>
        <p:sp>
          <p:nvSpPr>
            <p:cNvPr id="28" name="Rectangle 27">
              <a:extLst>
                <a:ext uri="{FF2B5EF4-FFF2-40B4-BE49-F238E27FC236}">
                  <a16:creationId xmlns:a16="http://schemas.microsoft.com/office/drawing/2014/main" id="{C8997541-D874-6F67-F599-41C2B915AC89}"/>
                </a:ext>
              </a:extLst>
            </p:cNvPr>
            <p:cNvSpPr/>
            <p:nvPr/>
          </p:nvSpPr>
          <p:spPr>
            <a:xfrm>
              <a:off x="1228438" y="4488873"/>
              <a:ext cx="2444271" cy="406400"/>
            </a:xfrm>
            <a:prstGeom prst="rect">
              <a:avLst/>
            </a:prstGeom>
            <a:solidFill>
              <a:srgbClr val="DC2C3E">
                <a:alpha val="20000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</p:grpSp>
      <p:sp>
        <p:nvSpPr>
          <p:cNvPr id="29" name="Rectangle 28">
            <a:extLst>
              <a:ext uri="{FF2B5EF4-FFF2-40B4-BE49-F238E27FC236}">
                <a16:creationId xmlns:a16="http://schemas.microsoft.com/office/drawing/2014/main" id="{3156B607-4BB8-60E5-90E3-F421F590B07D}"/>
              </a:ext>
            </a:extLst>
          </p:cNvPr>
          <p:cNvSpPr/>
          <p:nvPr/>
        </p:nvSpPr>
        <p:spPr>
          <a:xfrm>
            <a:off x="2715491" y="4488873"/>
            <a:ext cx="957219" cy="406400"/>
          </a:xfrm>
          <a:prstGeom prst="rect">
            <a:avLst/>
          </a:prstGeom>
          <a:solidFill>
            <a:srgbClr val="DC2C3E">
              <a:alpha val="2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grpSp>
        <p:nvGrpSpPr>
          <p:cNvPr id="30" name="Group 29">
            <a:extLst>
              <a:ext uri="{FF2B5EF4-FFF2-40B4-BE49-F238E27FC236}">
                <a16:creationId xmlns:a16="http://schemas.microsoft.com/office/drawing/2014/main" id="{4E1CE3DA-C83D-C1C7-F6EF-4E0CC34D8E71}"/>
              </a:ext>
            </a:extLst>
          </p:cNvPr>
          <p:cNvGrpSpPr/>
          <p:nvPr/>
        </p:nvGrpSpPr>
        <p:grpSpPr>
          <a:xfrm>
            <a:off x="7761326" y="617670"/>
            <a:ext cx="3104334" cy="461665"/>
            <a:chOff x="940504" y="1606867"/>
            <a:chExt cx="3104334" cy="461665"/>
          </a:xfrm>
        </p:grpSpPr>
        <p:sp>
          <p:nvSpPr>
            <p:cNvPr id="31" name="Contents Heading">
              <a:extLst>
                <a:ext uri="{FF2B5EF4-FFF2-40B4-BE49-F238E27FC236}">
                  <a16:creationId xmlns:a16="http://schemas.microsoft.com/office/drawing/2014/main" id="{D7F55168-91DB-4825-4E4D-345DC2659E78}"/>
                </a:ext>
              </a:extLst>
            </p:cNvPr>
            <p:cNvSpPr txBox="1"/>
            <p:nvPr/>
          </p:nvSpPr>
          <p:spPr>
            <a:xfrm>
              <a:off x="1004444" y="1606867"/>
              <a:ext cx="3040394" cy="461665"/>
            </a:xfrm>
            <a:prstGeom prst="rect">
              <a:avLst/>
            </a:prstGeom>
            <a:noFill/>
          </p:spPr>
          <p:txBody>
            <a:bodyPr wrap="square" rtlCol="0" anchor="ctr">
              <a:noAutofit/>
            </a:bodyPr>
            <a:lstStyle/>
            <a:p>
              <a:r>
                <a:rPr lang="en-GB" sz="1600" dirty="0">
                  <a:solidFill>
                    <a:srgbClr val="DC2C3E"/>
                  </a:solidFill>
                  <a:latin typeface="Montserrat" panose="00000500000000000000" pitchFamily="2" charset="0"/>
                </a:rPr>
                <a:t>Distribution</a:t>
              </a:r>
            </a:p>
          </p:txBody>
        </p:sp>
        <p:sp>
          <p:nvSpPr>
            <p:cNvPr id="32" name="Heading Bar">
              <a:extLst>
                <a:ext uri="{FF2B5EF4-FFF2-40B4-BE49-F238E27FC236}">
                  <a16:creationId xmlns:a16="http://schemas.microsoft.com/office/drawing/2014/main" id="{F4B25E30-48D7-3B32-CD0E-A1F8F42B072D}"/>
                </a:ext>
              </a:extLst>
            </p:cNvPr>
            <p:cNvSpPr/>
            <p:nvPr/>
          </p:nvSpPr>
          <p:spPr>
            <a:xfrm>
              <a:off x="940504" y="1697826"/>
              <a:ext cx="61913" cy="288000"/>
            </a:xfrm>
            <a:prstGeom prst="rect">
              <a:avLst/>
            </a:prstGeom>
            <a:solidFill>
              <a:srgbClr val="DC2C3E"/>
            </a:solidFill>
            <a:ln>
              <a:noFill/>
            </a:ln>
          </p:spPr>
          <p:txBody>
            <a:bodyPr rtlCol="0" anchor="ctr"/>
            <a:lstStyle/>
            <a:p>
              <a:pPr algn="ctr"/>
              <a:endParaRPr lang="en-GB" dirty="0">
                <a:solidFill>
                  <a:srgbClr val="DC2C3E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14283860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8B22A4F-7C93-F454-C2BC-A56CB8F4DA4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49ECFF-3E03-CEBB-0093-85E2091D25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Montserrat SemiBold" panose="00000700000000000000" pitchFamily="2" charset="0"/>
              </a:rPr>
              <a:t>DATA PROFILING: OUTLIERS</a:t>
            </a:r>
          </a:p>
        </p:txBody>
      </p:sp>
      <p:grpSp>
        <p:nvGrpSpPr>
          <p:cNvPr id="24" name="Group 23">
            <a:extLst>
              <a:ext uri="{FF2B5EF4-FFF2-40B4-BE49-F238E27FC236}">
                <a16:creationId xmlns:a16="http://schemas.microsoft.com/office/drawing/2014/main" id="{0088BF06-098C-9F9E-A0E6-93C4B1FEB035}"/>
              </a:ext>
            </a:extLst>
          </p:cNvPr>
          <p:cNvGrpSpPr/>
          <p:nvPr/>
        </p:nvGrpSpPr>
        <p:grpSpPr>
          <a:xfrm>
            <a:off x="940504" y="1849468"/>
            <a:ext cx="3104334" cy="461665"/>
            <a:chOff x="940504" y="1606867"/>
            <a:chExt cx="3104334" cy="461665"/>
          </a:xfrm>
        </p:grpSpPr>
        <p:sp>
          <p:nvSpPr>
            <p:cNvPr id="22" name="Contents Heading">
              <a:extLst>
                <a:ext uri="{FF2B5EF4-FFF2-40B4-BE49-F238E27FC236}">
                  <a16:creationId xmlns:a16="http://schemas.microsoft.com/office/drawing/2014/main" id="{33611499-2872-0FE1-CB2B-D132D858C963}"/>
                </a:ext>
              </a:extLst>
            </p:cNvPr>
            <p:cNvSpPr txBox="1"/>
            <p:nvPr/>
          </p:nvSpPr>
          <p:spPr>
            <a:xfrm>
              <a:off x="1004444" y="1606867"/>
              <a:ext cx="3040394" cy="461665"/>
            </a:xfrm>
            <a:prstGeom prst="rect">
              <a:avLst/>
            </a:prstGeom>
            <a:noFill/>
          </p:spPr>
          <p:txBody>
            <a:bodyPr wrap="square" rtlCol="0" anchor="ctr">
              <a:noAutofit/>
            </a:bodyPr>
            <a:lstStyle/>
            <a:p>
              <a:r>
                <a:rPr lang="en-GB" sz="1600" dirty="0">
                  <a:solidFill>
                    <a:srgbClr val="DC2C3E"/>
                  </a:solidFill>
                  <a:latin typeface="Montserrat" panose="00000500000000000000" pitchFamily="2" charset="0"/>
                </a:rPr>
                <a:t>Z-Scores</a:t>
              </a:r>
            </a:p>
          </p:txBody>
        </p:sp>
        <p:sp>
          <p:nvSpPr>
            <p:cNvPr id="23" name="Heading Bar">
              <a:extLst>
                <a:ext uri="{FF2B5EF4-FFF2-40B4-BE49-F238E27FC236}">
                  <a16:creationId xmlns:a16="http://schemas.microsoft.com/office/drawing/2014/main" id="{EDD1817B-15B7-B057-E551-5E968DAA6A30}"/>
                </a:ext>
              </a:extLst>
            </p:cNvPr>
            <p:cNvSpPr/>
            <p:nvPr/>
          </p:nvSpPr>
          <p:spPr>
            <a:xfrm>
              <a:off x="940504" y="1697826"/>
              <a:ext cx="61913" cy="288000"/>
            </a:xfrm>
            <a:prstGeom prst="rect">
              <a:avLst/>
            </a:prstGeom>
            <a:solidFill>
              <a:srgbClr val="DC2C3E"/>
            </a:solidFill>
            <a:ln>
              <a:noFill/>
            </a:ln>
          </p:spPr>
          <p:txBody>
            <a:bodyPr rtlCol="0" anchor="ctr"/>
            <a:lstStyle/>
            <a:p>
              <a:pPr algn="ctr"/>
              <a:endParaRPr lang="en-GB" dirty="0">
                <a:solidFill>
                  <a:srgbClr val="DC2C3E"/>
                </a:solidFill>
              </a:endParaRPr>
            </a:p>
          </p:txBody>
        </p:sp>
      </p:grpSp>
      <p:grpSp>
        <p:nvGrpSpPr>
          <p:cNvPr id="36" name="Group 35">
            <a:extLst>
              <a:ext uri="{FF2B5EF4-FFF2-40B4-BE49-F238E27FC236}">
                <a16:creationId xmlns:a16="http://schemas.microsoft.com/office/drawing/2014/main" id="{6C4AB40F-023B-8242-E4DF-529B3B7EA331}"/>
              </a:ext>
            </a:extLst>
          </p:cNvPr>
          <p:cNvGrpSpPr>
            <a:grpSpLocks noChangeAspect="1"/>
          </p:cNvGrpSpPr>
          <p:nvPr/>
        </p:nvGrpSpPr>
        <p:grpSpPr>
          <a:xfrm>
            <a:off x="845644" y="2392674"/>
            <a:ext cx="4544099" cy="1621174"/>
            <a:chOff x="845644" y="2150555"/>
            <a:chExt cx="5558557" cy="1983097"/>
          </a:xfrm>
        </p:grpSpPr>
        <p:sp>
          <p:nvSpPr>
            <p:cNvPr id="3" name="Image Card">
              <a:extLst>
                <a:ext uri="{FF2B5EF4-FFF2-40B4-BE49-F238E27FC236}">
                  <a16:creationId xmlns:a16="http://schemas.microsoft.com/office/drawing/2014/main" id="{DF6EC748-C52A-07AA-D4C0-98CAC85A690E}"/>
                </a:ext>
              </a:extLst>
            </p:cNvPr>
            <p:cNvSpPr/>
            <p:nvPr/>
          </p:nvSpPr>
          <p:spPr>
            <a:xfrm>
              <a:off x="845644" y="2150555"/>
              <a:ext cx="5558557" cy="1983097"/>
            </a:xfrm>
            <a:prstGeom prst="roundRect">
              <a:avLst>
                <a:gd name="adj" fmla="val 4000"/>
              </a:avLst>
            </a:prstGeom>
            <a:solidFill>
              <a:schemeClr val="bg1"/>
            </a:solidFill>
            <a:ln w="9525">
              <a:solidFill>
                <a:srgbClr val="E3DCCB"/>
              </a:solidFill>
            </a:ln>
            <a:effectLst>
              <a:outerShdw blurRad="90000" dist="38100" dir="5400000" rotWithShape="0">
                <a:srgbClr val="000000">
                  <a:alpha val="22000"/>
                </a:srgbClr>
              </a:outerShdw>
            </a:effectLst>
          </p:spPr>
          <p:txBody>
            <a:bodyPr rtlCol="0" anchor="ctr"/>
            <a:lstStyle/>
            <a:p>
              <a:pPr algn="ctr"/>
              <a:endParaRPr lang="en-GB" dirty="0"/>
            </a:p>
          </p:txBody>
        </p:sp>
        <p:pic>
          <p:nvPicPr>
            <p:cNvPr id="8" name="Picture 7">
              <a:extLst>
                <a:ext uri="{FF2B5EF4-FFF2-40B4-BE49-F238E27FC236}">
                  <a16:creationId xmlns:a16="http://schemas.microsoft.com/office/drawing/2014/main" id="{E76F1121-26A7-8B65-5682-87A9BE9DF6C4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940504" y="2208148"/>
              <a:ext cx="5361718" cy="1888180"/>
            </a:xfrm>
            <a:prstGeom prst="rect">
              <a:avLst/>
            </a:prstGeom>
          </p:spPr>
        </p:pic>
      </p:grpSp>
      <p:grpSp>
        <p:nvGrpSpPr>
          <p:cNvPr id="16" name="Group 15">
            <a:extLst>
              <a:ext uri="{FF2B5EF4-FFF2-40B4-BE49-F238E27FC236}">
                <a16:creationId xmlns:a16="http://schemas.microsoft.com/office/drawing/2014/main" id="{77BDFA38-6EA2-E0AA-CAA4-36F2120D3FDE}"/>
              </a:ext>
            </a:extLst>
          </p:cNvPr>
          <p:cNvGrpSpPr/>
          <p:nvPr/>
        </p:nvGrpSpPr>
        <p:grpSpPr>
          <a:xfrm>
            <a:off x="940504" y="4117925"/>
            <a:ext cx="3104334" cy="461665"/>
            <a:chOff x="940504" y="1606867"/>
            <a:chExt cx="3104334" cy="461665"/>
          </a:xfrm>
        </p:grpSpPr>
        <p:sp>
          <p:nvSpPr>
            <p:cNvPr id="17" name="Contents Heading">
              <a:extLst>
                <a:ext uri="{FF2B5EF4-FFF2-40B4-BE49-F238E27FC236}">
                  <a16:creationId xmlns:a16="http://schemas.microsoft.com/office/drawing/2014/main" id="{A7B88BEA-39C1-F1C8-11DA-36C7CEF5F51C}"/>
                </a:ext>
              </a:extLst>
            </p:cNvPr>
            <p:cNvSpPr txBox="1"/>
            <p:nvPr/>
          </p:nvSpPr>
          <p:spPr>
            <a:xfrm>
              <a:off x="1004444" y="1606867"/>
              <a:ext cx="3040394" cy="461665"/>
            </a:xfrm>
            <a:prstGeom prst="rect">
              <a:avLst/>
            </a:prstGeom>
            <a:noFill/>
          </p:spPr>
          <p:txBody>
            <a:bodyPr wrap="square" rtlCol="0" anchor="ctr">
              <a:noAutofit/>
            </a:bodyPr>
            <a:lstStyle/>
            <a:p>
              <a:r>
                <a:rPr lang="en-GB" sz="1600" dirty="0">
                  <a:solidFill>
                    <a:srgbClr val="DC2C3E"/>
                  </a:solidFill>
                  <a:latin typeface="Montserrat" panose="00000500000000000000" pitchFamily="2" charset="0"/>
                </a:rPr>
                <a:t>Interquartile Range</a:t>
              </a:r>
            </a:p>
          </p:txBody>
        </p:sp>
        <p:sp>
          <p:nvSpPr>
            <p:cNvPr id="19" name="Heading Bar">
              <a:extLst>
                <a:ext uri="{FF2B5EF4-FFF2-40B4-BE49-F238E27FC236}">
                  <a16:creationId xmlns:a16="http://schemas.microsoft.com/office/drawing/2014/main" id="{0D998D84-BF60-79AB-6430-26DEB0C741EE}"/>
                </a:ext>
              </a:extLst>
            </p:cNvPr>
            <p:cNvSpPr/>
            <p:nvPr/>
          </p:nvSpPr>
          <p:spPr>
            <a:xfrm>
              <a:off x="940504" y="1697826"/>
              <a:ext cx="61913" cy="288000"/>
            </a:xfrm>
            <a:prstGeom prst="rect">
              <a:avLst/>
            </a:prstGeom>
            <a:solidFill>
              <a:srgbClr val="DC2C3E"/>
            </a:solidFill>
            <a:ln>
              <a:noFill/>
            </a:ln>
          </p:spPr>
          <p:txBody>
            <a:bodyPr rtlCol="0" anchor="ctr"/>
            <a:lstStyle/>
            <a:p>
              <a:pPr algn="ctr"/>
              <a:endParaRPr lang="en-GB" dirty="0">
                <a:solidFill>
                  <a:srgbClr val="DC2C3E"/>
                </a:solidFill>
              </a:endParaRPr>
            </a:p>
          </p:txBody>
        </p:sp>
      </p:grpSp>
      <p:grpSp>
        <p:nvGrpSpPr>
          <p:cNvPr id="37" name="Group 36">
            <a:extLst>
              <a:ext uri="{FF2B5EF4-FFF2-40B4-BE49-F238E27FC236}">
                <a16:creationId xmlns:a16="http://schemas.microsoft.com/office/drawing/2014/main" id="{D83EE8F1-F5FC-0295-82C8-B4FFF1716797}"/>
              </a:ext>
            </a:extLst>
          </p:cNvPr>
          <p:cNvGrpSpPr>
            <a:grpSpLocks noChangeAspect="1"/>
          </p:cNvGrpSpPr>
          <p:nvPr/>
        </p:nvGrpSpPr>
        <p:grpSpPr>
          <a:xfrm>
            <a:off x="845644" y="4655976"/>
            <a:ext cx="4540432" cy="1770624"/>
            <a:chOff x="3096902" y="2490018"/>
            <a:chExt cx="9167101" cy="3574877"/>
          </a:xfrm>
        </p:grpSpPr>
        <p:sp>
          <p:nvSpPr>
            <p:cNvPr id="35" name="Image Card">
              <a:extLst>
                <a:ext uri="{FF2B5EF4-FFF2-40B4-BE49-F238E27FC236}">
                  <a16:creationId xmlns:a16="http://schemas.microsoft.com/office/drawing/2014/main" id="{CED35473-0D57-6AD5-DEA4-6CFAFEFF1C3B}"/>
                </a:ext>
              </a:extLst>
            </p:cNvPr>
            <p:cNvSpPr/>
            <p:nvPr/>
          </p:nvSpPr>
          <p:spPr>
            <a:xfrm>
              <a:off x="3096902" y="2490018"/>
              <a:ext cx="9167101" cy="3574877"/>
            </a:xfrm>
            <a:prstGeom prst="roundRect">
              <a:avLst>
                <a:gd name="adj" fmla="val 4000"/>
              </a:avLst>
            </a:prstGeom>
            <a:solidFill>
              <a:schemeClr val="bg1"/>
            </a:solidFill>
            <a:ln w="9525">
              <a:solidFill>
                <a:srgbClr val="E3DCCB"/>
              </a:solidFill>
            </a:ln>
            <a:effectLst>
              <a:outerShdw blurRad="90000" dist="38100" dir="5400000" rotWithShape="0">
                <a:srgbClr val="000000">
                  <a:alpha val="22000"/>
                </a:srgbClr>
              </a:outerShdw>
            </a:effectLst>
          </p:spPr>
          <p:txBody>
            <a:bodyPr rtlCol="0" anchor="ctr"/>
            <a:lstStyle/>
            <a:p>
              <a:pPr algn="ctr"/>
              <a:endParaRPr lang="en-GB" dirty="0"/>
            </a:p>
          </p:txBody>
        </p:sp>
        <p:pic>
          <p:nvPicPr>
            <p:cNvPr id="34" name="Picture 33">
              <a:extLst>
                <a:ext uri="{FF2B5EF4-FFF2-40B4-BE49-F238E27FC236}">
                  <a16:creationId xmlns:a16="http://schemas.microsoft.com/office/drawing/2014/main" id="{6EDCCA17-86C5-84D1-03DF-B182B1FD6F5A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3270174" y="2578879"/>
              <a:ext cx="8364117" cy="3439006"/>
            </a:xfrm>
            <a:prstGeom prst="rect">
              <a:avLst/>
            </a:prstGeom>
          </p:spPr>
        </p:pic>
      </p:grpSp>
      <p:sp>
        <p:nvSpPr>
          <p:cNvPr id="38" name="Rectangle: Rounded Corners 37">
            <a:extLst>
              <a:ext uri="{FF2B5EF4-FFF2-40B4-BE49-F238E27FC236}">
                <a16:creationId xmlns:a16="http://schemas.microsoft.com/office/drawing/2014/main" id="{7BD59A2B-E8CB-4821-ABF7-C7923E2E98FB}"/>
              </a:ext>
            </a:extLst>
          </p:cNvPr>
          <p:cNvSpPr/>
          <p:nvPr/>
        </p:nvSpPr>
        <p:spPr>
          <a:xfrm>
            <a:off x="5715827" y="1690689"/>
            <a:ext cx="9170212" cy="4802186"/>
          </a:xfrm>
          <a:prstGeom prst="roundRect">
            <a:avLst>
              <a:gd name="adj" fmla="val 2457"/>
            </a:avLst>
          </a:prstGeom>
          <a:solidFill>
            <a:srgbClr val="FBF8E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9" name="Contents Heading">
            <a:extLst>
              <a:ext uri="{FF2B5EF4-FFF2-40B4-BE49-F238E27FC236}">
                <a16:creationId xmlns:a16="http://schemas.microsoft.com/office/drawing/2014/main" id="{B5C8AC40-C151-0F66-DF49-0E52C5FBEFDB}"/>
              </a:ext>
            </a:extLst>
          </p:cNvPr>
          <p:cNvSpPr txBox="1"/>
          <p:nvPr/>
        </p:nvSpPr>
        <p:spPr>
          <a:xfrm>
            <a:off x="5966952" y="1856361"/>
            <a:ext cx="3040394" cy="461665"/>
          </a:xfrm>
          <a:prstGeom prst="rect">
            <a:avLst/>
          </a:prstGeom>
          <a:noFill/>
        </p:spPr>
        <p:txBody>
          <a:bodyPr wrap="square" rtlCol="0" anchor="ctr">
            <a:noAutofit/>
          </a:bodyPr>
          <a:lstStyle/>
          <a:p>
            <a:r>
              <a:rPr lang="en-GB" sz="2400" dirty="0">
                <a:solidFill>
                  <a:srgbClr val="DC2C3E"/>
                </a:solidFill>
                <a:latin typeface="Montserrat" panose="00000500000000000000" pitchFamily="2" charset="0"/>
              </a:rPr>
              <a:t>Methodology</a:t>
            </a:r>
          </a:p>
        </p:txBody>
      </p:sp>
      <p:sp>
        <p:nvSpPr>
          <p:cNvPr id="40" name="Heading Bar">
            <a:extLst>
              <a:ext uri="{FF2B5EF4-FFF2-40B4-BE49-F238E27FC236}">
                <a16:creationId xmlns:a16="http://schemas.microsoft.com/office/drawing/2014/main" id="{2C3F9259-F58C-FB3A-71E5-2892D376178A}"/>
              </a:ext>
            </a:extLst>
          </p:cNvPr>
          <p:cNvSpPr/>
          <p:nvPr/>
        </p:nvSpPr>
        <p:spPr>
          <a:xfrm>
            <a:off x="5894149" y="1882668"/>
            <a:ext cx="61913" cy="390387"/>
          </a:xfrm>
          <a:prstGeom prst="rect">
            <a:avLst/>
          </a:prstGeom>
          <a:solidFill>
            <a:srgbClr val="DC2C3E"/>
          </a:solidFill>
          <a:ln>
            <a:noFill/>
          </a:ln>
        </p:spPr>
        <p:txBody>
          <a:bodyPr rtlCol="0" anchor="ctr"/>
          <a:lstStyle/>
          <a:p>
            <a:pPr algn="ctr"/>
            <a:endParaRPr lang="en-GB" dirty="0">
              <a:solidFill>
                <a:srgbClr val="DC2C3E"/>
              </a:solidFill>
            </a:endParaRPr>
          </a:p>
        </p:txBody>
      </p:sp>
      <p:sp>
        <p:nvSpPr>
          <p:cNvPr id="41" name="Checklist">
            <a:extLst>
              <a:ext uri="{FF2B5EF4-FFF2-40B4-BE49-F238E27FC236}">
                <a16:creationId xmlns:a16="http://schemas.microsoft.com/office/drawing/2014/main" id="{8C16B1FA-70E5-B393-09DA-EE2904D89382}"/>
              </a:ext>
            </a:extLst>
          </p:cNvPr>
          <p:cNvSpPr txBox="1"/>
          <p:nvPr/>
        </p:nvSpPr>
        <p:spPr>
          <a:xfrm>
            <a:off x="6007346" y="3086251"/>
            <a:ext cx="3000000" cy="339777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285750" indent="-285750">
              <a:spcAft>
                <a:spcPts val="500"/>
              </a:spcAft>
              <a:buFont typeface="Arial" panose="020B0604020202020204" pitchFamily="34" charset="0"/>
              <a:buChar char="•"/>
            </a:pPr>
            <a:r>
              <a:rPr lang="en-GB" sz="1400" dirty="0">
                <a:solidFill>
                  <a:srgbClr val="1A1A1A"/>
                </a:solidFill>
                <a:latin typeface="Montserrat" panose="00000500000000000000" pitchFamily="2" charset="0"/>
              </a:rPr>
              <a:t>Summary Stats</a:t>
            </a:r>
          </a:p>
          <a:p>
            <a:pPr lvl="1">
              <a:spcAft>
                <a:spcPts val="1000"/>
              </a:spcAft>
            </a:pPr>
            <a:r>
              <a:rPr lang="en-GB" sz="1100" dirty="0">
                <a:solidFill>
                  <a:srgbClr val="1A1A1A"/>
                </a:solidFill>
                <a:latin typeface="Montserrat" panose="00000500000000000000" pitchFamily="2" charset="0"/>
              </a:rPr>
              <a:t>Generates a</a:t>
            </a:r>
            <a:r>
              <a:rPr lang="en-GB" sz="1100" b="1" dirty="0">
                <a:solidFill>
                  <a:srgbClr val="1A1A1A"/>
                </a:solidFill>
                <a:latin typeface="Montserrat" panose="00000500000000000000" pitchFamily="2" charset="0"/>
              </a:rPr>
              <a:t> </a:t>
            </a:r>
            <a:r>
              <a:rPr lang="en-GB" sz="1100" b="1" dirty="0">
                <a:solidFill>
                  <a:srgbClr val="4D6C75"/>
                </a:solidFill>
                <a:latin typeface="Montserrat" panose="00000500000000000000" pitchFamily="2" charset="0"/>
              </a:rPr>
              <a:t>statistical breakdown</a:t>
            </a:r>
            <a:r>
              <a:rPr lang="en-GB" sz="1100" dirty="0">
                <a:solidFill>
                  <a:srgbClr val="1A1A1A"/>
                </a:solidFill>
                <a:latin typeface="Montserrat" panose="00000500000000000000" pitchFamily="2" charset="0"/>
              </a:rPr>
              <a:t> of quantitative fields.</a:t>
            </a:r>
          </a:p>
          <a:p>
            <a:pPr marL="285750" indent="-285750">
              <a:spcAft>
                <a:spcPts val="500"/>
              </a:spcAft>
              <a:buFont typeface="Arial" panose="020B0604020202020204" pitchFamily="34" charset="0"/>
              <a:buChar char="•"/>
            </a:pPr>
            <a:r>
              <a:rPr lang="en-GB" sz="1400" dirty="0">
                <a:solidFill>
                  <a:srgbClr val="1A1A1A"/>
                </a:solidFill>
                <a:latin typeface="Montserrat" panose="00000500000000000000" pitchFamily="2" charset="0"/>
              </a:rPr>
              <a:t>Distribution</a:t>
            </a:r>
          </a:p>
          <a:p>
            <a:pPr lvl="1">
              <a:spcAft>
                <a:spcPts val="1000"/>
              </a:spcAft>
            </a:pPr>
            <a:r>
              <a:rPr lang="en-GB" sz="1100" dirty="0">
                <a:solidFill>
                  <a:srgbClr val="1A1A1A"/>
                </a:solidFill>
                <a:latin typeface="Montserrat" panose="00000500000000000000" pitchFamily="2" charset="0"/>
              </a:rPr>
              <a:t>Visualising the </a:t>
            </a:r>
            <a:r>
              <a:rPr lang="en-GB" sz="1100" b="1" dirty="0">
                <a:solidFill>
                  <a:srgbClr val="4D6C75"/>
                </a:solidFill>
                <a:latin typeface="Montserrat" panose="00000500000000000000" pitchFamily="2" charset="0"/>
              </a:rPr>
              <a:t>shape</a:t>
            </a:r>
            <a:r>
              <a:rPr lang="en-GB" sz="1100" dirty="0">
                <a:solidFill>
                  <a:srgbClr val="1A1A1A"/>
                </a:solidFill>
                <a:latin typeface="Montserrat" panose="00000500000000000000" pitchFamily="2" charset="0"/>
              </a:rPr>
              <a:t> of the data using a KDE to identify any unusual </a:t>
            </a:r>
            <a:r>
              <a:rPr lang="en-GB" sz="1100" b="1" dirty="0">
                <a:solidFill>
                  <a:srgbClr val="4D6C75"/>
                </a:solidFill>
                <a:latin typeface="Montserrat" panose="00000500000000000000" pitchFamily="2" charset="0"/>
              </a:rPr>
              <a:t>patterns</a:t>
            </a:r>
            <a:r>
              <a:rPr lang="en-GB" sz="1100" b="1" dirty="0">
                <a:solidFill>
                  <a:srgbClr val="1A1A1A"/>
                </a:solidFill>
                <a:latin typeface="Montserrat" panose="00000500000000000000" pitchFamily="2" charset="0"/>
              </a:rPr>
              <a:t> </a:t>
            </a:r>
            <a:r>
              <a:rPr lang="en-GB" sz="1100" dirty="0">
                <a:solidFill>
                  <a:srgbClr val="1A1A1A"/>
                </a:solidFill>
                <a:latin typeface="Montserrat" panose="00000500000000000000" pitchFamily="2" charset="0"/>
              </a:rPr>
              <a:t>such as long tails.</a:t>
            </a:r>
          </a:p>
          <a:p>
            <a:pPr marL="285750" indent="-285750">
              <a:spcAft>
                <a:spcPts val="500"/>
              </a:spcAft>
              <a:buFont typeface="Arial" panose="020B0604020202020204" pitchFamily="34" charset="0"/>
              <a:buChar char="•"/>
            </a:pPr>
            <a:r>
              <a:rPr lang="en-GB" sz="1400" dirty="0">
                <a:solidFill>
                  <a:srgbClr val="1A1A1A"/>
                </a:solidFill>
                <a:latin typeface="Montserrat" panose="00000500000000000000" pitchFamily="2" charset="0"/>
              </a:rPr>
              <a:t>Extreme Values</a:t>
            </a:r>
          </a:p>
          <a:p>
            <a:pPr lvl="1">
              <a:spcAft>
                <a:spcPts val="500"/>
              </a:spcAft>
            </a:pPr>
            <a:r>
              <a:rPr lang="en-GB" sz="1100" dirty="0">
                <a:solidFill>
                  <a:srgbClr val="1A1A1A"/>
                </a:solidFill>
                <a:latin typeface="Montserrat" panose="00000500000000000000" pitchFamily="2" charset="0"/>
              </a:rPr>
              <a:t>Listing out the </a:t>
            </a:r>
            <a:r>
              <a:rPr lang="en-GB" sz="1100" b="1" dirty="0">
                <a:solidFill>
                  <a:srgbClr val="4D6C75"/>
                </a:solidFill>
                <a:latin typeface="Montserrat" panose="00000500000000000000" pitchFamily="2" charset="0"/>
              </a:rPr>
              <a:t>maximum</a:t>
            </a:r>
            <a:r>
              <a:rPr lang="en-GB" sz="1100" dirty="0">
                <a:solidFill>
                  <a:srgbClr val="1A1A1A"/>
                </a:solidFill>
                <a:latin typeface="Montserrat" panose="00000500000000000000" pitchFamily="2" charset="0"/>
              </a:rPr>
              <a:t> and </a:t>
            </a:r>
            <a:r>
              <a:rPr lang="en-GB" sz="1100" b="1" dirty="0">
                <a:solidFill>
                  <a:srgbClr val="4D6C75"/>
                </a:solidFill>
                <a:latin typeface="Montserrat" panose="00000500000000000000" pitchFamily="2" charset="0"/>
              </a:rPr>
              <a:t>minimum</a:t>
            </a:r>
            <a:r>
              <a:rPr lang="en-GB" sz="1100" dirty="0">
                <a:solidFill>
                  <a:srgbClr val="1A1A1A"/>
                </a:solidFill>
                <a:latin typeface="Montserrat" panose="00000500000000000000" pitchFamily="2" charset="0"/>
              </a:rPr>
              <a:t> values present within a field to determine any exceptional values.</a:t>
            </a:r>
          </a:p>
        </p:txBody>
      </p:sp>
      <p:sp>
        <p:nvSpPr>
          <p:cNvPr id="42" name="Checklist">
            <a:extLst>
              <a:ext uri="{FF2B5EF4-FFF2-40B4-BE49-F238E27FC236}">
                <a16:creationId xmlns:a16="http://schemas.microsoft.com/office/drawing/2014/main" id="{843FCB59-9246-9FED-6619-96C349769D08}"/>
              </a:ext>
            </a:extLst>
          </p:cNvPr>
          <p:cNvSpPr txBox="1"/>
          <p:nvPr/>
        </p:nvSpPr>
        <p:spPr>
          <a:xfrm>
            <a:off x="9007346" y="3086251"/>
            <a:ext cx="3000000" cy="3340349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285750" indent="-285750">
              <a:spcAft>
                <a:spcPts val="500"/>
              </a:spcAft>
              <a:buFont typeface="Arial" panose="020B0604020202020204" pitchFamily="34" charset="0"/>
              <a:buChar char="•"/>
            </a:pPr>
            <a:r>
              <a:rPr lang="en-GB" sz="1400" dirty="0">
                <a:solidFill>
                  <a:srgbClr val="1A1A1A"/>
                </a:solidFill>
                <a:latin typeface="Montserrat" panose="00000500000000000000" pitchFamily="2" charset="0"/>
              </a:rPr>
              <a:t>Outliers</a:t>
            </a:r>
          </a:p>
          <a:p>
            <a:pPr lvl="1">
              <a:spcAft>
                <a:spcPts val="1000"/>
              </a:spcAft>
            </a:pPr>
            <a:r>
              <a:rPr lang="en-GB" sz="1100" dirty="0">
                <a:solidFill>
                  <a:srgbClr val="1A1A1A"/>
                </a:solidFill>
                <a:latin typeface="Montserrat" panose="00000500000000000000" pitchFamily="2" charset="0"/>
              </a:rPr>
              <a:t>Identifying abnormal values using mathematical measurements. </a:t>
            </a:r>
            <a:br>
              <a:rPr lang="en-GB" sz="1100" dirty="0">
                <a:solidFill>
                  <a:srgbClr val="1A1A1A"/>
                </a:solidFill>
                <a:latin typeface="Montserrat" panose="00000500000000000000" pitchFamily="2" charset="0"/>
              </a:rPr>
            </a:br>
            <a:br>
              <a:rPr lang="en-GB" sz="1100" dirty="0">
                <a:solidFill>
                  <a:srgbClr val="1A1A1A"/>
                </a:solidFill>
                <a:latin typeface="Montserrat" panose="00000500000000000000" pitchFamily="2" charset="0"/>
              </a:rPr>
            </a:br>
            <a:r>
              <a:rPr lang="en-GB" sz="1100" dirty="0">
                <a:solidFill>
                  <a:srgbClr val="1A1A1A"/>
                </a:solidFill>
                <a:latin typeface="Montserrat" panose="00000500000000000000" pitchFamily="2" charset="0"/>
              </a:rPr>
              <a:t>Z-Score and IQR were used. </a:t>
            </a:r>
            <a:br>
              <a:rPr lang="en-GB" sz="1100" dirty="0">
                <a:solidFill>
                  <a:srgbClr val="1A1A1A"/>
                </a:solidFill>
                <a:latin typeface="Montserrat" panose="00000500000000000000" pitchFamily="2" charset="0"/>
              </a:rPr>
            </a:br>
            <a:r>
              <a:rPr lang="en-GB" sz="1100" b="1" dirty="0">
                <a:solidFill>
                  <a:srgbClr val="4D6C75"/>
                </a:solidFill>
                <a:latin typeface="Montserrat" panose="00000500000000000000" pitchFamily="2" charset="0"/>
              </a:rPr>
              <a:t>See notebook for explanation</a:t>
            </a:r>
            <a:r>
              <a:rPr lang="en-GB" sz="1100" dirty="0">
                <a:solidFill>
                  <a:srgbClr val="DC2C3E"/>
                </a:solidFill>
                <a:latin typeface="Montserrat" panose="00000500000000000000" pitchFamily="2" charset="0"/>
              </a:rPr>
              <a:t>.</a:t>
            </a:r>
          </a:p>
          <a:p>
            <a:pPr marL="285750" indent="-285750">
              <a:spcAft>
                <a:spcPts val="500"/>
              </a:spcAft>
              <a:buFont typeface="Arial" panose="020B0604020202020204" pitchFamily="34" charset="0"/>
              <a:buChar char="•"/>
            </a:pPr>
            <a:r>
              <a:rPr lang="en-GB" sz="1400" b="1" dirty="0">
                <a:solidFill>
                  <a:srgbClr val="1A1A1A"/>
                </a:solidFill>
                <a:latin typeface="Montserrat" panose="00000500000000000000" pitchFamily="2" charset="0"/>
              </a:rPr>
              <a:t>Key Findings</a:t>
            </a:r>
          </a:p>
          <a:p>
            <a:pPr marL="742950" lvl="1" indent="-285750">
              <a:spcAft>
                <a:spcPts val="300"/>
              </a:spcAft>
              <a:buFont typeface="Courier New" panose="02070309020205020404" pitchFamily="49" charset="0"/>
              <a:buChar char="o"/>
            </a:pPr>
            <a:r>
              <a:rPr lang="en-GB" sz="1100" dirty="0">
                <a:solidFill>
                  <a:srgbClr val="1A1A1A"/>
                </a:solidFill>
                <a:latin typeface="Montserrat" panose="00000500000000000000" pitchFamily="2" charset="0"/>
              </a:rPr>
              <a:t>Incorrect data typing.</a:t>
            </a:r>
          </a:p>
          <a:p>
            <a:pPr marL="742950" lvl="1" indent="-285750">
              <a:spcAft>
                <a:spcPts val="300"/>
              </a:spcAft>
              <a:buFont typeface="Courier New" panose="02070309020205020404" pitchFamily="49" charset="0"/>
              <a:buChar char="o"/>
            </a:pPr>
            <a:r>
              <a:rPr lang="en-GB" sz="1100" dirty="0">
                <a:solidFill>
                  <a:srgbClr val="1A1A1A"/>
                </a:solidFill>
                <a:latin typeface="Montserrat" panose="00000500000000000000" pitchFamily="2" charset="0"/>
              </a:rPr>
              <a:t>Misaligned data.</a:t>
            </a:r>
          </a:p>
          <a:p>
            <a:pPr marL="742950" lvl="1" indent="-285750">
              <a:spcAft>
                <a:spcPts val="300"/>
              </a:spcAft>
              <a:buFont typeface="Courier New" panose="02070309020205020404" pitchFamily="49" charset="0"/>
              <a:buChar char="o"/>
            </a:pPr>
            <a:r>
              <a:rPr lang="en-GB" sz="1100" dirty="0">
                <a:solidFill>
                  <a:srgbClr val="1A1A1A"/>
                </a:solidFill>
                <a:latin typeface="Montserrat" panose="00000500000000000000" pitchFamily="2" charset="0"/>
              </a:rPr>
              <a:t>Inconsistent measurements.</a:t>
            </a:r>
          </a:p>
          <a:p>
            <a:pPr marL="742950" lvl="1" indent="-285750">
              <a:spcAft>
                <a:spcPts val="300"/>
              </a:spcAft>
              <a:buFont typeface="Courier New" panose="02070309020205020404" pitchFamily="49" charset="0"/>
              <a:buChar char="o"/>
            </a:pPr>
            <a:r>
              <a:rPr lang="en-GB" sz="1100" dirty="0">
                <a:solidFill>
                  <a:srgbClr val="1A1A1A"/>
                </a:solidFill>
                <a:latin typeface="Montserrat" panose="00000500000000000000" pitchFamily="2" charset="0"/>
              </a:rPr>
              <a:t>Stray characters.</a:t>
            </a:r>
          </a:p>
          <a:p>
            <a:pPr marL="742950" lvl="1" indent="-285750">
              <a:spcAft>
                <a:spcPts val="300"/>
              </a:spcAft>
              <a:buFont typeface="Courier New" panose="02070309020205020404" pitchFamily="49" charset="0"/>
              <a:buChar char="o"/>
            </a:pPr>
            <a:r>
              <a:rPr lang="en-GB" sz="1100" dirty="0">
                <a:solidFill>
                  <a:srgbClr val="1A1A1A"/>
                </a:solidFill>
                <a:latin typeface="Montserrat" panose="00000500000000000000" pitchFamily="2" charset="0"/>
              </a:rPr>
              <a:t>Out-of-range values.</a:t>
            </a:r>
          </a:p>
          <a:p>
            <a:pPr marL="742950" lvl="1" indent="-285750">
              <a:spcAft>
                <a:spcPts val="300"/>
              </a:spcAft>
              <a:buFont typeface="Courier New" panose="02070309020205020404" pitchFamily="49" charset="0"/>
              <a:buChar char="o"/>
            </a:pPr>
            <a:r>
              <a:rPr lang="en-GB" sz="1100" dirty="0">
                <a:solidFill>
                  <a:srgbClr val="1A1A1A"/>
                </a:solidFill>
                <a:latin typeface="Montserrat" panose="00000500000000000000" pitchFamily="2" charset="0"/>
              </a:rPr>
              <a:t>Flagged outliers.</a:t>
            </a:r>
          </a:p>
        </p:txBody>
      </p:sp>
      <p:sp>
        <p:nvSpPr>
          <p:cNvPr id="44" name="Checklist">
            <a:extLst>
              <a:ext uri="{FF2B5EF4-FFF2-40B4-BE49-F238E27FC236}">
                <a16:creationId xmlns:a16="http://schemas.microsoft.com/office/drawing/2014/main" id="{B1AE13AB-51D1-1CB3-73C5-6D2330C7246F}"/>
              </a:ext>
            </a:extLst>
          </p:cNvPr>
          <p:cNvSpPr txBox="1"/>
          <p:nvPr/>
        </p:nvSpPr>
        <p:spPr>
          <a:xfrm>
            <a:off x="6007346" y="2375696"/>
            <a:ext cx="6000000" cy="654569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>
              <a:spcAft>
                <a:spcPts val="500"/>
              </a:spcAft>
            </a:pPr>
            <a:r>
              <a:rPr lang="en-GB" sz="1100" dirty="0">
                <a:solidFill>
                  <a:srgbClr val="1A1A1A"/>
                </a:solidFill>
                <a:latin typeface="Montserrat" panose="00000500000000000000" pitchFamily="2" charset="0"/>
              </a:rPr>
              <a:t>Data profiling is used to summarise and examine data to assess its overall quality for given study. Due to VARCHAR typing and data misalignment, most of the data profiling occurred </a:t>
            </a:r>
            <a:r>
              <a:rPr lang="en-GB" sz="1100" b="1" i="1" dirty="0">
                <a:solidFill>
                  <a:srgbClr val="4D6C75"/>
                </a:solidFill>
                <a:latin typeface="Montserrat" panose="00000500000000000000" pitchFamily="2" charset="0"/>
              </a:rPr>
              <a:t>after</a:t>
            </a:r>
            <a:r>
              <a:rPr lang="en-GB" sz="1100" dirty="0">
                <a:solidFill>
                  <a:srgbClr val="1A1A1A"/>
                </a:solidFill>
                <a:latin typeface="Montserrat" panose="00000500000000000000" pitchFamily="2" charset="0"/>
              </a:rPr>
              <a:t> some</a:t>
            </a:r>
            <a:r>
              <a:rPr lang="en-GB" sz="1100" b="1" dirty="0">
                <a:solidFill>
                  <a:srgbClr val="1A1A1A"/>
                </a:solidFill>
                <a:latin typeface="Montserrat" panose="00000500000000000000" pitchFamily="2" charset="0"/>
              </a:rPr>
              <a:t> </a:t>
            </a:r>
            <a:r>
              <a:rPr lang="en-GB" sz="1100" b="1" dirty="0">
                <a:solidFill>
                  <a:srgbClr val="4D6C75"/>
                </a:solidFill>
                <a:latin typeface="Montserrat" panose="00000500000000000000" pitchFamily="2" charset="0"/>
              </a:rPr>
              <a:t>initial data cleansing</a:t>
            </a:r>
            <a:r>
              <a:rPr lang="en-GB" sz="1100" dirty="0">
                <a:solidFill>
                  <a:srgbClr val="1A1A1A"/>
                </a:solidFill>
                <a:latin typeface="Montserrat" panose="00000500000000000000" pitchFamily="2" charset="0"/>
              </a:rPr>
              <a:t>. </a:t>
            </a:r>
          </a:p>
        </p:txBody>
      </p:sp>
    </p:spTree>
    <p:extLst>
      <p:ext uri="{BB962C8B-B14F-4D97-AF65-F5344CB8AC3E}">
        <p14:creationId xmlns:p14="http://schemas.microsoft.com/office/powerpoint/2010/main" val="90637913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FDF49E0-E57C-694C-09EE-BA7B0766DCE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d Panel">
            <a:extLst>
              <a:ext uri="{FF2B5EF4-FFF2-40B4-BE49-F238E27FC236}">
                <a16:creationId xmlns:a16="http://schemas.microsoft.com/office/drawing/2014/main" id="{2D7682D8-968F-D6FF-C16B-6B27A7487506}"/>
              </a:ext>
            </a:extLst>
          </p:cNvPr>
          <p:cNvSpPr/>
          <p:nvPr/>
        </p:nvSpPr>
        <p:spPr>
          <a:xfrm>
            <a:off x="0" y="1"/>
            <a:ext cx="12192000" cy="3334740"/>
          </a:xfrm>
          <a:prstGeom prst="rect">
            <a:avLst/>
          </a:prstGeom>
          <a:solidFill>
            <a:srgbClr val="DC2C3E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20FDE4DA-46FA-3087-E650-5873CF1A0BE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en-GB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Montserrat SemiBold" panose="00000700000000000000" pitchFamily="2" charset="0"/>
              </a:rPr>
              <a:t>CLEANSING</a:t>
            </a:r>
          </a:p>
        </p:txBody>
      </p:sp>
      <p:sp>
        <p:nvSpPr>
          <p:cNvPr id="7" name="Image Card">
            <a:extLst>
              <a:ext uri="{FF2B5EF4-FFF2-40B4-BE49-F238E27FC236}">
                <a16:creationId xmlns:a16="http://schemas.microsoft.com/office/drawing/2014/main" id="{57EC87C0-389F-19CB-D5BF-5E022D03DC1B}"/>
              </a:ext>
            </a:extLst>
          </p:cNvPr>
          <p:cNvSpPr/>
          <p:nvPr/>
        </p:nvSpPr>
        <p:spPr>
          <a:xfrm>
            <a:off x="4429888" y="1781175"/>
            <a:ext cx="3332224" cy="3909222"/>
          </a:xfrm>
          <a:prstGeom prst="roundRect">
            <a:avLst>
              <a:gd name="adj" fmla="val 6838"/>
            </a:avLst>
          </a:prstGeom>
          <a:solidFill>
            <a:schemeClr val="bg1"/>
          </a:solidFill>
          <a:ln w="9525">
            <a:solidFill>
              <a:srgbClr val="E3DCCB"/>
            </a:solidFill>
          </a:ln>
          <a:effectLst>
            <a:outerShdw blurRad="90000" dist="38100" dir="5400000" rotWithShape="0">
              <a:srgbClr val="000000">
                <a:alpha val="22000"/>
              </a:srgbClr>
            </a:outerShdw>
          </a:effectLst>
        </p:spPr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8" name="Image Card">
            <a:extLst>
              <a:ext uri="{FF2B5EF4-FFF2-40B4-BE49-F238E27FC236}">
                <a16:creationId xmlns:a16="http://schemas.microsoft.com/office/drawing/2014/main" id="{D68AB0FD-8C50-E9F0-CC08-B2D97EE1FD29}"/>
              </a:ext>
            </a:extLst>
          </p:cNvPr>
          <p:cNvSpPr/>
          <p:nvPr/>
        </p:nvSpPr>
        <p:spPr>
          <a:xfrm>
            <a:off x="8310944" y="1781175"/>
            <a:ext cx="3332224" cy="3909222"/>
          </a:xfrm>
          <a:prstGeom prst="roundRect">
            <a:avLst>
              <a:gd name="adj" fmla="val 6838"/>
            </a:avLst>
          </a:prstGeom>
          <a:solidFill>
            <a:schemeClr val="bg1"/>
          </a:solidFill>
          <a:ln w="9525">
            <a:solidFill>
              <a:srgbClr val="E3DCCB"/>
            </a:solidFill>
          </a:ln>
          <a:effectLst>
            <a:outerShdw blurRad="90000" dist="38100" dir="5400000" rotWithShape="0">
              <a:srgbClr val="000000">
                <a:alpha val="22000"/>
              </a:srgbClr>
            </a:outerShdw>
          </a:effectLst>
        </p:spPr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9" name="Image Card">
            <a:extLst>
              <a:ext uri="{FF2B5EF4-FFF2-40B4-BE49-F238E27FC236}">
                <a16:creationId xmlns:a16="http://schemas.microsoft.com/office/drawing/2014/main" id="{D837D049-BA4D-470B-CB57-35CB54CFC985}"/>
              </a:ext>
            </a:extLst>
          </p:cNvPr>
          <p:cNvSpPr/>
          <p:nvPr/>
        </p:nvSpPr>
        <p:spPr>
          <a:xfrm>
            <a:off x="548832" y="1781175"/>
            <a:ext cx="3332224" cy="3909222"/>
          </a:xfrm>
          <a:prstGeom prst="roundRect">
            <a:avLst>
              <a:gd name="adj" fmla="val 6838"/>
            </a:avLst>
          </a:prstGeom>
          <a:solidFill>
            <a:schemeClr val="bg1"/>
          </a:solidFill>
          <a:ln w="9525">
            <a:solidFill>
              <a:srgbClr val="E3DCCB"/>
            </a:solidFill>
          </a:ln>
          <a:effectLst>
            <a:outerShdw blurRad="90000" dist="38100" dir="5400000" rotWithShape="0">
              <a:srgbClr val="000000">
                <a:alpha val="22000"/>
              </a:srgbClr>
            </a:outerShdw>
          </a:effectLst>
        </p:spPr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10" name="Contents Heading">
            <a:extLst>
              <a:ext uri="{FF2B5EF4-FFF2-40B4-BE49-F238E27FC236}">
                <a16:creationId xmlns:a16="http://schemas.microsoft.com/office/drawing/2014/main" id="{C618ECA9-A99C-3574-34A6-D437B20D597F}"/>
              </a:ext>
            </a:extLst>
          </p:cNvPr>
          <p:cNvSpPr txBox="1"/>
          <p:nvPr/>
        </p:nvSpPr>
        <p:spPr>
          <a:xfrm>
            <a:off x="799522" y="2026035"/>
            <a:ext cx="3040394" cy="461665"/>
          </a:xfrm>
          <a:prstGeom prst="rect">
            <a:avLst/>
          </a:prstGeom>
          <a:noFill/>
        </p:spPr>
        <p:txBody>
          <a:bodyPr wrap="square" rtlCol="0" anchor="ctr">
            <a:noAutofit/>
          </a:bodyPr>
          <a:lstStyle/>
          <a:p>
            <a:r>
              <a:rPr lang="en-GB" sz="2400" dirty="0">
                <a:solidFill>
                  <a:srgbClr val="DC2C3E"/>
                </a:solidFill>
                <a:latin typeface="Montserrat" panose="00000500000000000000" pitchFamily="2" charset="0"/>
              </a:rPr>
              <a:t>Structure</a:t>
            </a:r>
          </a:p>
        </p:txBody>
      </p:sp>
      <p:sp>
        <p:nvSpPr>
          <p:cNvPr id="11" name="Heading Bar">
            <a:extLst>
              <a:ext uri="{FF2B5EF4-FFF2-40B4-BE49-F238E27FC236}">
                <a16:creationId xmlns:a16="http://schemas.microsoft.com/office/drawing/2014/main" id="{06A6D809-DB92-344B-AA2E-8454DB61D158}"/>
              </a:ext>
            </a:extLst>
          </p:cNvPr>
          <p:cNvSpPr/>
          <p:nvPr/>
        </p:nvSpPr>
        <p:spPr>
          <a:xfrm>
            <a:off x="728080" y="2063069"/>
            <a:ext cx="61913" cy="390387"/>
          </a:xfrm>
          <a:prstGeom prst="rect">
            <a:avLst/>
          </a:prstGeom>
          <a:solidFill>
            <a:srgbClr val="DC2C3E"/>
          </a:solidFill>
          <a:ln>
            <a:noFill/>
          </a:ln>
        </p:spPr>
        <p:txBody>
          <a:bodyPr rtlCol="0" anchor="ctr"/>
          <a:lstStyle/>
          <a:p>
            <a:pPr algn="ctr"/>
            <a:endParaRPr lang="en-GB" dirty="0">
              <a:solidFill>
                <a:srgbClr val="DC2C3E"/>
              </a:solidFill>
            </a:endParaRPr>
          </a:p>
        </p:txBody>
      </p:sp>
      <p:sp>
        <p:nvSpPr>
          <p:cNvPr id="12" name="Contents Heading">
            <a:extLst>
              <a:ext uri="{FF2B5EF4-FFF2-40B4-BE49-F238E27FC236}">
                <a16:creationId xmlns:a16="http://schemas.microsoft.com/office/drawing/2014/main" id="{42B7E489-9043-42AF-B773-205AE771A222}"/>
              </a:ext>
            </a:extLst>
          </p:cNvPr>
          <p:cNvSpPr txBox="1"/>
          <p:nvPr/>
        </p:nvSpPr>
        <p:spPr>
          <a:xfrm>
            <a:off x="4671053" y="2026034"/>
            <a:ext cx="3040394" cy="461665"/>
          </a:xfrm>
          <a:prstGeom prst="rect">
            <a:avLst/>
          </a:prstGeom>
          <a:noFill/>
        </p:spPr>
        <p:txBody>
          <a:bodyPr wrap="square" rtlCol="0" anchor="ctr">
            <a:noAutofit/>
          </a:bodyPr>
          <a:lstStyle/>
          <a:p>
            <a:r>
              <a:rPr lang="en-GB" sz="2400" dirty="0">
                <a:solidFill>
                  <a:srgbClr val="DC2C3E"/>
                </a:solidFill>
                <a:latin typeface="Montserrat" panose="00000500000000000000" pitchFamily="2" charset="0"/>
              </a:rPr>
              <a:t>Strings</a:t>
            </a:r>
          </a:p>
        </p:txBody>
      </p:sp>
      <p:sp>
        <p:nvSpPr>
          <p:cNvPr id="13" name="Contents Heading">
            <a:extLst>
              <a:ext uri="{FF2B5EF4-FFF2-40B4-BE49-F238E27FC236}">
                <a16:creationId xmlns:a16="http://schemas.microsoft.com/office/drawing/2014/main" id="{B36C4702-F51D-C660-C58A-50823B9C8A9E}"/>
              </a:ext>
            </a:extLst>
          </p:cNvPr>
          <p:cNvSpPr txBox="1"/>
          <p:nvPr/>
        </p:nvSpPr>
        <p:spPr>
          <a:xfrm>
            <a:off x="8571159" y="2026034"/>
            <a:ext cx="3040394" cy="461665"/>
          </a:xfrm>
          <a:prstGeom prst="rect">
            <a:avLst/>
          </a:prstGeom>
          <a:noFill/>
        </p:spPr>
        <p:txBody>
          <a:bodyPr wrap="square" rtlCol="0" anchor="ctr">
            <a:noAutofit/>
          </a:bodyPr>
          <a:lstStyle/>
          <a:p>
            <a:r>
              <a:rPr lang="en-GB" sz="2400" dirty="0">
                <a:solidFill>
                  <a:srgbClr val="DC2C3E"/>
                </a:solidFill>
                <a:latin typeface="Montserrat" panose="00000500000000000000" pitchFamily="2" charset="0"/>
              </a:rPr>
              <a:t>Numeric</a:t>
            </a:r>
          </a:p>
        </p:txBody>
      </p:sp>
      <p:cxnSp>
        <p:nvCxnSpPr>
          <p:cNvPr id="14" name="Chrome Divider">
            <a:extLst>
              <a:ext uri="{FF2B5EF4-FFF2-40B4-BE49-F238E27FC236}">
                <a16:creationId xmlns:a16="http://schemas.microsoft.com/office/drawing/2014/main" id="{AD4987B6-1F93-10AA-5DB8-44EE41F79BEE}"/>
              </a:ext>
            </a:extLst>
          </p:cNvPr>
          <p:cNvCxnSpPr/>
          <p:nvPr/>
        </p:nvCxnSpPr>
        <p:spPr>
          <a:xfrm>
            <a:off x="789993" y="2612259"/>
            <a:ext cx="2880000" cy="0"/>
          </a:xfrm>
          <a:prstGeom prst="line">
            <a:avLst/>
          </a:prstGeom>
          <a:ln w="9525">
            <a:solidFill>
              <a:srgbClr val="DC2C3E"/>
            </a:solidFill>
          </a:ln>
        </p:spPr>
      </p:cxnSp>
      <p:cxnSp>
        <p:nvCxnSpPr>
          <p:cNvPr id="15" name="Chrome Divider">
            <a:extLst>
              <a:ext uri="{FF2B5EF4-FFF2-40B4-BE49-F238E27FC236}">
                <a16:creationId xmlns:a16="http://schemas.microsoft.com/office/drawing/2014/main" id="{4E103264-EDFD-02EF-79C6-57393D616293}"/>
              </a:ext>
            </a:extLst>
          </p:cNvPr>
          <p:cNvCxnSpPr/>
          <p:nvPr/>
        </p:nvCxnSpPr>
        <p:spPr>
          <a:xfrm>
            <a:off x="4647618" y="2612259"/>
            <a:ext cx="2880000" cy="0"/>
          </a:xfrm>
          <a:prstGeom prst="line">
            <a:avLst/>
          </a:prstGeom>
          <a:ln w="9525">
            <a:solidFill>
              <a:srgbClr val="DC2C3E"/>
            </a:solidFill>
          </a:ln>
        </p:spPr>
      </p:cxnSp>
      <p:cxnSp>
        <p:nvCxnSpPr>
          <p:cNvPr id="16" name="Chrome Divider">
            <a:extLst>
              <a:ext uri="{FF2B5EF4-FFF2-40B4-BE49-F238E27FC236}">
                <a16:creationId xmlns:a16="http://schemas.microsoft.com/office/drawing/2014/main" id="{A6728652-6162-716B-8B83-DD89C0AAC985}"/>
              </a:ext>
            </a:extLst>
          </p:cNvPr>
          <p:cNvCxnSpPr/>
          <p:nvPr/>
        </p:nvCxnSpPr>
        <p:spPr>
          <a:xfrm>
            <a:off x="8543343" y="2612259"/>
            <a:ext cx="2880000" cy="0"/>
          </a:xfrm>
          <a:prstGeom prst="line">
            <a:avLst/>
          </a:prstGeom>
          <a:ln w="9525">
            <a:solidFill>
              <a:srgbClr val="DC2C3E"/>
            </a:solidFill>
          </a:ln>
        </p:spPr>
      </p:cxnSp>
      <p:sp>
        <p:nvSpPr>
          <p:cNvPr id="18" name="Heading Bar">
            <a:extLst>
              <a:ext uri="{FF2B5EF4-FFF2-40B4-BE49-F238E27FC236}">
                <a16:creationId xmlns:a16="http://schemas.microsoft.com/office/drawing/2014/main" id="{D484237B-6B63-C5CD-C41C-254834CFA01B}"/>
              </a:ext>
            </a:extLst>
          </p:cNvPr>
          <p:cNvSpPr/>
          <p:nvPr/>
        </p:nvSpPr>
        <p:spPr>
          <a:xfrm>
            <a:off x="4604751" y="2061152"/>
            <a:ext cx="61913" cy="390387"/>
          </a:xfrm>
          <a:prstGeom prst="rect">
            <a:avLst/>
          </a:prstGeom>
          <a:solidFill>
            <a:srgbClr val="DC2C3E"/>
          </a:solidFill>
          <a:ln>
            <a:noFill/>
          </a:ln>
        </p:spPr>
        <p:txBody>
          <a:bodyPr rtlCol="0" anchor="ctr"/>
          <a:lstStyle/>
          <a:p>
            <a:pPr algn="ctr"/>
            <a:endParaRPr lang="en-GB" dirty="0">
              <a:solidFill>
                <a:srgbClr val="DC2C3E"/>
              </a:solidFill>
            </a:endParaRPr>
          </a:p>
        </p:txBody>
      </p:sp>
      <p:sp>
        <p:nvSpPr>
          <p:cNvPr id="19" name="Heading Bar">
            <a:extLst>
              <a:ext uri="{FF2B5EF4-FFF2-40B4-BE49-F238E27FC236}">
                <a16:creationId xmlns:a16="http://schemas.microsoft.com/office/drawing/2014/main" id="{4528A236-F7CC-3DC9-FC79-81110489ADB2}"/>
              </a:ext>
            </a:extLst>
          </p:cNvPr>
          <p:cNvSpPr/>
          <p:nvPr/>
        </p:nvSpPr>
        <p:spPr>
          <a:xfrm>
            <a:off x="8503791" y="2063069"/>
            <a:ext cx="61913" cy="390387"/>
          </a:xfrm>
          <a:prstGeom prst="rect">
            <a:avLst/>
          </a:prstGeom>
          <a:solidFill>
            <a:srgbClr val="DC2C3E"/>
          </a:solidFill>
          <a:ln>
            <a:noFill/>
          </a:ln>
        </p:spPr>
        <p:txBody>
          <a:bodyPr rtlCol="0" anchor="ctr"/>
          <a:lstStyle/>
          <a:p>
            <a:pPr algn="ctr"/>
            <a:endParaRPr lang="en-GB" dirty="0">
              <a:solidFill>
                <a:srgbClr val="DC2C3E"/>
              </a:solidFill>
            </a:endParaRPr>
          </a:p>
        </p:txBody>
      </p:sp>
      <p:sp>
        <p:nvSpPr>
          <p:cNvPr id="20" name="Checklist">
            <a:extLst>
              <a:ext uri="{FF2B5EF4-FFF2-40B4-BE49-F238E27FC236}">
                <a16:creationId xmlns:a16="http://schemas.microsoft.com/office/drawing/2014/main" id="{26C49228-2B17-A93A-0BC9-FE34D008DBA6}"/>
              </a:ext>
            </a:extLst>
          </p:cNvPr>
          <p:cNvSpPr txBox="1"/>
          <p:nvPr/>
        </p:nvSpPr>
        <p:spPr>
          <a:xfrm>
            <a:off x="723699" y="2678492"/>
            <a:ext cx="3019626" cy="2760281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>
              <a:spcAft>
                <a:spcPts val="500"/>
              </a:spcAft>
            </a:pPr>
            <a:r>
              <a:rPr lang="en-GB" sz="1100" b="1" dirty="0">
                <a:solidFill>
                  <a:srgbClr val="DC2C3E"/>
                </a:solidFill>
                <a:latin typeface="Montserrat" panose="00000500000000000000" pitchFamily="2" charset="0"/>
              </a:rPr>
              <a:t>Deduplication</a:t>
            </a:r>
          </a:p>
          <a:p>
            <a:pPr>
              <a:spcAft>
                <a:spcPts val="500"/>
              </a:spcAft>
            </a:pPr>
            <a:r>
              <a:rPr lang="en-GB" sz="1100" dirty="0">
                <a:latin typeface="Montserrat" panose="00000500000000000000" pitchFamily="2" charset="0"/>
              </a:rPr>
              <a:t>Eliminating </a:t>
            </a:r>
            <a:r>
              <a:rPr lang="en-GB" sz="1100" b="1" dirty="0">
                <a:solidFill>
                  <a:srgbClr val="4D6C75"/>
                </a:solidFill>
                <a:latin typeface="Montserrat" panose="00000500000000000000" pitchFamily="2" charset="0"/>
              </a:rPr>
              <a:t>unintentional</a:t>
            </a:r>
            <a:r>
              <a:rPr lang="en-GB" sz="1100" dirty="0">
                <a:latin typeface="Montserrat" panose="00000500000000000000" pitchFamily="2" charset="0"/>
              </a:rPr>
              <a:t> reoccurring rows. </a:t>
            </a:r>
            <a:r>
              <a:rPr lang="en-GB" sz="1100" b="1" dirty="0">
                <a:solidFill>
                  <a:srgbClr val="4D6C75"/>
                </a:solidFill>
                <a:latin typeface="Montserrat" panose="00000500000000000000" pitchFamily="2" charset="0"/>
              </a:rPr>
              <a:t>2272</a:t>
            </a:r>
            <a:r>
              <a:rPr lang="en-GB" sz="1100" dirty="0">
                <a:latin typeface="Montserrat" panose="00000500000000000000" pitchFamily="2" charset="0"/>
              </a:rPr>
              <a:t> flagged duplicates that were retained due to insufficient evidence to remove them.</a:t>
            </a:r>
          </a:p>
          <a:p>
            <a:pPr>
              <a:spcAft>
                <a:spcPts val="500"/>
              </a:spcAft>
            </a:pPr>
            <a:r>
              <a:rPr lang="en-GB" sz="1100" b="1" dirty="0">
                <a:solidFill>
                  <a:srgbClr val="DC2C3E"/>
                </a:solidFill>
                <a:latin typeface="Montserrat" panose="00000500000000000000" pitchFamily="2" charset="0"/>
              </a:rPr>
              <a:t>Empty Rows</a:t>
            </a:r>
          </a:p>
          <a:p>
            <a:pPr>
              <a:spcAft>
                <a:spcPts val="500"/>
              </a:spcAft>
            </a:pPr>
            <a:r>
              <a:rPr lang="en-GB" sz="1100" dirty="0">
                <a:solidFill>
                  <a:srgbClr val="1A1A1A"/>
                </a:solidFill>
                <a:latin typeface="Montserrat" panose="00000500000000000000" pitchFamily="2" charset="0"/>
              </a:rPr>
              <a:t>Dropping rows that contain no data.</a:t>
            </a:r>
          </a:p>
          <a:p>
            <a:pPr>
              <a:spcAft>
                <a:spcPts val="500"/>
              </a:spcAft>
            </a:pPr>
            <a:r>
              <a:rPr lang="en-GB" sz="1100" b="1" dirty="0">
                <a:solidFill>
                  <a:srgbClr val="DC2C3E"/>
                </a:solidFill>
                <a:latin typeface="Montserrat" panose="00000500000000000000" pitchFamily="2" charset="0"/>
              </a:rPr>
              <a:t>Column Headers</a:t>
            </a:r>
          </a:p>
          <a:p>
            <a:pPr>
              <a:spcAft>
                <a:spcPts val="500"/>
              </a:spcAft>
            </a:pPr>
            <a:r>
              <a:rPr lang="en-GB" sz="1100" dirty="0">
                <a:solidFill>
                  <a:srgbClr val="1A1A1A"/>
                </a:solidFill>
                <a:latin typeface="Montserrat" panose="00000500000000000000" pitchFamily="2" charset="0"/>
              </a:rPr>
              <a:t>Applying </a:t>
            </a:r>
            <a:r>
              <a:rPr lang="en-GB" sz="1100" dirty="0">
                <a:latin typeface="Montserrat" panose="00000500000000000000" pitchFamily="2" charset="0"/>
              </a:rPr>
              <a:t>consistent formatting</a:t>
            </a:r>
            <a:r>
              <a:rPr lang="en-GB" sz="1100" dirty="0">
                <a:solidFill>
                  <a:srgbClr val="1A1A1A"/>
                </a:solidFill>
                <a:latin typeface="Montserrat" panose="00000500000000000000" pitchFamily="2" charset="0"/>
              </a:rPr>
              <a:t> rules such as </a:t>
            </a:r>
            <a:r>
              <a:rPr lang="en-GB" sz="1100" b="1" dirty="0">
                <a:solidFill>
                  <a:srgbClr val="4D6C75"/>
                </a:solidFill>
                <a:latin typeface="Montserrat" panose="00000500000000000000" pitchFamily="2" charset="0"/>
              </a:rPr>
              <a:t>casing</a:t>
            </a:r>
            <a:r>
              <a:rPr lang="en-GB" sz="1100" dirty="0">
                <a:solidFill>
                  <a:srgbClr val="1A1A1A"/>
                </a:solidFill>
                <a:latin typeface="Montserrat" panose="00000500000000000000" pitchFamily="2" charset="0"/>
              </a:rPr>
              <a:t> and </a:t>
            </a:r>
            <a:r>
              <a:rPr lang="en-GB" sz="1100" b="1" dirty="0">
                <a:solidFill>
                  <a:srgbClr val="4D6C75"/>
                </a:solidFill>
                <a:latin typeface="Montserrat" panose="00000500000000000000" pitchFamily="2" charset="0"/>
              </a:rPr>
              <a:t>measurement</a:t>
            </a:r>
            <a:r>
              <a:rPr lang="en-GB" sz="1100" dirty="0">
                <a:solidFill>
                  <a:srgbClr val="1A1A1A"/>
                </a:solidFill>
                <a:latin typeface="Montserrat" panose="00000500000000000000" pitchFamily="2" charset="0"/>
              </a:rPr>
              <a:t> for clear and efficient querying.</a:t>
            </a:r>
          </a:p>
        </p:txBody>
      </p:sp>
      <p:sp>
        <p:nvSpPr>
          <p:cNvPr id="21" name="Checklist">
            <a:extLst>
              <a:ext uri="{FF2B5EF4-FFF2-40B4-BE49-F238E27FC236}">
                <a16:creationId xmlns:a16="http://schemas.microsoft.com/office/drawing/2014/main" id="{E8D1794E-1912-2DBC-9492-767FBCA6FE98}"/>
              </a:ext>
            </a:extLst>
          </p:cNvPr>
          <p:cNvSpPr txBox="1"/>
          <p:nvPr/>
        </p:nvSpPr>
        <p:spPr>
          <a:xfrm>
            <a:off x="4577805" y="2678492"/>
            <a:ext cx="3019626" cy="2760281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>
              <a:spcAft>
                <a:spcPts val="500"/>
              </a:spcAft>
            </a:pPr>
            <a:r>
              <a:rPr lang="en-GB" sz="1100" b="1" dirty="0">
                <a:solidFill>
                  <a:srgbClr val="DC2C3E"/>
                </a:solidFill>
                <a:latin typeface="Montserrat" panose="00000500000000000000" pitchFamily="2" charset="0"/>
              </a:rPr>
              <a:t>Stray Characters</a:t>
            </a:r>
          </a:p>
          <a:p>
            <a:pPr>
              <a:spcAft>
                <a:spcPts val="500"/>
              </a:spcAft>
            </a:pPr>
            <a:r>
              <a:rPr lang="en-GB" sz="1100" dirty="0">
                <a:latin typeface="Montserrat" panose="00000500000000000000" pitchFamily="2" charset="0"/>
              </a:rPr>
              <a:t>Removing redundant characters that affect querying or calculations such as </a:t>
            </a:r>
            <a:r>
              <a:rPr lang="en-GB" sz="1100" b="1" dirty="0">
                <a:solidFill>
                  <a:srgbClr val="4D6C75"/>
                </a:solidFill>
                <a:latin typeface="Montserrat" panose="00000500000000000000" pitchFamily="2" charset="0"/>
              </a:rPr>
              <a:t>commas</a:t>
            </a:r>
            <a:r>
              <a:rPr lang="en-GB" sz="1100" dirty="0">
                <a:latin typeface="Montserrat" panose="00000500000000000000" pitchFamily="2" charset="0"/>
              </a:rPr>
              <a:t>, </a:t>
            </a:r>
            <a:r>
              <a:rPr lang="en-GB" sz="1100" b="1" dirty="0">
                <a:solidFill>
                  <a:srgbClr val="4D6C75"/>
                </a:solidFill>
                <a:latin typeface="Montserrat" panose="00000500000000000000" pitchFamily="2" charset="0"/>
              </a:rPr>
              <a:t>currency</a:t>
            </a:r>
            <a:r>
              <a:rPr lang="en-GB" sz="1100" dirty="0">
                <a:latin typeface="Montserrat" panose="00000500000000000000" pitchFamily="2" charset="0"/>
              </a:rPr>
              <a:t> signs, or </a:t>
            </a:r>
            <a:r>
              <a:rPr lang="en-GB" sz="1100" b="1" dirty="0">
                <a:solidFill>
                  <a:srgbClr val="4D6C75"/>
                </a:solidFill>
                <a:latin typeface="Montserrat" panose="00000500000000000000" pitchFamily="2" charset="0"/>
              </a:rPr>
              <a:t>units of measurement</a:t>
            </a:r>
            <a:r>
              <a:rPr lang="en-GB" sz="1100" dirty="0">
                <a:latin typeface="Montserrat" panose="00000500000000000000" pitchFamily="2" charset="0"/>
              </a:rPr>
              <a:t>.</a:t>
            </a:r>
          </a:p>
          <a:p>
            <a:pPr>
              <a:spcAft>
                <a:spcPts val="500"/>
              </a:spcAft>
            </a:pPr>
            <a:r>
              <a:rPr lang="en-GB" sz="1100" b="1" dirty="0">
                <a:solidFill>
                  <a:srgbClr val="DC2C3E"/>
                </a:solidFill>
                <a:latin typeface="Montserrat" panose="00000500000000000000" pitchFamily="2" charset="0"/>
              </a:rPr>
              <a:t>Trim</a:t>
            </a:r>
          </a:p>
          <a:p>
            <a:pPr>
              <a:spcAft>
                <a:spcPts val="500"/>
              </a:spcAft>
            </a:pPr>
            <a:r>
              <a:rPr lang="en-GB" sz="1100" dirty="0">
                <a:solidFill>
                  <a:srgbClr val="1A1A1A"/>
                </a:solidFill>
                <a:latin typeface="Montserrat" panose="00000500000000000000" pitchFamily="2" charset="0"/>
              </a:rPr>
              <a:t>Shaving off any leading and / or trailing </a:t>
            </a:r>
            <a:r>
              <a:rPr lang="en-GB" sz="1100" b="1" dirty="0">
                <a:solidFill>
                  <a:srgbClr val="4D6C75"/>
                </a:solidFill>
                <a:latin typeface="Montserrat" panose="00000500000000000000" pitchFamily="2" charset="0"/>
              </a:rPr>
              <a:t>spaces</a:t>
            </a:r>
            <a:r>
              <a:rPr lang="en-GB" sz="1100" dirty="0">
                <a:solidFill>
                  <a:srgbClr val="1A1A1A"/>
                </a:solidFill>
                <a:latin typeface="Montserrat" panose="00000500000000000000" pitchFamily="2" charset="0"/>
              </a:rPr>
              <a:t> that may affect querying or calculation logic.</a:t>
            </a:r>
          </a:p>
        </p:txBody>
      </p:sp>
      <p:sp>
        <p:nvSpPr>
          <p:cNvPr id="22" name="Checklist">
            <a:extLst>
              <a:ext uri="{FF2B5EF4-FFF2-40B4-BE49-F238E27FC236}">
                <a16:creationId xmlns:a16="http://schemas.microsoft.com/office/drawing/2014/main" id="{E1EBCC30-B533-E1F4-80B0-8E709ED7FB7E}"/>
              </a:ext>
            </a:extLst>
          </p:cNvPr>
          <p:cNvSpPr txBox="1"/>
          <p:nvPr/>
        </p:nvSpPr>
        <p:spPr>
          <a:xfrm>
            <a:off x="8467243" y="2678492"/>
            <a:ext cx="3019626" cy="2760281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>
              <a:spcAft>
                <a:spcPts val="500"/>
              </a:spcAft>
            </a:pPr>
            <a:r>
              <a:rPr lang="en-GB" sz="1100" b="1" dirty="0">
                <a:solidFill>
                  <a:srgbClr val="DC2C3E"/>
                </a:solidFill>
                <a:latin typeface="Montserrat" panose="00000500000000000000" pitchFamily="2" charset="0"/>
              </a:rPr>
              <a:t>Type Casting</a:t>
            </a:r>
          </a:p>
          <a:p>
            <a:pPr>
              <a:spcAft>
                <a:spcPts val="500"/>
              </a:spcAft>
            </a:pPr>
            <a:r>
              <a:rPr lang="en-GB" sz="1100" dirty="0">
                <a:latin typeface="Montserrat" panose="00000500000000000000" pitchFamily="2" charset="0"/>
              </a:rPr>
              <a:t>Converting VARCHAR columns into their correct numeric type such as </a:t>
            </a:r>
            <a:r>
              <a:rPr lang="en-GB" sz="1100" b="1" dirty="0">
                <a:solidFill>
                  <a:srgbClr val="4D6C75"/>
                </a:solidFill>
                <a:latin typeface="Montserrat" panose="00000500000000000000" pitchFamily="2" charset="0"/>
              </a:rPr>
              <a:t>integer</a:t>
            </a:r>
            <a:r>
              <a:rPr lang="en-GB" sz="1100" b="1" dirty="0">
                <a:latin typeface="Montserrat" panose="00000500000000000000" pitchFamily="2" charset="0"/>
              </a:rPr>
              <a:t> </a:t>
            </a:r>
            <a:r>
              <a:rPr lang="en-GB" sz="1100" dirty="0">
                <a:latin typeface="Montserrat" panose="00000500000000000000" pitchFamily="2" charset="0"/>
              </a:rPr>
              <a:t>or </a:t>
            </a:r>
            <a:r>
              <a:rPr lang="en-GB" sz="1100" b="1" dirty="0">
                <a:solidFill>
                  <a:srgbClr val="4D6C75"/>
                </a:solidFill>
                <a:latin typeface="Montserrat" panose="00000500000000000000" pitchFamily="2" charset="0"/>
              </a:rPr>
              <a:t>floats</a:t>
            </a:r>
            <a:r>
              <a:rPr lang="en-GB" sz="1100" dirty="0">
                <a:latin typeface="Montserrat" panose="00000500000000000000" pitchFamily="2" charset="0"/>
              </a:rPr>
              <a:t> to enable calculation features.</a:t>
            </a:r>
          </a:p>
          <a:p>
            <a:pPr>
              <a:spcAft>
                <a:spcPts val="500"/>
              </a:spcAft>
            </a:pPr>
            <a:r>
              <a:rPr lang="en-GB" sz="1100" b="1" dirty="0">
                <a:solidFill>
                  <a:srgbClr val="DC2C3E"/>
                </a:solidFill>
                <a:latin typeface="Montserrat" panose="00000500000000000000" pitchFamily="2" charset="0"/>
              </a:rPr>
              <a:t>Rounding</a:t>
            </a:r>
          </a:p>
          <a:p>
            <a:pPr>
              <a:spcAft>
                <a:spcPts val="500"/>
              </a:spcAft>
            </a:pPr>
            <a:r>
              <a:rPr lang="en-GB" sz="1100" dirty="0">
                <a:solidFill>
                  <a:srgbClr val="1A1A1A"/>
                </a:solidFill>
                <a:latin typeface="Montserrat" panose="00000500000000000000" pitchFamily="2" charset="0"/>
              </a:rPr>
              <a:t>Minimising redundant </a:t>
            </a:r>
            <a:r>
              <a:rPr lang="en-GB" sz="1100" b="1" dirty="0">
                <a:solidFill>
                  <a:srgbClr val="4D6C75"/>
                </a:solidFill>
                <a:latin typeface="Montserrat" panose="00000500000000000000" pitchFamily="2" charset="0"/>
              </a:rPr>
              <a:t>floating point </a:t>
            </a:r>
            <a:r>
              <a:rPr lang="en-GB" sz="1100" dirty="0">
                <a:solidFill>
                  <a:srgbClr val="1A1A1A"/>
                </a:solidFill>
                <a:latin typeface="Montserrat" panose="00000500000000000000" pitchFamily="2" charset="0"/>
              </a:rPr>
              <a:t>noise.</a:t>
            </a:r>
          </a:p>
          <a:p>
            <a:pPr>
              <a:spcAft>
                <a:spcPts val="500"/>
              </a:spcAft>
            </a:pPr>
            <a:r>
              <a:rPr lang="en-GB" sz="1100" b="1" dirty="0">
                <a:solidFill>
                  <a:srgbClr val="DC2C3E"/>
                </a:solidFill>
                <a:latin typeface="Montserrat" panose="00000500000000000000" pitchFamily="2" charset="0"/>
              </a:rPr>
              <a:t>Rescaling Metrics</a:t>
            </a:r>
          </a:p>
          <a:p>
            <a:pPr>
              <a:spcAft>
                <a:spcPts val="500"/>
              </a:spcAft>
            </a:pPr>
            <a:r>
              <a:rPr lang="en-GB" sz="1100" b="1" dirty="0">
                <a:solidFill>
                  <a:srgbClr val="4D6C75"/>
                </a:solidFill>
                <a:latin typeface="Montserrat" panose="00000500000000000000" pitchFamily="2" charset="0"/>
              </a:rPr>
              <a:t>Recalculating</a:t>
            </a:r>
            <a:r>
              <a:rPr lang="en-GB" sz="1100" b="1" dirty="0">
                <a:solidFill>
                  <a:srgbClr val="1A1A1A"/>
                </a:solidFill>
                <a:latin typeface="Montserrat" panose="00000500000000000000" pitchFamily="2" charset="0"/>
              </a:rPr>
              <a:t> </a:t>
            </a:r>
            <a:r>
              <a:rPr lang="en-GB" sz="1100" dirty="0">
                <a:solidFill>
                  <a:srgbClr val="1A1A1A"/>
                </a:solidFill>
                <a:latin typeface="Montserrat" panose="00000500000000000000" pitchFamily="2" charset="0"/>
              </a:rPr>
              <a:t>numeric values based on their units of measurement, such as dividing by 1000 for CC to Litres.</a:t>
            </a:r>
          </a:p>
        </p:txBody>
      </p:sp>
      <p:sp>
        <p:nvSpPr>
          <p:cNvPr id="25" name="Freeform 3">
            <a:extLst>
              <a:ext uri="{FF2B5EF4-FFF2-40B4-BE49-F238E27FC236}">
                <a16:creationId xmlns:a16="http://schemas.microsoft.com/office/drawing/2014/main" id="{A380E363-DEC5-37F0-DC45-DCF17968BE33}"/>
              </a:ext>
            </a:extLst>
          </p:cNvPr>
          <p:cNvSpPr>
            <a:spLocks noChangeAspect="1"/>
          </p:cNvSpPr>
          <p:nvPr/>
        </p:nvSpPr>
        <p:spPr>
          <a:xfrm>
            <a:off x="1719997" y="5210708"/>
            <a:ext cx="990744" cy="1073678"/>
          </a:xfrm>
          <a:custGeom>
            <a:avLst/>
            <a:gdLst/>
            <a:ahLst/>
            <a:cxnLst/>
            <a:rect l="l" t="t" r="r" b="b"/>
            <a:pathLst>
              <a:path w="698500" h="756971">
                <a:moveTo>
                  <a:pt x="438697" y="24128"/>
                </a:moveTo>
                <a:lnTo>
                  <a:pt x="609053" y="123244"/>
                </a:lnTo>
                <a:cubicBezTo>
                  <a:pt x="664431" y="155464"/>
                  <a:pt x="698500" y="214701"/>
                  <a:pt x="698500" y="278771"/>
                </a:cubicBezTo>
                <a:lnTo>
                  <a:pt x="698500" y="478201"/>
                </a:lnTo>
                <a:cubicBezTo>
                  <a:pt x="698500" y="542271"/>
                  <a:pt x="664431" y="601508"/>
                  <a:pt x="609053" y="633728"/>
                </a:cubicBezTo>
                <a:lnTo>
                  <a:pt x="438697" y="732844"/>
                </a:lnTo>
                <a:cubicBezTo>
                  <a:pt x="383405" y="765014"/>
                  <a:pt x="315095" y="765014"/>
                  <a:pt x="259803" y="732844"/>
                </a:cubicBezTo>
                <a:lnTo>
                  <a:pt x="89447" y="633728"/>
                </a:lnTo>
                <a:cubicBezTo>
                  <a:pt x="34069" y="601508"/>
                  <a:pt x="0" y="542271"/>
                  <a:pt x="0" y="478201"/>
                </a:cubicBezTo>
                <a:lnTo>
                  <a:pt x="0" y="278771"/>
                </a:lnTo>
                <a:cubicBezTo>
                  <a:pt x="0" y="214701"/>
                  <a:pt x="34069" y="155464"/>
                  <a:pt x="89447" y="123244"/>
                </a:cubicBezTo>
                <a:lnTo>
                  <a:pt x="259803" y="24128"/>
                </a:lnTo>
                <a:cubicBezTo>
                  <a:pt x="315095" y="-8042"/>
                  <a:pt x="383405" y="-8042"/>
                  <a:pt x="438697" y="24128"/>
                </a:cubicBezTo>
                <a:close/>
              </a:path>
            </a:pathLst>
          </a:custGeom>
          <a:solidFill>
            <a:schemeClr val="bg1"/>
          </a:solidFill>
          <a:ln w="57150">
            <a:solidFill>
              <a:srgbClr val="DC2C3E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27" name="Freeform 3">
            <a:extLst>
              <a:ext uri="{FF2B5EF4-FFF2-40B4-BE49-F238E27FC236}">
                <a16:creationId xmlns:a16="http://schemas.microsoft.com/office/drawing/2014/main" id="{E98303A8-9A55-FED2-89A2-7676E10E4DEE}"/>
              </a:ext>
            </a:extLst>
          </p:cNvPr>
          <p:cNvSpPr>
            <a:spLocks noChangeAspect="1"/>
          </p:cNvSpPr>
          <p:nvPr/>
        </p:nvSpPr>
        <p:spPr>
          <a:xfrm>
            <a:off x="5600628" y="5210708"/>
            <a:ext cx="990744" cy="1073678"/>
          </a:xfrm>
          <a:custGeom>
            <a:avLst/>
            <a:gdLst/>
            <a:ahLst/>
            <a:cxnLst/>
            <a:rect l="l" t="t" r="r" b="b"/>
            <a:pathLst>
              <a:path w="698500" h="756971">
                <a:moveTo>
                  <a:pt x="438697" y="24128"/>
                </a:moveTo>
                <a:lnTo>
                  <a:pt x="609053" y="123244"/>
                </a:lnTo>
                <a:cubicBezTo>
                  <a:pt x="664431" y="155464"/>
                  <a:pt x="698500" y="214701"/>
                  <a:pt x="698500" y="278771"/>
                </a:cubicBezTo>
                <a:lnTo>
                  <a:pt x="698500" y="478201"/>
                </a:lnTo>
                <a:cubicBezTo>
                  <a:pt x="698500" y="542271"/>
                  <a:pt x="664431" y="601508"/>
                  <a:pt x="609053" y="633728"/>
                </a:cubicBezTo>
                <a:lnTo>
                  <a:pt x="438697" y="732844"/>
                </a:lnTo>
                <a:cubicBezTo>
                  <a:pt x="383405" y="765014"/>
                  <a:pt x="315095" y="765014"/>
                  <a:pt x="259803" y="732844"/>
                </a:cubicBezTo>
                <a:lnTo>
                  <a:pt x="89447" y="633728"/>
                </a:lnTo>
                <a:cubicBezTo>
                  <a:pt x="34069" y="601508"/>
                  <a:pt x="0" y="542271"/>
                  <a:pt x="0" y="478201"/>
                </a:cubicBezTo>
                <a:lnTo>
                  <a:pt x="0" y="278771"/>
                </a:lnTo>
                <a:cubicBezTo>
                  <a:pt x="0" y="214701"/>
                  <a:pt x="34069" y="155464"/>
                  <a:pt x="89447" y="123244"/>
                </a:cubicBezTo>
                <a:lnTo>
                  <a:pt x="259803" y="24128"/>
                </a:lnTo>
                <a:cubicBezTo>
                  <a:pt x="315095" y="-8042"/>
                  <a:pt x="383405" y="-8042"/>
                  <a:pt x="438697" y="24128"/>
                </a:cubicBezTo>
                <a:close/>
              </a:path>
            </a:pathLst>
          </a:custGeom>
          <a:solidFill>
            <a:schemeClr val="bg1"/>
          </a:solidFill>
          <a:ln w="57150">
            <a:solidFill>
              <a:srgbClr val="DC2C3E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28" name="Freeform 3">
            <a:extLst>
              <a:ext uri="{FF2B5EF4-FFF2-40B4-BE49-F238E27FC236}">
                <a16:creationId xmlns:a16="http://schemas.microsoft.com/office/drawing/2014/main" id="{07AED1BA-B5C8-538D-36F9-9A32A3B2635E}"/>
              </a:ext>
            </a:extLst>
          </p:cNvPr>
          <p:cNvSpPr>
            <a:spLocks noChangeAspect="1"/>
          </p:cNvSpPr>
          <p:nvPr/>
        </p:nvSpPr>
        <p:spPr>
          <a:xfrm>
            <a:off x="9481259" y="5210708"/>
            <a:ext cx="990744" cy="1073678"/>
          </a:xfrm>
          <a:custGeom>
            <a:avLst/>
            <a:gdLst/>
            <a:ahLst/>
            <a:cxnLst/>
            <a:rect l="l" t="t" r="r" b="b"/>
            <a:pathLst>
              <a:path w="698500" h="756971">
                <a:moveTo>
                  <a:pt x="438697" y="24128"/>
                </a:moveTo>
                <a:lnTo>
                  <a:pt x="609053" y="123244"/>
                </a:lnTo>
                <a:cubicBezTo>
                  <a:pt x="664431" y="155464"/>
                  <a:pt x="698500" y="214701"/>
                  <a:pt x="698500" y="278771"/>
                </a:cubicBezTo>
                <a:lnTo>
                  <a:pt x="698500" y="478201"/>
                </a:lnTo>
                <a:cubicBezTo>
                  <a:pt x="698500" y="542271"/>
                  <a:pt x="664431" y="601508"/>
                  <a:pt x="609053" y="633728"/>
                </a:cubicBezTo>
                <a:lnTo>
                  <a:pt x="438697" y="732844"/>
                </a:lnTo>
                <a:cubicBezTo>
                  <a:pt x="383405" y="765014"/>
                  <a:pt x="315095" y="765014"/>
                  <a:pt x="259803" y="732844"/>
                </a:cubicBezTo>
                <a:lnTo>
                  <a:pt x="89447" y="633728"/>
                </a:lnTo>
                <a:cubicBezTo>
                  <a:pt x="34069" y="601508"/>
                  <a:pt x="0" y="542271"/>
                  <a:pt x="0" y="478201"/>
                </a:cubicBezTo>
                <a:lnTo>
                  <a:pt x="0" y="278771"/>
                </a:lnTo>
                <a:cubicBezTo>
                  <a:pt x="0" y="214701"/>
                  <a:pt x="34069" y="155464"/>
                  <a:pt x="89447" y="123244"/>
                </a:cubicBezTo>
                <a:lnTo>
                  <a:pt x="259803" y="24128"/>
                </a:lnTo>
                <a:cubicBezTo>
                  <a:pt x="315095" y="-8042"/>
                  <a:pt x="383405" y="-8042"/>
                  <a:pt x="438697" y="24128"/>
                </a:cubicBezTo>
                <a:close/>
              </a:path>
            </a:pathLst>
          </a:custGeom>
          <a:solidFill>
            <a:schemeClr val="bg1"/>
          </a:solidFill>
          <a:ln w="57150">
            <a:solidFill>
              <a:srgbClr val="DC2C3E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/>
          <a:lstStyle/>
          <a:p>
            <a:endParaRPr lang="en-GB"/>
          </a:p>
        </p:txBody>
      </p:sp>
      <p:pic>
        <p:nvPicPr>
          <p:cNvPr id="30" name="Picture 29">
            <a:extLst>
              <a:ext uri="{FF2B5EF4-FFF2-40B4-BE49-F238E27FC236}">
                <a16:creationId xmlns:a16="http://schemas.microsoft.com/office/drawing/2014/main" id="{8565D4E8-55AF-24A4-B728-D45DB827C82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93833" y="5459896"/>
            <a:ext cx="565595" cy="565595"/>
          </a:xfrm>
          <a:prstGeom prst="rect">
            <a:avLst/>
          </a:prstGeom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</p:pic>
      <p:pic>
        <p:nvPicPr>
          <p:cNvPr id="32" name="Picture 31">
            <a:extLst>
              <a:ext uri="{FF2B5EF4-FFF2-40B4-BE49-F238E27FC236}">
                <a16:creationId xmlns:a16="http://schemas.microsoft.com/office/drawing/2014/main" id="{1E56B8A5-1B62-AF72-4514-FEF2B1568B8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00203" y="5278334"/>
            <a:ext cx="942425" cy="1014919"/>
          </a:xfrm>
          <a:prstGeom prst="rect">
            <a:avLst/>
          </a:prstGeom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</p:pic>
      <p:pic>
        <p:nvPicPr>
          <p:cNvPr id="34" name="Picture 33">
            <a:extLst>
              <a:ext uri="{FF2B5EF4-FFF2-40B4-BE49-F238E27FC236}">
                <a16:creationId xmlns:a16="http://schemas.microsoft.com/office/drawing/2014/main" id="{3AEC00F2-6AC5-46A3-8E95-CD49A446B8C6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72436" y="5459896"/>
            <a:ext cx="575118" cy="575118"/>
          </a:xfrm>
          <a:prstGeom prst="rect">
            <a:avLst/>
          </a:prstGeom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</p:pic>
      <p:sp>
        <p:nvSpPr>
          <p:cNvPr id="37" name="Freeform 15">
            <a:extLst>
              <a:ext uri="{FF2B5EF4-FFF2-40B4-BE49-F238E27FC236}">
                <a16:creationId xmlns:a16="http://schemas.microsoft.com/office/drawing/2014/main" id="{32D6D0EE-B86C-ED22-F009-73524A6FC44B}"/>
              </a:ext>
            </a:extLst>
          </p:cNvPr>
          <p:cNvSpPr/>
          <p:nvPr/>
        </p:nvSpPr>
        <p:spPr>
          <a:xfrm rot="5400000">
            <a:off x="7598532" y="3790055"/>
            <a:ext cx="590729" cy="263570"/>
          </a:xfrm>
          <a:custGeom>
            <a:avLst/>
            <a:gdLst/>
            <a:ahLst/>
            <a:cxnLst/>
            <a:rect l="l" t="t" r="r" b="b"/>
            <a:pathLst>
              <a:path w="301878" h="96473">
                <a:moveTo>
                  <a:pt x="186448" y="9783"/>
                </a:moveTo>
                <a:lnTo>
                  <a:pt x="296320" y="75299"/>
                </a:lnTo>
                <a:cubicBezTo>
                  <a:pt x="300722" y="77924"/>
                  <a:pt x="302829" y="83166"/>
                  <a:pt x="301468" y="88108"/>
                </a:cubicBezTo>
                <a:cubicBezTo>
                  <a:pt x="300106" y="93049"/>
                  <a:pt x="295612" y="96473"/>
                  <a:pt x="290486" y="96473"/>
                </a:cubicBezTo>
                <a:lnTo>
                  <a:pt x="11392" y="96473"/>
                </a:lnTo>
                <a:cubicBezTo>
                  <a:pt x="6266" y="96473"/>
                  <a:pt x="1772" y="93049"/>
                  <a:pt x="411" y="88108"/>
                </a:cubicBezTo>
                <a:cubicBezTo>
                  <a:pt x="-951" y="83166"/>
                  <a:pt x="1156" y="77924"/>
                  <a:pt x="5558" y="75299"/>
                </a:cubicBezTo>
                <a:lnTo>
                  <a:pt x="115430" y="9783"/>
                </a:lnTo>
                <a:cubicBezTo>
                  <a:pt x="137306" y="-3262"/>
                  <a:pt x="164573" y="-3262"/>
                  <a:pt x="186448" y="9783"/>
                </a:cubicBezTo>
                <a:close/>
              </a:path>
            </a:pathLst>
          </a:custGeom>
          <a:solidFill>
            <a:srgbClr val="DC2C3E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/>
          <a:lstStyle/>
          <a:p>
            <a:endParaRPr lang="en-GB" dirty="0"/>
          </a:p>
        </p:txBody>
      </p:sp>
      <p:sp>
        <p:nvSpPr>
          <p:cNvPr id="39" name="Freeform 15">
            <a:extLst>
              <a:ext uri="{FF2B5EF4-FFF2-40B4-BE49-F238E27FC236}">
                <a16:creationId xmlns:a16="http://schemas.microsoft.com/office/drawing/2014/main" id="{488E792D-7BD2-23C5-FCF9-380807BD041D}"/>
              </a:ext>
            </a:extLst>
          </p:cNvPr>
          <p:cNvSpPr/>
          <p:nvPr/>
        </p:nvSpPr>
        <p:spPr>
          <a:xfrm rot="5400000">
            <a:off x="3716758" y="3790055"/>
            <a:ext cx="590729" cy="263570"/>
          </a:xfrm>
          <a:custGeom>
            <a:avLst/>
            <a:gdLst/>
            <a:ahLst/>
            <a:cxnLst/>
            <a:rect l="l" t="t" r="r" b="b"/>
            <a:pathLst>
              <a:path w="301878" h="96473">
                <a:moveTo>
                  <a:pt x="186448" y="9783"/>
                </a:moveTo>
                <a:lnTo>
                  <a:pt x="296320" y="75299"/>
                </a:lnTo>
                <a:cubicBezTo>
                  <a:pt x="300722" y="77924"/>
                  <a:pt x="302829" y="83166"/>
                  <a:pt x="301468" y="88108"/>
                </a:cubicBezTo>
                <a:cubicBezTo>
                  <a:pt x="300106" y="93049"/>
                  <a:pt x="295612" y="96473"/>
                  <a:pt x="290486" y="96473"/>
                </a:cubicBezTo>
                <a:lnTo>
                  <a:pt x="11392" y="96473"/>
                </a:lnTo>
                <a:cubicBezTo>
                  <a:pt x="6266" y="96473"/>
                  <a:pt x="1772" y="93049"/>
                  <a:pt x="411" y="88108"/>
                </a:cubicBezTo>
                <a:cubicBezTo>
                  <a:pt x="-951" y="83166"/>
                  <a:pt x="1156" y="77924"/>
                  <a:pt x="5558" y="75299"/>
                </a:cubicBezTo>
                <a:lnTo>
                  <a:pt x="115430" y="9783"/>
                </a:lnTo>
                <a:cubicBezTo>
                  <a:pt x="137306" y="-3262"/>
                  <a:pt x="164573" y="-3262"/>
                  <a:pt x="186448" y="9783"/>
                </a:cubicBezTo>
                <a:close/>
              </a:path>
            </a:pathLst>
          </a:custGeom>
          <a:solidFill>
            <a:srgbClr val="DC2C3E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/>
          <a:lstStyle/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47565733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05C09C59-192D-5E36-38F8-EA53AD03A8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en-GB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Montserrat SemiBold" panose="00000700000000000000" pitchFamily="2" charset="0"/>
              </a:rPr>
              <a:t>CLEANSING: MISALIGNMENT</a:t>
            </a:r>
          </a:p>
        </p:txBody>
      </p:sp>
      <p:grpSp>
        <p:nvGrpSpPr>
          <p:cNvPr id="91" name="Group 90">
            <a:extLst>
              <a:ext uri="{FF2B5EF4-FFF2-40B4-BE49-F238E27FC236}">
                <a16:creationId xmlns:a16="http://schemas.microsoft.com/office/drawing/2014/main" id="{3602B0D9-8879-06EF-0258-130B1C08C86F}"/>
              </a:ext>
            </a:extLst>
          </p:cNvPr>
          <p:cNvGrpSpPr/>
          <p:nvPr/>
        </p:nvGrpSpPr>
        <p:grpSpPr>
          <a:xfrm>
            <a:off x="362302" y="1590675"/>
            <a:ext cx="11297855" cy="1435101"/>
            <a:chOff x="362302" y="1581531"/>
            <a:chExt cx="11297855" cy="1435101"/>
          </a:xfrm>
        </p:grpSpPr>
        <p:sp>
          <p:nvSpPr>
            <p:cNvPr id="90" name="Rectangle: Rounded Corners 89">
              <a:extLst>
                <a:ext uri="{FF2B5EF4-FFF2-40B4-BE49-F238E27FC236}">
                  <a16:creationId xmlns:a16="http://schemas.microsoft.com/office/drawing/2014/main" id="{94FAF314-E23F-940D-98F3-45B505ABD231}"/>
                </a:ext>
              </a:extLst>
            </p:cNvPr>
            <p:cNvSpPr/>
            <p:nvPr/>
          </p:nvSpPr>
          <p:spPr>
            <a:xfrm>
              <a:off x="362302" y="1581531"/>
              <a:ext cx="11297855" cy="1435101"/>
            </a:xfrm>
            <a:prstGeom prst="roundRect">
              <a:avLst>
                <a:gd name="adj" fmla="val 2457"/>
              </a:avLst>
            </a:prstGeom>
            <a:solidFill>
              <a:srgbClr val="FBF8EF"/>
            </a:solidFill>
            <a:ln>
              <a:noFill/>
            </a:ln>
            <a:effectLst>
              <a:outerShdw blurRad="50800" dist="38100" dir="2700000" algn="tl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  <p:sp>
          <p:nvSpPr>
            <p:cNvPr id="5" name="Rectangle: Rounded Corners 4">
              <a:extLst>
                <a:ext uri="{FF2B5EF4-FFF2-40B4-BE49-F238E27FC236}">
                  <a16:creationId xmlns:a16="http://schemas.microsoft.com/office/drawing/2014/main" id="{E22DB17F-E534-04F7-E853-46C2065B0E4A}"/>
                </a:ext>
              </a:extLst>
            </p:cNvPr>
            <p:cNvSpPr/>
            <p:nvPr/>
          </p:nvSpPr>
          <p:spPr>
            <a:xfrm>
              <a:off x="7948710" y="1728009"/>
              <a:ext cx="1080000" cy="285561"/>
            </a:xfrm>
            <a:prstGeom prst="roundRect">
              <a:avLst>
                <a:gd name="adj" fmla="val 11192"/>
              </a:avLst>
            </a:prstGeom>
            <a:solidFill>
              <a:schemeClr val="bg1"/>
            </a:solidFill>
            <a:ln w="38100">
              <a:solidFill>
                <a:srgbClr val="DC2C3E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sz="1050" dirty="0" err="1">
                  <a:solidFill>
                    <a:schemeClr val="tx1"/>
                  </a:solidFill>
                  <a:latin typeface="Montserrat" panose="00000500000000000000" pitchFamily="2" charset="0"/>
                </a:rPr>
                <a:t>fuelType</a:t>
              </a:r>
              <a:endParaRPr lang="en-GB" sz="1050" dirty="0">
                <a:solidFill>
                  <a:schemeClr val="tx1"/>
                </a:solidFill>
                <a:latin typeface="Montserrat" panose="00000500000000000000" pitchFamily="2" charset="0"/>
              </a:endParaRPr>
            </a:p>
          </p:txBody>
        </p:sp>
        <p:sp>
          <p:nvSpPr>
            <p:cNvPr id="6" name="Rectangle: Rounded Corners 5">
              <a:extLst>
                <a:ext uri="{FF2B5EF4-FFF2-40B4-BE49-F238E27FC236}">
                  <a16:creationId xmlns:a16="http://schemas.microsoft.com/office/drawing/2014/main" id="{FA453453-5FC6-8B81-2ADE-6CDE22444AB6}"/>
                </a:ext>
              </a:extLst>
            </p:cNvPr>
            <p:cNvSpPr/>
            <p:nvPr/>
          </p:nvSpPr>
          <p:spPr>
            <a:xfrm>
              <a:off x="1728300" y="1728009"/>
              <a:ext cx="1080000" cy="285561"/>
            </a:xfrm>
            <a:prstGeom prst="roundRect">
              <a:avLst>
                <a:gd name="adj" fmla="val 11192"/>
              </a:avLst>
            </a:prstGeom>
            <a:solidFill>
              <a:schemeClr val="bg1"/>
            </a:solidFill>
            <a:ln w="38100">
              <a:solidFill>
                <a:srgbClr val="DC2C3E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sz="1050" dirty="0" err="1">
                  <a:solidFill>
                    <a:schemeClr val="tx1"/>
                  </a:solidFill>
                  <a:latin typeface="Montserrat" panose="00000500000000000000" pitchFamily="2" charset="0"/>
                </a:rPr>
                <a:t>engineSize</a:t>
              </a:r>
              <a:endParaRPr lang="en-GB" sz="1050" dirty="0">
                <a:solidFill>
                  <a:schemeClr val="tx1"/>
                </a:solidFill>
                <a:latin typeface="Montserrat" panose="00000500000000000000" pitchFamily="2" charset="0"/>
              </a:endParaRPr>
            </a:p>
          </p:txBody>
        </p:sp>
        <p:sp>
          <p:nvSpPr>
            <p:cNvPr id="7" name="Rectangle: Rounded Corners 6">
              <a:extLst>
                <a:ext uri="{FF2B5EF4-FFF2-40B4-BE49-F238E27FC236}">
                  <a16:creationId xmlns:a16="http://schemas.microsoft.com/office/drawing/2014/main" id="{550CE24E-34FB-5DD0-C980-80F27A6C3F3B}"/>
                </a:ext>
              </a:extLst>
            </p:cNvPr>
            <p:cNvSpPr/>
            <p:nvPr/>
          </p:nvSpPr>
          <p:spPr>
            <a:xfrm>
              <a:off x="4216464" y="1728009"/>
              <a:ext cx="1080000" cy="285561"/>
            </a:xfrm>
            <a:prstGeom prst="roundRect">
              <a:avLst>
                <a:gd name="adj" fmla="val 11192"/>
              </a:avLst>
            </a:prstGeom>
            <a:solidFill>
              <a:schemeClr val="bg1"/>
            </a:solidFill>
            <a:ln w="38100">
              <a:solidFill>
                <a:srgbClr val="DC2C3E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sz="1050" dirty="0">
                  <a:solidFill>
                    <a:schemeClr val="tx1"/>
                  </a:solidFill>
                  <a:latin typeface="Montserrat" panose="00000500000000000000" pitchFamily="2" charset="0"/>
                </a:rPr>
                <a:t>mileage</a:t>
              </a:r>
            </a:p>
          </p:txBody>
        </p:sp>
        <p:sp>
          <p:nvSpPr>
            <p:cNvPr id="8" name="Rectangle: Rounded Corners 7">
              <a:extLst>
                <a:ext uri="{FF2B5EF4-FFF2-40B4-BE49-F238E27FC236}">
                  <a16:creationId xmlns:a16="http://schemas.microsoft.com/office/drawing/2014/main" id="{FAB3C918-8F6F-A5AC-12CB-1B3121034395}"/>
                </a:ext>
              </a:extLst>
            </p:cNvPr>
            <p:cNvSpPr/>
            <p:nvPr/>
          </p:nvSpPr>
          <p:spPr>
            <a:xfrm>
              <a:off x="9192792" y="1728009"/>
              <a:ext cx="1080000" cy="285561"/>
            </a:xfrm>
            <a:prstGeom prst="roundRect">
              <a:avLst>
                <a:gd name="adj" fmla="val 11192"/>
              </a:avLst>
            </a:prstGeom>
            <a:solidFill>
              <a:schemeClr val="bg1"/>
            </a:solidFill>
            <a:ln w="38100">
              <a:solidFill>
                <a:srgbClr val="DC2C3E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sz="1050" dirty="0">
                  <a:solidFill>
                    <a:schemeClr val="tx1"/>
                  </a:solidFill>
                  <a:latin typeface="Montserrat" panose="00000500000000000000" pitchFamily="2" charset="0"/>
                </a:rPr>
                <a:t>fuelType2</a:t>
              </a:r>
            </a:p>
          </p:txBody>
        </p:sp>
        <p:sp>
          <p:nvSpPr>
            <p:cNvPr id="9" name="Rectangle: Rounded Corners 8">
              <a:extLst>
                <a:ext uri="{FF2B5EF4-FFF2-40B4-BE49-F238E27FC236}">
                  <a16:creationId xmlns:a16="http://schemas.microsoft.com/office/drawing/2014/main" id="{45EF0CF6-0727-3ED2-BBFC-1E29FF7299CC}"/>
                </a:ext>
              </a:extLst>
            </p:cNvPr>
            <p:cNvSpPr/>
            <p:nvPr/>
          </p:nvSpPr>
          <p:spPr>
            <a:xfrm>
              <a:off x="2972382" y="1728009"/>
              <a:ext cx="1080000" cy="285561"/>
            </a:xfrm>
            <a:prstGeom prst="roundRect">
              <a:avLst>
                <a:gd name="adj" fmla="val 11192"/>
              </a:avLst>
            </a:prstGeom>
            <a:solidFill>
              <a:schemeClr val="bg1"/>
            </a:solidFill>
            <a:ln w="38100">
              <a:solidFill>
                <a:srgbClr val="DC2C3E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sz="1050" dirty="0">
                  <a:solidFill>
                    <a:schemeClr val="tx1"/>
                  </a:solidFill>
                  <a:latin typeface="Montserrat" panose="00000500000000000000" pitchFamily="2" charset="0"/>
                </a:rPr>
                <a:t>engineSize2</a:t>
              </a:r>
            </a:p>
          </p:txBody>
        </p:sp>
        <p:sp>
          <p:nvSpPr>
            <p:cNvPr id="10" name="Rectangle: Rounded Corners 9">
              <a:extLst>
                <a:ext uri="{FF2B5EF4-FFF2-40B4-BE49-F238E27FC236}">
                  <a16:creationId xmlns:a16="http://schemas.microsoft.com/office/drawing/2014/main" id="{4B80879E-9D07-FDE7-36E5-063031110865}"/>
                </a:ext>
              </a:extLst>
            </p:cNvPr>
            <p:cNvSpPr/>
            <p:nvPr/>
          </p:nvSpPr>
          <p:spPr>
            <a:xfrm>
              <a:off x="5460546" y="1728009"/>
              <a:ext cx="1080000" cy="285561"/>
            </a:xfrm>
            <a:prstGeom prst="roundRect">
              <a:avLst>
                <a:gd name="adj" fmla="val 11192"/>
              </a:avLst>
            </a:prstGeom>
            <a:solidFill>
              <a:schemeClr val="bg1"/>
            </a:solidFill>
            <a:ln w="38100">
              <a:solidFill>
                <a:srgbClr val="DC2C3E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sz="1050" dirty="0">
                  <a:solidFill>
                    <a:schemeClr val="tx1"/>
                  </a:solidFill>
                  <a:latin typeface="Montserrat" panose="00000500000000000000" pitchFamily="2" charset="0"/>
                </a:rPr>
                <a:t>mileage2</a:t>
              </a:r>
            </a:p>
          </p:txBody>
        </p:sp>
        <p:sp>
          <p:nvSpPr>
            <p:cNvPr id="11" name="Rectangle: Rounded Corners 10">
              <a:extLst>
                <a:ext uri="{FF2B5EF4-FFF2-40B4-BE49-F238E27FC236}">
                  <a16:creationId xmlns:a16="http://schemas.microsoft.com/office/drawing/2014/main" id="{B83807EE-66DD-2145-D412-53ECB2435B43}"/>
                </a:ext>
              </a:extLst>
            </p:cNvPr>
            <p:cNvSpPr/>
            <p:nvPr/>
          </p:nvSpPr>
          <p:spPr>
            <a:xfrm>
              <a:off x="484218" y="1728009"/>
              <a:ext cx="1080000" cy="285561"/>
            </a:xfrm>
            <a:prstGeom prst="roundRect">
              <a:avLst>
                <a:gd name="adj" fmla="val 11192"/>
              </a:avLst>
            </a:prstGeom>
            <a:solidFill>
              <a:schemeClr val="bg1"/>
            </a:solidFill>
            <a:ln w="38100">
              <a:solidFill>
                <a:srgbClr val="DC2C3E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sz="1050" dirty="0">
                  <a:solidFill>
                    <a:schemeClr val="tx1"/>
                  </a:solidFill>
                  <a:latin typeface="Montserrat" panose="00000500000000000000" pitchFamily="2" charset="0"/>
                </a:rPr>
                <a:t>tax</a:t>
              </a:r>
            </a:p>
          </p:txBody>
        </p:sp>
        <p:sp>
          <p:nvSpPr>
            <p:cNvPr id="12" name="Rectangle: Rounded Corners 11">
              <a:extLst>
                <a:ext uri="{FF2B5EF4-FFF2-40B4-BE49-F238E27FC236}">
                  <a16:creationId xmlns:a16="http://schemas.microsoft.com/office/drawing/2014/main" id="{6AF00FE1-EE11-9997-8267-EBEB849BA3A3}"/>
                </a:ext>
              </a:extLst>
            </p:cNvPr>
            <p:cNvSpPr/>
            <p:nvPr/>
          </p:nvSpPr>
          <p:spPr>
            <a:xfrm>
              <a:off x="6704628" y="1728009"/>
              <a:ext cx="1080000" cy="285561"/>
            </a:xfrm>
            <a:prstGeom prst="roundRect">
              <a:avLst>
                <a:gd name="adj" fmla="val 11192"/>
              </a:avLst>
            </a:prstGeom>
            <a:solidFill>
              <a:schemeClr val="bg1"/>
            </a:solidFill>
            <a:ln w="38100">
              <a:solidFill>
                <a:srgbClr val="DC2C3E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sz="1050" dirty="0">
                  <a:solidFill>
                    <a:schemeClr val="tx1"/>
                  </a:solidFill>
                  <a:latin typeface="Montserrat" panose="00000500000000000000" pitchFamily="2" charset="0"/>
                </a:rPr>
                <a:t>mpg</a:t>
              </a:r>
            </a:p>
          </p:txBody>
        </p:sp>
        <p:sp>
          <p:nvSpPr>
            <p:cNvPr id="13" name="Rectangle: Rounded Corners 12">
              <a:extLst>
                <a:ext uri="{FF2B5EF4-FFF2-40B4-BE49-F238E27FC236}">
                  <a16:creationId xmlns:a16="http://schemas.microsoft.com/office/drawing/2014/main" id="{4A8AA581-E2B9-0138-A7DA-74918606EA70}"/>
                </a:ext>
              </a:extLst>
            </p:cNvPr>
            <p:cNvSpPr/>
            <p:nvPr/>
          </p:nvSpPr>
          <p:spPr>
            <a:xfrm>
              <a:off x="7948710" y="2132336"/>
              <a:ext cx="1080000" cy="285561"/>
            </a:xfrm>
            <a:prstGeom prst="roundRect">
              <a:avLst>
                <a:gd name="adj" fmla="val 11192"/>
              </a:avLst>
            </a:prstGeom>
            <a:solidFill>
              <a:srgbClr val="DC2C3E"/>
            </a:solidFill>
            <a:ln w="38100">
              <a:solidFill>
                <a:srgbClr val="DC2C3E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sz="1050" dirty="0">
                <a:solidFill>
                  <a:schemeClr val="bg1"/>
                </a:solidFill>
                <a:latin typeface="Montserrat" panose="00000500000000000000" pitchFamily="2" charset="0"/>
              </a:endParaRPr>
            </a:p>
          </p:txBody>
        </p:sp>
        <p:sp>
          <p:nvSpPr>
            <p:cNvPr id="14" name="Rectangle: Rounded Corners 13">
              <a:extLst>
                <a:ext uri="{FF2B5EF4-FFF2-40B4-BE49-F238E27FC236}">
                  <a16:creationId xmlns:a16="http://schemas.microsoft.com/office/drawing/2014/main" id="{B80FDC5D-7BD3-8338-F7C7-B4C691125DCC}"/>
                </a:ext>
              </a:extLst>
            </p:cNvPr>
            <p:cNvSpPr/>
            <p:nvPr/>
          </p:nvSpPr>
          <p:spPr>
            <a:xfrm>
              <a:off x="1728300" y="2132336"/>
              <a:ext cx="1080000" cy="285561"/>
            </a:xfrm>
            <a:prstGeom prst="roundRect">
              <a:avLst>
                <a:gd name="adj" fmla="val 11192"/>
              </a:avLst>
            </a:prstGeom>
            <a:solidFill>
              <a:srgbClr val="DC2C3E"/>
            </a:solidFill>
            <a:ln w="38100">
              <a:solidFill>
                <a:srgbClr val="DC2C3E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sz="1050" dirty="0">
                <a:solidFill>
                  <a:schemeClr val="bg1"/>
                </a:solidFill>
                <a:latin typeface="Montserrat" panose="00000500000000000000" pitchFamily="2" charset="0"/>
              </a:endParaRPr>
            </a:p>
          </p:txBody>
        </p:sp>
        <p:sp>
          <p:nvSpPr>
            <p:cNvPr id="15" name="Rectangle: Rounded Corners 14">
              <a:extLst>
                <a:ext uri="{FF2B5EF4-FFF2-40B4-BE49-F238E27FC236}">
                  <a16:creationId xmlns:a16="http://schemas.microsoft.com/office/drawing/2014/main" id="{B2CB112B-2B91-75E8-6C8A-8D23BEE67BC7}"/>
                </a:ext>
              </a:extLst>
            </p:cNvPr>
            <p:cNvSpPr/>
            <p:nvPr/>
          </p:nvSpPr>
          <p:spPr>
            <a:xfrm>
              <a:off x="4216464" y="2132336"/>
              <a:ext cx="1080000" cy="285561"/>
            </a:xfrm>
            <a:prstGeom prst="roundRect">
              <a:avLst>
                <a:gd name="adj" fmla="val 11192"/>
              </a:avLst>
            </a:prstGeom>
            <a:solidFill>
              <a:srgbClr val="DC2C3E"/>
            </a:solidFill>
            <a:ln w="38100">
              <a:solidFill>
                <a:srgbClr val="DC2C3E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sz="1050" dirty="0">
                <a:solidFill>
                  <a:schemeClr val="bg1"/>
                </a:solidFill>
                <a:latin typeface="Montserrat" panose="00000500000000000000" pitchFamily="2" charset="0"/>
              </a:endParaRPr>
            </a:p>
          </p:txBody>
        </p:sp>
        <p:sp>
          <p:nvSpPr>
            <p:cNvPr id="16" name="Rectangle: Rounded Corners 15">
              <a:extLst>
                <a:ext uri="{FF2B5EF4-FFF2-40B4-BE49-F238E27FC236}">
                  <a16:creationId xmlns:a16="http://schemas.microsoft.com/office/drawing/2014/main" id="{F5038D10-BF99-582C-329F-F898F30FDF0D}"/>
                </a:ext>
              </a:extLst>
            </p:cNvPr>
            <p:cNvSpPr/>
            <p:nvPr/>
          </p:nvSpPr>
          <p:spPr>
            <a:xfrm>
              <a:off x="9192792" y="2132336"/>
              <a:ext cx="1080000" cy="285561"/>
            </a:xfrm>
            <a:prstGeom prst="roundRect">
              <a:avLst>
                <a:gd name="adj" fmla="val 11192"/>
              </a:avLst>
            </a:prstGeom>
            <a:solidFill>
              <a:srgbClr val="DC2C3E"/>
            </a:solidFill>
            <a:ln w="38100">
              <a:solidFill>
                <a:srgbClr val="DC2C3E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sz="1050" dirty="0" err="1">
                  <a:solidFill>
                    <a:schemeClr val="bg1"/>
                  </a:solidFill>
                  <a:latin typeface="Montserrat" panose="00000500000000000000" pitchFamily="2" charset="0"/>
                </a:rPr>
                <a:t>fuelType</a:t>
              </a:r>
              <a:endParaRPr lang="en-GB" sz="1050" dirty="0">
                <a:solidFill>
                  <a:schemeClr val="bg1"/>
                </a:solidFill>
                <a:latin typeface="Montserrat" panose="00000500000000000000" pitchFamily="2" charset="0"/>
              </a:endParaRPr>
            </a:p>
          </p:txBody>
        </p:sp>
        <p:sp>
          <p:nvSpPr>
            <p:cNvPr id="17" name="Rectangle: Rounded Corners 16">
              <a:extLst>
                <a:ext uri="{FF2B5EF4-FFF2-40B4-BE49-F238E27FC236}">
                  <a16:creationId xmlns:a16="http://schemas.microsoft.com/office/drawing/2014/main" id="{AC431BCC-D7A2-14B6-8FC4-764135277BC7}"/>
                </a:ext>
              </a:extLst>
            </p:cNvPr>
            <p:cNvSpPr/>
            <p:nvPr/>
          </p:nvSpPr>
          <p:spPr>
            <a:xfrm>
              <a:off x="2972382" y="2132336"/>
              <a:ext cx="1080000" cy="285561"/>
            </a:xfrm>
            <a:prstGeom prst="roundRect">
              <a:avLst>
                <a:gd name="adj" fmla="val 11192"/>
              </a:avLst>
            </a:prstGeom>
            <a:solidFill>
              <a:srgbClr val="DC2C3E"/>
            </a:solidFill>
            <a:ln w="38100">
              <a:solidFill>
                <a:srgbClr val="DC2C3E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sz="1050" dirty="0" err="1">
                  <a:solidFill>
                    <a:schemeClr val="bg1"/>
                  </a:solidFill>
                  <a:latin typeface="Montserrat" panose="00000500000000000000" pitchFamily="2" charset="0"/>
                </a:rPr>
                <a:t>engineSize</a:t>
              </a:r>
              <a:endParaRPr lang="en-GB" sz="1050" dirty="0">
                <a:solidFill>
                  <a:schemeClr val="bg1"/>
                </a:solidFill>
                <a:latin typeface="Montserrat" panose="00000500000000000000" pitchFamily="2" charset="0"/>
              </a:endParaRPr>
            </a:p>
          </p:txBody>
        </p:sp>
        <p:sp>
          <p:nvSpPr>
            <p:cNvPr id="18" name="Rectangle: Rounded Corners 17">
              <a:extLst>
                <a:ext uri="{FF2B5EF4-FFF2-40B4-BE49-F238E27FC236}">
                  <a16:creationId xmlns:a16="http://schemas.microsoft.com/office/drawing/2014/main" id="{61BF6E2A-4D4A-946C-9014-1AAA924734F5}"/>
                </a:ext>
              </a:extLst>
            </p:cNvPr>
            <p:cNvSpPr/>
            <p:nvPr/>
          </p:nvSpPr>
          <p:spPr>
            <a:xfrm>
              <a:off x="5460546" y="2132336"/>
              <a:ext cx="1080000" cy="285561"/>
            </a:xfrm>
            <a:prstGeom prst="roundRect">
              <a:avLst>
                <a:gd name="adj" fmla="val 11192"/>
              </a:avLst>
            </a:prstGeom>
            <a:solidFill>
              <a:srgbClr val="DC2C3E"/>
            </a:solidFill>
            <a:ln w="38100">
              <a:solidFill>
                <a:srgbClr val="DC2C3E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sz="1050" dirty="0">
                  <a:solidFill>
                    <a:schemeClr val="bg1"/>
                  </a:solidFill>
                  <a:latin typeface="Montserrat" panose="00000500000000000000" pitchFamily="2" charset="0"/>
                </a:rPr>
                <a:t>mileage</a:t>
              </a:r>
            </a:p>
          </p:txBody>
        </p:sp>
        <p:sp>
          <p:nvSpPr>
            <p:cNvPr id="19" name="Rectangle: Rounded Corners 18">
              <a:extLst>
                <a:ext uri="{FF2B5EF4-FFF2-40B4-BE49-F238E27FC236}">
                  <a16:creationId xmlns:a16="http://schemas.microsoft.com/office/drawing/2014/main" id="{76FC6492-5CDA-7140-FEBC-A24BF3C2D984}"/>
                </a:ext>
              </a:extLst>
            </p:cNvPr>
            <p:cNvSpPr/>
            <p:nvPr/>
          </p:nvSpPr>
          <p:spPr>
            <a:xfrm>
              <a:off x="484218" y="2132336"/>
              <a:ext cx="1080000" cy="285561"/>
            </a:xfrm>
            <a:prstGeom prst="roundRect">
              <a:avLst>
                <a:gd name="adj" fmla="val 11192"/>
              </a:avLst>
            </a:prstGeom>
            <a:solidFill>
              <a:srgbClr val="DC2C3E"/>
            </a:solidFill>
            <a:ln w="38100">
              <a:solidFill>
                <a:srgbClr val="DC2C3E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sz="1050" dirty="0">
                <a:solidFill>
                  <a:schemeClr val="bg1"/>
                </a:solidFill>
                <a:latin typeface="Montserrat" panose="00000500000000000000" pitchFamily="2" charset="0"/>
              </a:endParaRPr>
            </a:p>
          </p:txBody>
        </p:sp>
        <p:sp>
          <p:nvSpPr>
            <p:cNvPr id="20" name="Rectangle: Rounded Corners 19">
              <a:extLst>
                <a:ext uri="{FF2B5EF4-FFF2-40B4-BE49-F238E27FC236}">
                  <a16:creationId xmlns:a16="http://schemas.microsoft.com/office/drawing/2014/main" id="{133702D6-ED32-C45D-D7CD-8B1AA28FF238}"/>
                </a:ext>
              </a:extLst>
            </p:cNvPr>
            <p:cNvSpPr/>
            <p:nvPr/>
          </p:nvSpPr>
          <p:spPr>
            <a:xfrm>
              <a:off x="6704628" y="2132336"/>
              <a:ext cx="1080000" cy="285561"/>
            </a:xfrm>
            <a:prstGeom prst="roundRect">
              <a:avLst>
                <a:gd name="adj" fmla="val 11192"/>
              </a:avLst>
            </a:prstGeom>
            <a:solidFill>
              <a:srgbClr val="DC2C3E"/>
            </a:solidFill>
            <a:ln w="38100">
              <a:solidFill>
                <a:srgbClr val="DC2C3E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sz="1050" dirty="0">
                <a:solidFill>
                  <a:schemeClr val="bg1"/>
                </a:solidFill>
                <a:latin typeface="Montserrat" panose="00000500000000000000" pitchFamily="2" charset="0"/>
              </a:endParaRPr>
            </a:p>
          </p:txBody>
        </p:sp>
        <p:sp>
          <p:nvSpPr>
            <p:cNvPr id="21" name="Rectangle: Rounded Corners 20">
              <a:extLst>
                <a:ext uri="{FF2B5EF4-FFF2-40B4-BE49-F238E27FC236}">
                  <a16:creationId xmlns:a16="http://schemas.microsoft.com/office/drawing/2014/main" id="{9B5B94FF-3F6B-8302-938A-FCE7C800338B}"/>
                </a:ext>
              </a:extLst>
            </p:cNvPr>
            <p:cNvSpPr/>
            <p:nvPr/>
          </p:nvSpPr>
          <p:spPr>
            <a:xfrm>
              <a:off x="7948710" y="2537932"/>
              <a:ext cx="1080000" cy="285561"/>
            </a:xfrm>
            <a:prstGeom prst="roundRect">
              <a:avLst>
                <a:gd name="adj" fmla="val 11192"/>
              </a:avLst>
            </a:prstGeom>
            <a:solidFill>
              <a:srgbClr val="DC2C3E"/>
            </a:solidFill>
            <a:ln w="38100">
              <a:solidFill>
                <a:srgbClr val="DC2C3E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sz="1050" dirty="0">
                <a:solidFill>
                  <a:schemeClr val="bg1"/>
                </a:solidFill>
                <a:latin typeface="Montserrat" panose="00000500000000000000" pitchFamily="2" charset="0"/>
              </a:endParaRPr>
            </a:p>
          </p:txBody>
        </p:sp>
        <p:sp>
          <p:nvSpPr>
            <p:cNvPr id="22" name="Rectangle: Rounded Corners 21">
              <a:extLst>
                <a:ext uri="{FF2B5EF4-FFF2-40B4-BE49-F238E27FC236}">
                  <a16:creationId xmlns:a16="http://schemas.microsoft.com/office/drawing/2014/main" id="{B278D59E-766C-3A98-234D-EB3461D4B2E4}"/>
                </a:ext>
              </a:extLst>
            </p:cNvPr>
            <p:cNvSpPr/>
            <p:nvPr/>
          </p:nvSpPr>
          <p:spPr>
            <a:xfrm>
              <a:off x="1728300" y="2537932"/>
              <a:ext cx="1080000" cy="285561"/>
            </a:xfrm>
            <a:prstGeom prst="roundRect">
              <a:avLst>
                <a:gd name="adj" fmla="val 11192"/>
              </a:avLst>
            </a:prstGeom>
            <a:solidFill>
              <a:srgbClr val="DC2C3E"/>
            </a:solidFill>
            <a:ln w="38100">
              <a:solidFill>
                <a:srgbClr val="DC2C3E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sz="1050" dirty="0">
                <a:solidFill>
                  <a:schemeClr val="bg1"/>
                </a:solidFill>
                <a:latin typeface="Montserrat" panose="00000500000000000000" pitchFamily="2" charset="0"/>
              </a:endParaRPr>
            </a:p>
          </p:txBody>
        </p:sp>
        <p:sp>
          <p:nvSpPr>
            <p:cNvPr id="23" name="Rectangle: Rounded Corners 22">
              <a:extLst>
                <a:ext uri="{FF2B5EF4-FFF2-40B4-BE49-F238E27FC236}">
                  <a16:creationId xmlns:a16="http://schemas.microsoft.com/office/drawing/2014/main" id="{26EA04BB-EFCB-9AF1-BCFA-738970B5AA6F}"/>
                </a:ext>
              </a:extLst>
            </p:cNvPr>
            <p:cNvSpPr/>
            <p:nvPr/>
          </p:nvSpPr>
          <p:spPr>
            <a:xfrm>
              <a:off x="4216464" y="2537932"/>
              <a:ext cx="1080000" cy="285561"/>
            </a:xfrm>
            <a:prstGeom prst="roundRect">
              <a:avLst>
                <a:gd name="adj" fmla="val 11192"/>
              </a:avLst>
            </a:prstGeom>
            <a:solidFill>
              <a:srgbClr val="DC2C3E"/>
            </a:solidFill>
            <a:ln w="38100">
              <a:solidFill>
                <a:srgbClr val="DC2C3E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sz="1050" dirty="0">
                <a:solidFill>
                  <a:schemeClr val="bg1"/>
                </a:solidFill>
                <a:latin typeface="Montserrat" panose="00000500000000000000" pitchFamily="2" charset="0"/>
              </a:endParaRPr>
            </a:p>
          </p:txBody>
        </p:sp>
        <p:sp>
          <p:nvSpPr>
            <p:cNvPr id="24" name="Rectangle: Rounded Corners 23">
              <a:extLst>
                <a:ext uri="{FF2B5EF4-FFF2-40B4-BE49-F238E27FC236}">
                  <a16:creationId xmlns:a16="http://schemas.microsoft.com/office/drawing/2014/main" id="{6C418AB2-A6E2-C120-C369-B30FE110951E}"/>
                </a:ext>
              </a:extLst>
            </p:cNvPr>
            <p:cNvSpPr/>
            <p:nvPr/>
          </p:nvSpPr>
          <p:spPr>
            <a:xfrm>
              <a:off x="9192792" y="2537932"/>
              <a:ext cx="1080000" cy="285561"/>
            </a:xfrm>
            <a:prstGeom prst="roundRect">
              <a:avLst>
                <a:gd name="adj" fmla="val 11192"/>
              </a:avLst>
            </a:prstGeom>
            <a:solidFill>
              <a:srgbClr val="DC2C3E"/>
            </a:solidFill>
            <a:ln w="38100">
              <a:solidFill>
                <a:srgbClr val="DC2C3E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sz="1050" dirty="0">
                  <a:solidFill>
                    <a:schemeClr val="bg1"/>
                  </a:solidFill>
                  <a:latin typeface="Montserrat" panose="00000500000000000000" pitchFamily="2" charset="0"/>
                </a:rPr>
                <a:t>unknown</a:t>
              </a:r>
            </a:p>
          </p:txBody>
        </p:sp>
        <p:sp>
          <p:nvSpPr>
            <p:cNvPr id="25" name="Rectangle: Rounded Corners 24">
              <a:extLst>
                <a:ext uri="{FF2B5EF4-FFF2-40B4-BE49-F238E27FC236}">
                  <a16:creationId xmlns:a16="http://schemas.microsoft.com/office/drawing/2014/main" id="{A1A94BC3-578A-0F43-96C6-D44288469082}"/>
                </a:ext>
              </a:extLst>
            </p:cNvPr>
            <p:cNvSpPr/>
            <p:nvPr/>
          </p:nvSpPr>
          <p:spPr>
            <a:xfrm>
              <a:off x="2972382" y="2537932"/>
              <a:ext cx="1080000" cy="285561"/>
            </a:xfrm>
            <a:prstGeom prst="roundRect">
              <a:avLst>
                <a:gd name="adj" fmla="val 11192"/>
              </a:avLst>
            </a:prstGeom>
            <a:solidFill>
              <a:srgbClr val="DC2C3E"/>
            </a:solidFill>
            <a:ln w="38100">
              <a:solidFill>
                <a:srgbClr val="DC2C3E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sz="1050" dirty="0">
                  <a:solidFill>
                    <a:schemeClr val="bg1"/>
                  </a:solidFill>
                  <a:latin typeface="Montserrat" panose="00000500000000000000" pitchFamily="2" charset="0"/>
                </a:rPr>
                <a:t>tax</a:t>
              </a:r>
            </a:p>
          </p:txBody>
        </p:sp>
        <p:sp>
          <p:nvSpPr>
            <p:cNvPr id="26" name="Rectangle: Rounded Corners 25">
              <a:extLst>
                <a:ext uri="{FF2B5EF4-FFF2-40B4-BE49-F238E27FC236}">
                  <a16:creationId xmlns:a16="http://schemas.microsoft.com/office/drawing/2014/main" id="{61DB7B79-68CD-6125-4C0D-19621D18F154}"/>
                </a:ext>
              </a:extLst>
            </p:cNvPr>
            <p:cNvSpPr/>
            <p:nvPr/>
          </p:nvSpPr>
          <p:spPr>
            <a:xfrm>
              <a:off x="5460546" y="2537932"/>
              <a:ext cx="1080000" cy="285561"/>
            </a:xfrm>
            <a:prstGeom prst="roundRect">
              <a:avLst>
                <a:gd name="adj" fmla="val 11192"/>
              </a:avLst>
            </a:prstGeom>
            <a:solidFill>
              <a:srgbClr val="DC2C3E"/>
            </a:solidFill>
            <a:ln w="38100">
              <a:solidFill>
                <a:srgbClr val="DC2C3E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sz="1050" dirty="0">
                  <a:solidFill>
                    <a:schemeClr val="bg1"/>
                  </a:solidFill>
                  <a:latin typeface="Montserrat" panose="00000500000000000000" pitchFamily="2" charset="0"/>
                </a:rPr>
                <a:t>mpg</a:t>
              </a:r>
            </a:p>
          </p:txBody>
        </p:sp>
        <p:sp>
          <p:nvSpPr>
            <p:cNvPr id="27" name="Rectangle: Rounded Corners 26">
              <a:extLst>
                <a:ext uri="{FF2B5EF4-FFF2-40B4-BE49-F238E27FC236}">
                  <a16:creationId xmlns:a16="http://schemas.microsoft.com/office/drawing/2014/main" id="{07366AC0-C998-FD31-7A86-6804D7C203FB}"/>
                </a:ext>
              </a:extLst>
            </p:cNvPr>
            <p:cNvSpPr/>
            <p:nvPr/>
          </p:nvSpPr>
          <p:spPr>
            <a:xfrm>
              <a:off x="484218" y="2537932"/>
              <a:ext cx="1080000" cy="285561"/>
            </a:xfrm>
            <a:prstGeom prst="roundRect">
              <a:avLst>
                <a:gd name="adj" fmla="val 11192"/>
              </a:avLst>
            </a:prstGeom>
            <a:solidFill>
              <a:srgbClr val="DC2C3E"/>
            </a:solidFill>
            <a:ln w="38100">
              <a:solidFill>
                <a:srgbClr val="DC2C3E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sz="1050" dirty="0">
                <a:solidFill>
                  <a:schemeClr val="bg1"/>
                </a:solidFill>
                <a:latin typeface="Montserrat" panose="00000500000000000000" pitchFamily="2" charset="0"/>
              </a:endParaRPr>
            </a:p>
          </p:txBody>
        </p:sp>
        <p:sp>
          <p:nvSpPr>
            <p:cNvPr id="28" name="Rectangle: Rounded Corners 27">
              <a:extLst>
                <a:ext uri="{FF2B5EF4-FFF2-40B4-BE49-F238E27FC236}">
                  <a16:creationId xmlns:a16="http://schemas.microsoft.com/office/drawing/2014/main" id="{EE6BEFFC-FDE1-F5AF-37E5-3EF020422F27}"/>
                </a:ext>
              </a:extLst>
            </p:cNvPr>
            <p:cNvSpPr/>
            <p:nvPr/>
          </p:nvSpPr>
          <p:spPr>
            <a:xfrm>
              <a:off x="6704628" y="2537932"/>
              <a:ext cx="1080000" cy="285561"/>
            </a:xfrm>
            <a:prstGeom prst="roundRect">
              <a:avLst>
                <a:gd name="adj" fmla="val 11192"/>
              </a:avLst>
            </a:prstGeom>
            <a:solidFill>
              <a:srgbClr val="DC2C3E"/>
            </a:solidFill>
            <a:ln w="38100">
              <a:solidFill>
                <a:srgbClr val="DC2C3E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sz="1050" dirty="0">
                <a:solidFill>
                  <a:schemeClr val="bg1"/>
                </a:solidFill>
                <a:latin typeface="Montserrat" panose="00000500000000000000" pitchFamily="2" charset="0"/>
              </a:endParaRPr>
            </a:p>
          </p:txBody>
        </p:sp>
        <p:sp>
          <p:nvSpPr>
            <p:cNvPr id="53" name="Rectangle: Rounded Corners 52">
              <a:extLst>
                <a:ext uri="{FF2B5EF4-FFF2-40B4-BE49-F238E27FC236}">
                  <a16:creationId xmlns:a16="http://schemas.microsoft.com/office/drawing/2014/main" id="{FAF52ABF-FD1F-6A92-2001-242BC27DFB8D}"/>
                </a:ext>
              </a:extLst>
            </p:cNvPr>
            <p:cNvSpPr/>
            <p:nvPr/>
          </p:nvSpPr>
          <p:spPr>
            <a:xfrm>
              <a:off x="10436874" y="1728009"/>
              <a:ext cx="1080000" cy="285561"/>
            </a:xfrm>
            <a:prstGeom prst="roundRect">
              <a:avLst>
                <a:gd name="adj" fmla="val 11192"/>
              </a:avLst>
            </a:prstGeom>
            <a:solidFill>
              <a:schemeClr val="bg1"/>
            </a:solidFill>
            <a:ln w="38100">
              <a:solidFill>
                <a:srgbClr val="DC2C3E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sz="1050" dirty="0">
                  <a:solidFill>
                    <a:schemeClr val="tx1"/>
                  </a:solidFill>
                  <a:latin typeface="Montserrat" panose="00000500000000000000" pitchFamily="2" charset="0"/>
                </a:rPr>
                <a:t>unknown</a:t>
              </a:r>
            </a:p>
          </p:txBody>
        </p:sp>
        <p:sp>
          <p:nvSpPr>
            <p:cNvPr id="54" name="Rectangle: Rounded Corners 53">
              <a:extLst>
                <a:ext uri="{FF2B5EF4-FFF2-40B4-BE49-F238E27FC236}">
                  <a16:creationId xmlns:a16="http://schemas.microsoft.com/office/drawing/2014/main" id="{2C8BDC28-0F6D-91CD-C450-C400F185E671}"/>
                </a:ext>
              </a:extLst>
            </p:cNvPr>
            <p:cNvSpPr/>
            <p:nvPr/>
          </p:nvSpPr>
          <p:spPr>
            <a:xfrm>
              <a:off x="10436874" y="2132336"/>
              <a:ext cx="1080000" cy="285561"/>
            </a:xfrm>
            <a:prstGeom prst="roundRect">
              <a:avLst>
                <a:gd name="adj" fmla="val 11192"/>
              </a:avLst>
            </a:prstGeom>
            <a:solidFill>
              <a:srgbClr val="DC2C3E"/>
            </a:solidFill>
            <a:ln w="38100">
              <a:solidFill>
                <a:srgbClr val="DC2C3E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sz="1050" dirty="0">
                <a:solidFill>
                  <a:schemeClr val="bg1"/>
                </a:solidFill>
                <a:latin typeface="Montserrat" panose="00000500000000000000" pitchFamily="2" charset="0"/>
              </a:endParaRPr>
            </a:p>
          </p:txBody>
        </p:sp>
        <p:sp>
          <p:nvSpPr>
            <p:cNvPr id="55" name="Rectangle: Rounded Corners 54">
              <a:extLst>
                <a:ext uri="{FF2B5EF4-FFF2-40B4-BE49-F238E27FC236}">
                  <a16:creationId xmlns:a16="http://schemas.microsoft.com/office/drawing/2014/main" id="{51529D10-9F27-E7E9-08B8-7AA593365F90}"/>
                </a:ext>
              </a:extLst>
            </p:cNvPr>
            <p:cNvSpPr/>
            <p:nvPr/>
          </p:nvSpPr>
          <p:spPr>
            <a:xfrm>
              <a:off x="10436874" y="2537932"/>
              <a:ext cx="1080000" cy="285561"/>
            </a:xfrm>
            <a:prstGeom prst="roundRect">
              <a:avLst>
                <a:gd name="adj" fmla="val 11192"/>
              </a:avLst>
            </a:prstGeom>
            <a:solidFill>
              <a:srgbClr val="DC2C3E"/>
            </a:solidFill>
            <a:ln w="38100">
              <a:solidFill>
                <a:srgbClr val="DC2C3E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sz="1050" dirty="0">
                <a:solidFill>
                  <a:schemeClr val="bg1"/>
                </a:solidFill>
                <a:latin typeface="Montserrat" panose="00000500000000000000" pitchFamily="2" charset="0"/>
              </a:endParaRPr>
            </a:p>
          </p:txBody>
        </p:sp>
        <p:cxnSp>
          <p:nvCxnSpPr>
            <p:cNvPr id="77" name="Straight Arrow Connector 76">
              <a:extLst>
                <a:ext uri="{FF2B5EF4-FFF2-40B4-BE49-F238E27FC236}">
                  <a16:creationId xmlns:a16="http://schemas.microsoft.com/office/drawing/2014/main" id="{F510403F-E0D1-F99C-5991-4F4D2F662930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2331550" y="2275117"/>
              <a:ext cx="612257" cy="0"/>
            </a:xfrm>
            <a:prstGeom prst="straightConnector1">
              <a:avLst/>
            </a:prstGeom>
            <a:ln>
              <a:prstDash val="sysDot"/>
              <a:tailEnd type="triangle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0" name="Straight Arrow Connector 79">
              <a:extLst>
                <a:ext uri="{FF2B5EF4-FFF2-40B4-BE49-F238E27FC236}">
                  <a16:creationId xmlns:a16="http://schemas.microsoft.com/office/drawing/2014/main" id="{3746ABED-2E06-1F20-8DE4-726CFFD2A1EE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023968" y="2680713"/>
              <a:ext cx="1910314" cy="0"/>
            </a:xfrm>
            <a:prstGeom prst="straightConnector1">
              <a:avLst/>
            </a:prstGeom>
            <a:ln>
              <a:prstDash val="sysDot"/>
              <a:tailEnd type="triangle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6" name="Straight Arrow Connector 85">
              <a:extLst>
                <a:ext uri="{FF2B5EF4-FFF2-40B4-BE49-F238E27FC236}">
                  <a16:creationId xmlns:a16="http://schemas.microsoft.com/office/drawing/2014/main" id="{77A714B1-5DBA-C319-A47B-4F66BEF5E5C3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812827" y="2275117"/>
              <a:ext cx="612257" cy="0"/>
            </a:xfrm>
            <a:prstGeom prst="straightConnector1">
              <a:avLst/>
            </a:prstGeom>
            <a:ln>
              <a:prstDash val="sysDot"/>
              <a:tailEnd type="triangle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7" name="Straight Arrow Connector 86">
              <a:extLst>
                <a:ext uri="{FF2B5EF4-FFF2-40B4-BE49-F238E27FC236}">
                  <a16:creationId xmlns:a16="http://schemas.microsoft.com/office/drawing/2014/main" id="{61ED0E4E-8E8C-C751-8FF9-61381BC7BD57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8540985" y="2291943"/>
              <a:ext cx="612257" cy="0"/>
            </a:xfrm>
            <a:prstGeom prst="straightConnector1">
              <a:avLst/>
            </a:prstGeom>
            <a:ln>
              <a:prstDash val="sysDot"/>
              <a:tailEnd type="triangle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8" name="Straight Arrow Connector 87">
              <a:extLst>
                <a:ext uri="{FF2B5EF4-FFF2-40B4-BE49-F238E27FC236}">
                  <a16:creationId xmlns:a16="http://schemas.microsoft.com/office/drawing/2014/main" id="{2AABA895-1E98-164D-6697-5F8BC706C2C4}"/>
                </a:ext>
              </a:extLst>
            </p:cNvPr>
            <p:cNvCxnSpPr>
              <a:cxnSpLocks/>
            </p:cNvCxnSpPr>
            <p:nvPr/>
          </p:nvCxnSpPr>
          <p:spPr>
            <a:xfrm>
              <a:off x="6578127" y="2680713"/>
              <a:ext cx="612257" cy="0"/>
            </a:xfrm>
            <a:prstGeom prst="straightConnector1">
              <a:avLst/>
            </a:prstGeom>
            <a:ln>
              <a:prstDash val="sysDot"/>
              <a:tailEnd type="triangle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9" name="Straight Arrow Connector 88">
              <a:extLst>
                <a:ext uri="{FF2B5EF4-FFF2-40B4-BE49-F238E27FC236}">
                  <a16:creationId xmlns:a16="http://schemas.microsoft.com/office/drawing/2014/main" id="{F904253A-3E74-94AF-6476-C5948FD06D62}"/>
                </a:ext>
              </a:extLst>
            </p:cNvPr>
            <p:cNvCxnSpPr>
              <a:cxnSpLocks/>
            </p:cNvCxnSpPr>
            <p:nvPr/>
          </p:nvCxnSpPr>
          <p:spPr>
            <a:xfrm>
              <a:off x="10310080" y="2680713"/>
              <a:ext cx="612257" cy="0"/>
            </a:xfrm>
            <a:prstGeom prst="straightConnector1">
              <a:avLst/>
            </a:prstGeom>
            <a:ln>
              <a:prstDash val="sysDot"/>
              <a:tailEnd type="triangle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Red Panel">
            <a:extLst>
              <a:ext uri="{FF2B5EF4-FFF2-40B4-BE49-F238E27FC236}">
                <a16:creationId xmlns:a16="http://schemas.microsoft.com/office/drawing/2014/main" id="{ED9DE300-FECA-7306-5274-0B7AB5074937}"/>
              </a:ext>
            </a:extLst>
          </p:cNvPr>
          <p:cNvSpPr/>
          <p:nvPr/>
        </p:nvSpPr>
        <p:spPr>
          <a:xfrm>
            <a:off x="0" y="3334741"/>
            <a:ext cx="12192000" cy="3523259"/>
          </a:xfrm>
          <a:prstGeom prst="rect">
            <a:avLst/>
          </a:prstGeom>
          <a:solidFill>
            <a:srgbClr val="DC2C3E"/>
          </a:solidFill>
          <a:ln>
            <a:noFill/>
          </a:ln>
          <a:effectLst>
            <a:outerShdw blurRad="50800" dist="38100" algn="l" rotWithShape="0">
              <a:prstClr val="black">
                <a:alpha val="20000"/>
              </a:prstClr>
            </a:outerShdw>
          </a:effectLst>
        </p:spPr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3" name="Contents Heading">
            <a:extLst>
              <a:ext uri="{FF2B5EF4-FFF2-40B4-BE49-F238E27FC236}">
                <a16:creationId xmlns:a16="http://schemas.microsoft.com/office/drawing/2014/main" id="{C30FD58D-4252-4271-8D66-5A7660ADE4F4}"/>
              </a:ext>
            </a:extLst>
          </p:cNvPr>
          <p:cNvSpPr txBox="1"/>
          <p:nvPr/>
        </p:nvSpPr>
        <p:spPr>
          <a:xfrm>
            <a:off x="606271" y="3571408"/>
            <a:ext cx="2408854" cy="461665"/>
          </a:xfrm>
          <a:prstGeom prst="rect">
            <a:avLst/>
          </a:prstGeom>
          <a:noFill/>
        </p:spPr>
        <p:txBody>
          <a:bodyPr wrap="square" rtlCol="0" anchor="ctr">
            <a:noAutofit/>
          </a:bodyPr>
          <a:lstStyle/>
          <a:p>
            <a:r>
              <a:rPr lang="en-GB" sz="2400" dirty="0">
                <a:solidFill>
                  <a:schemeClr val="bg1"/>
                </a:solidFill>
                <a:latin typeface="Montserrat" panose="00000500000000000000" pitchFamily="2" charset="0"/>
              </a:rPr>
              <a:t>Methodology</a:t>
            </a:r>
          </a:p>
        </p:txBody>
      </p:sp>
      <p:sp>
        <p:nvSpPr>
          <p:cNvPr id="29" name="Heading Bar">
            <a:extLst>
              <a:ext uri="{FF2B5EF4-FFF2-40B4-BE49-F238E27FC236}">
                <a16:creationId xmlns:a16="http://schemas.microsoft.com/office/drawing/2014/main" id="{BBD28A66-C00D-5AFA-3DAF-8BE7669427FC}"/>
              </a:ext>
            </a:extLst>
          </p:cNvPr>
          <p:cNvSpPr/>
          <p:nvPr/>
        </p:nvSpPr>
        <p:spPr>
          <a:xfrm>
            <a:off x="496151" y="3597715"/>
            <a:ext cx="61913" cy="390387"/>
          </a:xfrm>
          <a:prstGeom prst="rect">
            <a:avLst/>
          </a:prstGeom>
          <a:solidFill>
            <a:srgbClr val="FBF8EF"/>
          </a:solidFill>
          <a:ln>
            <a:noFill/>
          </a:ln>
        </p:spPr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30" name="Contents Detail">
            <a:extLst>
              <a:ext uri="{FF2B5EF4-FFF2-40B4-BE49-F238E27FC236}">
                <a16:creationId xmlns:a16="http://schemas.microsoft.com/office/drawing/2014/main" id="{FBCEBA4B-7C48-6BA6-53CA-F99BF6AB5958}"/>
              </a:ext>
            </a:extLst>
          </p:cNvPr>
          <p:cNvSpPr txBox="1"/>
          <p:nvPr/>
        </p:nvSpPr>
        <p:spPr>
          <a:xfrm>
            <a:off x="606270" y="4014509"/>
            <a:ext cx="5436390" cy="259840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>
              <a:spcAft>
                <a:spcPts val="300"/>
              </a:spcAft>
            </a:pPr>
            <a:r>
              <a:rPr lang="en-GB" sz="1100" dirty="0">
                <a:solidFill>
                  <a:schemeClr val="bg1"/>
                </a:solidFill>
                <a:latin typeface="Montserrat" panose="00000500000000000000" pitchFamily="2" charset="0"/>
              </a:rPr>
              <a:t>TYPE_B contains </a:t>
            </a:r>
            <a:r>
              <a:rPr lang="en-GB" sz="1100" b="1" dirty="0">
                <a:solidFill>
                  <a:schemeClr val="bg1"/>
                </a:solidFill>
                <a:latin typeface="Montserrat" panose="00000500000000000000" pitchFamily="2" charset="0"/>
              </a:rPr>
              <a:t>duplicate columns</a:t>
            </a:r>
            <a:r>
              <a:rPr lang="en-GB" sz="1100" dirty="0">
                <a:solidFill>
                  <a:schemeClr val="bg1"/>
                </a:solidFill>
                <a:latin typeface="Montserrat" panose="00000500000000000000" pitchFamily="2" charset="0"/>
              </a:rPr>
              <a:t> for ‘</a:t>
            </a:r>
            <a:r>
              <a:rPr lang="en-GB" sz="1100" dirty="0" err="1">
                <a:solidFill>
                  <a:schemeClr val="bg1"/>
                </a:solidFill>
                <a:latin typeface="Montserrat" panose="00000500000000000000" pitchFamily="2" charset="0"/>
              </a:rPr>
              <a:t>engineSize</a:t>
            </a:r>
            <a:r>
              <a:rPr lang="en-GB" sz="1100" dirty="0">
                <a:solidFill>
                  <a:schemeClr val="bg1"/>
                </a:solidFill>
                <a:latin typeface="Montserrat" panose="00000500000000000000" pitchFamily="2" charset="0"/>
              </a:rPr>
              <a:t>’, ‘mileage’, and ‘</a:t>
            </a:r>
            <a:r>
              <a:rPr lang="en-GB" sz="1100" dirty="0" err="1">
                <a:solidFill>
                  <a:schemeClr val="bg1"/>
                </a:solidFill>
                <a:latin typeface="Montserrat" panose="00000500000000000000" pitchFamily="2" charset="0"/>
              </a:rPr>
              <a:t>fuelType</a:t>
            </a:r>
            <a:r>
              <a:rPr lang="en-GB" sz="1100" dirty="0">
                <a:solidFill>
                  <a:schemeClr val="bg1"/>
                </a:solidFill>
                <a:latin typeface="Montserrat" panose="00000500000000000000" pitchFamily="2" charset="0"/>
              </a:rPr>
              <a:t>’. Within these duplicate columns contains values belonging to different columns. These are </a:t>
            </a:r>
            <a:r>
              <a:rPr lang="en-GB" sz="1100" b="1" dirty="0">
                <a:solidFill>
                  <a:schemeClr val="bg1"/>
                </a:solidFill>
                <a:latin typeface="Montserrat" panose="00000500000000000000" pitchFamily="2" charset="0"/>
              </a:rPr>
              <a:t>misaligned data</a:t>
            </a:r>
            <a:r>
              <a:rPr lang="en-GB" sz="1100" dirty="0">
                <a:solidFill>
                  <a:schemeClr val="bg1"/>
                </a:solidFill>
                <a:latin typeface="Montserrat" panose="00000500000000000000" pitchFamily="2" charset="0"/>
              </a:rPr>
              <a:t>.</a:t>
            </a:r>
          </a:p>
          <a:p>
            <a:pPr>
              <a:spcAft>
                <a:spcPts val="300"/>
              </a:spcAft>
            </a:pPr>
            <a:r>
              <a:rPr lang="en-GB" sz="1100" dirty="0">
                <a:solidFill>
                  <a:schemeClr val="bg1"/>
                </a:solidFill>
                <a:latin typeface="Montserrat" panose="00000500000000000000" pitchFamily="2" charset="0"/>
              </a:rPr>
              <a:t>For example: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1100" dirty="0">
                <a:solidFill>
                  <a:schemeClr val="bg1"/>
                </a:solidFill>
                <a:latin typeface="Montserrat" panose="00000500000000000000" pitchFamily="2" charset="0"/>
              </a:rPr>
              <a:t>‘engineSize2’ possesses ‘tax’, ‘</a:t>
            </a:r>
            <a:r>
              <a:rPr lang="en-GB" sz="1100" dirty="0" err="1">
                <a:solidFill>
                  <a:schemeClr val="bg1"/>
                </a:solidFill>
                <a:latin typeface="Montserrat" panose="00000500000000000000" pitchFamily="2" charset="0"/>
              </a:rPr>
              <a:t>engineSize</a:t>
            </a:r>
            <a:r>
              <a:rPr lang="en-GB" sz="1100" dirty="0">
                <a:solidFill>
                  <a:schemeClr val="bg1"/>
                </a:solidFill>
                <a:latin typeface="Montserrat" panose="00000500000000000000" pitchFamily="2" charset="0"/>
              </a:rPr>
              <a:t>’, and NULL values.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GB" sz="1100" dirty="0">
              <a:solidFill>
                <a:schemeClr val="bg1"/>
              </a:solidFill>
              <a:latin typeface="Montserrat" panose="00000500000000000000" pitchFamily="2" charset="0"/>
            </a:endParaRPr>
          </a:p>
          <a:p>
            <a:pPr>
              <a:spcAft>
                <a:spcPts val="300"/>
              </a:spcAft>
            </a:pPr>
            <a:r>
              <a:rPr lang="en-GB" sz="1100" dirty="0">
                <a:solidFill>
                  <a:schemeClr val="bg1"/>
                </a:solidFill>
                <a:latin typeface="Montserrat" panose="00000500000000000000" pitchFamily="2" charset="0"/>
              </a:rPr>
              <a:t>These misaligned data point shows signs of </a:t>
            </a:r>
            <a:r>
              <a:rPr lang="en-GB" sz="1100" b="1" dirty="0">
                <a:solidFill>
                  <a:schemeClr val="bg1"/>
                </a:solidFill>
                <a:latin typeface="Montserrat" panose="00000500000000000000" pitchFamily="2" charset="0"/>
              </a:rPr>
              <a:t>patterns</a:t>
            </a:r>
            <a:r>
              <a:rPr lang="en-GB" sz="1100" dirty="0">
                <a:solidFill>
                  <a:schemeClr val="bg1"/>
                </a:solidFill>
                <a:latin typeface="Montserrat" panose="00000500000000000000" pitchFamily="2" charset="0"/>
              </a:rPr>
              <a:t>.</a:t>
            </a:r>
          </a:p>
          <a:p>
            <a:r>
              <a:rPr lang="en-GB" sz="1100" dirty="0">
                <a:solidFill>
                  <a:schemeClr val="bg1"/>
                </a:solidFill>
                <a:latin typeface="Montserrat" panose="00000500000000000000" pitchFamily="2" charset="0"/>
              </a:rPr>
              <a:t>For example: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1100" dirty="0">
                <a:solidFill>
                  <a:schemeClr val="bg1"/>
                </a:solidFill>
                <a:latin typeface="Montserrat" panose="00000500000000000000" pitchFamily="2" charset="0"/>
              </a:rPr>
              <a:t>Where row in ‘</a:t>
            </a:r>
            <a:r>
              <a:rPr lang="en-GB" sz="1100" dirty="0" err="1">
                <a:solidFill>
                  <a:schemeClr val="bg1"/>
                </a:solidFill>
                <a:latin typeface="Montserrat" panose="00000500000000000000" pitchFamily="2" charset="0"/>
              </a:rPr>
              <a:t>engineSize</a:t>
            </a:r>
            <a:r>
              <a:rPr lang="en-GB" sz="1100" dirty="0">
                <a:solidFill>
                  <a:schemeClr val="bg1"/>
                </a:solidFill>
                <a:latin typeface="Montserrat" panose="00000500000000000000" pitchFamily="2" charset="0"/>
              </a:rPr>
              <a:t>’ is NULL, ‘engineSize2’ has ‘</a:t>
            </a:r>
            <a:r>
              <a:rPr lang="en-GB" sz="1100" dirty="0" err="1">
                <a:solidFill>
                  <a:schemeClr val="bg1"/>
                </a:solidFill>
                <a:latin typeface="Montserrat" panose="00000500000000000000" pitchFamily="2" charset="0"/>
              </a:rPr>
              <a:t>engineSize</a:t>
            </a:r>
            <a:r>
              <a:rPr lang="en-GB" sz="1100" dirty="0">
                <a:solidFill>
                  <a:schemeClr val="bg1"/>
                </a:solidFill>
                <a:latin typeface="Montserrat" panose="00000500000000000000" pitchFamily="2" charset="0"/>
              </a:rPr>
              <a:t>’.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GB" sz="1100" dirty="0">
              <a:solidFill>
                <a:schemeClr val="bg1"/>
              </a:solidFill>
              <a:latin typeface="Montserrat" panose="00000500000000000000" pitchFamily="2" charset="0"/>
            </a:endParaRPr>
          </a:p>
          <a:p>
            <a:r>
              <a:rPr lang="en-GB" sz="1100" dirty="0">
                <a:solidFill>
                  <a:schemeClr val="bg1"/>
                </a:solidFill>
                <a:latin typeface="Montserrat" panose="00000500000000000000" pitchFamily="2" charset="0"/>
              </a:rPr>
              <a:t>These patterns can be used to create </a:t>
            </a:r>
            <a:r>
              <a:rPr lang="en-GB" sz="1100" b="1" dirty="0">
                <a:solidFill>
                  <a:schemeClr val="bg1"/>
                </a:solidFill>
                <a:latin typeface="Montserrat" panose="00000500000000000000" pitchFamily="2" charset="0"/>
              </a:rPr>
              <a:t>conditions</a:t>
            </a:r>
            <a:r>
              <a:rPr lang="en-GB" sz="1100" dirty="0">
                <a:solidFill>
                  <a:schemeClr val="bg1"/>
                </a:solidFill>
                <a:latin typeface="Montserrat" panose="00000500000000000000" pitchFamily="2" charset="0"/>
              </a:rPr>
              <a:t> to copy the data from the duplicate column, to the intended column.</a:t>
            </a:r>
          </a:p>
          <a:p>
            <a:endParaRPr lang="en-GB" sz="1100" dirty="0">
              <a:solidFill>
                <a:schemeClr val="bg1"/>
              </a:solidFill>
              <a:latin typeface="Montserrat" panose="00000500000000000000" pitchFamily="2" charset="0"/>
            </a:endParaRPr>
          </a:p>
          <a:p>
            <a:r>
              <a:rPr lang="en-GB" sz="1100" dirty="0">
                <a:solidFill>
                  <a:schemeClr val="bg1"/>
                </a:solidFill>
                <a:latin typeface="Montserrat" panose="00000500000000000000" pitchFamily="2" charset="0"/>
              </a:rPr>
              <a:t>The ‘</a:t>
            </a:r>
            <a:r>
              <a:rPr lang="en-GB" sz="1100" dirty="0" err="1">
                <a:solidFill>
                  <a:schemeClr val="bg1"/>
                </a:solidFill>
                <a:latin typeface="Montserrat" panose="00000500000000000000" pitchFamily="2" charset="0"/>
              </a:rPr>
              <a:t>unknownFeature</a:t>
            </a:r>
            <a:r>
              <a:rPr lang="en-GB" sz="1100" dirty="0">
                <a:solidFill>
                  <a:schemeClr val="bg1"/>
                </a:solidFill>
                <a:latin typeface="Montserrat" panose="00000500000000000000" pitchFamily="2" charset="0"/>
              </a:rPr>
              <a:t>’ column was created to accommodate values that do not belong to any known column.</a:t>
            </a:r>
          </a:p>
        </p:txBody>
      </p:sp>
      <p:grpSp>
        <p:nvGrpSpPr>
          <p:cNvPr id="52" name="Group 51">
            <a:extLst>
              <a:ext uri="{FF2B5EF4-FFF2-40B4-BE49-F238E27FC236}">
                <a16:creationId xmlns:a16="http://schemas.microsoft.com/office/drawing/2014/main" id="{B2980F39-E5E5-A5A5-F3D5-1D24C75D543A}"/>
              </a:ext>
            </a:extLst>
          </p:cNvPr>
          <p:cNvGrpSpPr>
            <a:grpSpLocks noChangeAspect="1"/>
          </p:cNvGrpSpPr>
          <p:nvPr/>
        </p:nvGrpSpPr>
        <p:grpSpPr>
          <a:xfrm>
            <a:off x="6355863" y="3689027"/>
            <a:ext cx="5345694" cy="2923888"/>
            <a:chOff x="6355863" y="3689027"/>
            <a:chExt cx="5345694" cy="2923888"/>
          </a:xfrm>
        </p:grpSpPr>
        <p:sp>
          <p:nvSpPr>
            <p:cNvPr id="31" name="Code Card">
              <a:extLst>
                <a:ext uri="{FF2B5EF4-FFF2-40B4-BE49-F238E27FC236}">
                  <a16:creationId xmlns:a16="http://schemas.microsoft.com/office/drawing/2014/main" id="{8A526B6C-EC85-FFB9-B14E-22F9A9C232C7}"/>
                </a:ext>
              </a:extLst>
            </p:cNvPr>
            <p:cNvSpPr/>
            <p:nvPr/>
          </p:nvSpPr>
          <p:spPr>
            <a:xfrm>
              <a:off x="6355863" y="3689027"/>
              <a:ext cx="5345694" cy="2923888"/>
            </a:xfrm>
            <a:prstGeom prst="roundRect">
              <a:avLst>
                <a:gd name="adj" fmla="val 3500"/>
              </a:avLst>
            </a:prstGeom>
            <a:solidFill>
              <a:schemeClr val="bg1"/>
            </a:solidFill>
            <a:ln w="9525">
              <a:noFill/>
            </a:ln>
            <a:effectLst>
              <a:outerShdw blurRad="80000" dist="30000" dir="5400000" rotWithShape="0">
                <a:srgbClr val="000000">
                  <a:alpha val="28000"/>
                </a:srgbClr>
              </a:outerShdw>
            </a:effectLst>
          </p:spPr>
          <p:txBody>
            <a:bodyPr rtlCol="0" anchor="ctr"/>
            <a:lstStyle/>
            <a:p>
              <a:pPr algn="ctr"/>
              <a:endParaRPr lang="en-GB" dirty="0"/>
            </a:p>
          </p:txBody>
        </p:sp>
        <p:cxnSp>
          <p:nvCxnSpPr>
            <p:cNvPr id="32" name="Chrome Divider">
              <a:extLst>
                <a:ext uri="{FF2B5EF4-FFF2-40B4-BE49-F238E27FC236}">
                  <a16:creationId xmlns:a16="http://schemas.microsoft.com/office/drawing/2014/main" id="{B1BB4AF1-9663-1381-34E8-4256245C0FBC}"/>
                </a:ext>
              </a:extLst>
            </p:cNvPr>
            <p:cNvCxnSpPr/>
            <p:nvPr/>
          </p:nvCxnSpPr>
          <p:spPr>
            <a:xfrm>
              <a:off x="6355863" y="3860325"/>
              <a:ext cx="5345694" cy="0"/>
            </a:xfrm>
            <a:prstGeom prst="line">
              <a:avLst/>
            </a:prstGeom>
            <a:ln w="9525">
              <a:solidFill>
                <a:schemeClr val="bg2"/>
              </a:solidFill>
            </a:ln>
          </p:spPr>
        </p:cxnSp>
        <p:sp>
          <p:nvSpPr>
            <p:cNvPr id="33" name="Dot Red">
              <a:extLst>
                <a:ext uri="{FF2B5EF4-FFF2-40B4-BE49-F238E27FC236}">
                  <a16:creationId xmlns:a16="http://schemas.microsoft.com/office/drawing/2014/main" id="{BB5CFE20-553F-2CFC-9815-9ACB83710461}"/>
                </a:ext>
              </a:extLst>
            </p:cNvPr>
            <p:cNvSpPr/>
            <p:nvPr/>
          </p:nvSpPr>
          <p:spPr>
            <a:xfrm>
              <a:off x="6479907" y="3742189"/>
              <a:ext cx="64975" cy="64975"/>
            </a:xfrm>
            <a:prstGeom prst="ellipse">
              <a:avLst/>
            </a:prstGeom>
            <a:solidFill>
              <a:srgbClr val="FF5F56"/>
            </a:solidFill>
            <a:ln>
              <a:noFill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34" name="Dot Yellow">
              <a:extLst>
                <a:ext uri="{FF2B5EF4-FFF2-40B4-BE49-F238E27FC236}">
                  <a16:creationId xmlns:a16="http://schemas.microsoft.com/office/drawing/2014/main" id="{1779B332-A663-FE94-7AC3-B96C6BBF3EBA}"/>
                </a:ext>
              </a:extLst>
            </p:cNvPr>
            <p:cNvSpPr/>
            <p:nvPr/>
          </p:nvSpPr>
          <p:spPr>
            <a:xfrm>
              <a:off x="6586230" y="3742189"/>
              <a:ext cx="64975" cy="64975"/>
            </a:xfrm>
            <a:prstGeom prst="ellipse">
              <a:avLst/>
            </a:prstGeom>
            <a:solidFill>
              <a:srgbClr val="FFBD2E"/>
            </a:solidFill>
            <a:ln>
              <a:noFill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35" name="Dot Green">
              <a:extLst>
                <a:ext uri="{FF2B5EF4-FFF2-40B4-BE49-F238E27FC236}">
                  <a16:creationId xmlns:a16="http://schemas.microsoft.com/office/drawing/2014/main" id="{D0B10276-D706-ECCE-D4FC-A87127644E38}"/>
                </a:ext>
              </a:extLst>
            </p:cNvPr>
            <p:cNvSpPr/>
            <p:nvPr/>
          </p:nvSpPr>
          <p:spPr>
            <a:xfrm>
              <a:off x="6692553" y="3742189"/>
              <a:ext cx="64975" cy="64975"/>
            </a:xfrm>
            <a:prstGeom prst="ellipse">
              <a:avLst/>
            </a:prstGeom>
            <a:solidFill>
              <a:srgbClr val="27C93F"/>
            </a:solidFill>
            <a:ln>
              <a:noFill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36" name="Filename">
              <a:extLst>
                <a:ext uri="{FF2B5EF4-FFF2-40B4-BE49-F238E27FC236}">
                  <a16:creationId xmlns:a16="http://schemas.microsoft.com/office/drawing/2014/main" id="{9923DA4B-80E7-AE72-6D73-82CD9A776DB1}"/>
                </a:ext>
              </a:extLst>
            </p:cNvPr>
            <p:cNvSpPr txBox="1"/>
            <p:nvPr/>
          </p:nvSpPr>
          <p:spPr>
            <a:xfrm>
              <a:off x="6857945" y="3700841"/>
              <a:ext cx="2953422" cy="153578"/>
            </a:xfrm>
            <a:prstGeom prst="rect">
              <a:avLst/>
            </a:prstGeom>
            <a:noFill/>
          </p:spPr>
          <p:txBody>
            <a:bodyPr wrap="square" rtlCol="0" anchor="ctr">
              <a:noAutofit/>
            </a:bodyPr>
            <a:lstStyle/>
            <a:p>
              <a:r>
                <a:rPr lang="en-GB" sz="700" dirty="0" err="1">
                  <a:solidFill>
                    <a:srgbClr val="8B9BB0"/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Sample_code.ipynb</a:t>
              </a:r>
              <a:endParaRPr lang="en-GB" sz="700" dirty="0">
                <a:solidFill>
                  <a:srgbClr val="8B9BB0"/>
                </a:solidFill>
                <a:latin typeface="Consolas" panose="020B0609020204030204" pitchFamily="49" charset="0"/>
                <a:cs typeface="Consolas" panose="020B0609020204030204" pitchFamily="49" charset="0"/>
              </a:endParaRPr>
            </a:p>
          </p:txBody>
        </p:sp>
        <p:grpSp>
          <p:nvGrpSpPr>
            <p:cNvPr id="51" name="Group 50">
              <a:extLst>
                <a:ext uri="{FF2B5EF4-FFF2-40B4-BE49-F238E27FC236}">
                  <a16:creationId xmlns:a16="http://schemas.microsoft.com/office/drawing/2014/main" id="{3E34E32F-BF16-6C95-AD19-0E8A92C9A997}"/>
                </a:ext>
              </a:extLst>
            </p:cNvPr>
            <p:cNvGrpSpPr>
              <a:grpSpLocks noChangeAspect="1"/>
            </p:cNvGrpSpPr>
            <p:nvPr/>
          </p:nvGrpSpPr>
          <p:grpSpPr>
            <a:xfrm>
              <a:off x="6491425" y="4031624"/>
              <a:ext cx="5080254" cy="2424816"/>
              <a:chOff x="1083512" y="1714184"/>
              <a:chExt cx="10624270" cy="5070986"/>
            </a:xfrm>
          </p:grpSpPr>
          <p:pic>
            <p:nvPicPr>
              <p:cNvPr id="46" name="Picture 45">
                <a:extLst>
                  <a:ext uri="{FF2B5EF4-FFF2-40B4-BE49-F238E27FC236}">
                    <a16:creationId xmlns:a16="http://schemas.microsoft.com/office/drawing/2014/main" id="{593EFE63-8906-9EF6-F3A6-E13F32142C8E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/>
              <a:stretch>
                <a:fillRect/>
              </a:stretch>
            </p:blipFill>
            <p:spPr>
              <a:xfrm>
                <a:off x="1085925" y="1714184"/>
                <a:ext cx="10621857" cy="2419688"/>
              </a:xfrm>
              <a:prstGeom prst="rect">
                <a:avLst/>
              </a:prstGeom>
            </p:spPr>
          </p:pic>
          <p:pic>
            <p:nvPicPr>
              <p:cNvPr id="48" name="Picture 47">
                <a:extLst>
                  <a:ext uri="{FF2B5EF4-FFF2-40B4-BE49-F238E27FC236}">
                    <a16:creationId xmlns:a16="http://schemas.microsoft.com/office/drawing/2014/main" id="{2CF555C6-51BB-8B38-61B2-DC377A70E235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1091132" y="4327377"/>
                <a:ext cx="10602805" cy="2457793"/>
              </a:xfrm>
              <a:prstGeom prst="rect">
                <a:avLst/>
              </a:prstGeom>
            </p:spPr>
          </p:pic>
          <p:pic>
            <p:nvPicPr>
              <p:cNvPr id="50" name="Picture 49">
                <a:extLst>
                  <a:ext uri="{FF2B5EF4-FFF2-40B4-BE49-F238E27FC236}">
                    <a16:creationId xmlns:a16="http://schemas.microsoft.com/office/drawing/2014/main" id="{D4D1C03A-C7EF-6B45-DC2E-ADC0B2152091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/>
              <a:srcRect t="17179" b="40781"/>
              <a:stretch>
                <a:fillRect/>
              </a:stretch>
            </p:blipFill>
            <p:spPr>
              <a:xfrm>
                <a:off x="1083512" y="4133872"/>
                <a:ext cx="10602805" cy="192233"/>
              </a:xfrm>
              <a:prstGeom prst="rect">
                <a:avLst/>
              </a:prstGeom>
            </p:spPr>
          </p:pic>
        </p:grpSp>
      </p:grpSp>
    </p:spTree>
    <p:extLst>
      <p:ext uri="{BB962C8B-B14F-4D97-AF65-F5344CB8AC3E}">
        <p14:creationId xmlns:p14="http://schemas.microsoft.com/office/powerpoint/2010/main" val="209884955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8B984C1-2C19-259A-7567-387B97C8174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2307F9B6-E825-AB07-0D08-67DB70DF01C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pPr algn="ctr"/>
            <a:r>
              <a:rPr lang="en-GB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Montserrat SemiBold" panose="00000700000000000000" pitchFamily="2" charset="0"/>
              </a:rPr>
              <a:t>CLEANSING: UNKNOWNS</a:t>
            </a:r>
          </a:p>
        </p:txBody>
      </p:sp>
      <p:grpSp>
        <p:nvGrpSpPr>
          <p:cNvPr id="10" name="Quadrant Ring">
            <a:extLst>
              <a:ext uri="{FF2B5EF4-FFF2-40B4-BE49-F238E27FC236}">
                <a16:creationId xmlns:a16="http://schemas.microsoft.com/office/drawing/2014/main" id="{B806EC91-981F-04EC-B7E4-E05C0F417C5C}"/>
              </a:ext>
            </a:extLst>
          </p:cNvPr>
          <p:cNvGrpSpPr/>
          <p:nvPr/>
        </p:nvGrpSpPr>
        <p:grpSpPr>
          <a:xfrm>
            <a:off x="3843600" y="2002550"/>
            <a:ext cx="4200000" cy="4200000"/>
            <a:chOff x="0" y="0"/>
            <a:chExt cx="4400000" cy="4400000"/>
          </a:xfrm>
          <a:solidFill>
            <a:srgbClr val="DC2C3E"/>
          </a:solidFill>
        </p:grpSpPr>
        <p:sp>
          <p:nvSpPr>
            <p:cNvPr id="14" name="Ring Segment NE">
              <a:extLst>
                <a:ext uri="{FF2B5EF4-FFF2-40B4-BE49-F238E27FC236}">
                  <a16:creationId xmlns:a16="http://schemas.microsoft.com/office/drawing/2014/main" id="{7BA8BE73-041D-0661-6ECD-D9FED493DC2A}"/>
                </a:ext>
              </a:extLst>
            </p:cNvPr>
            <p:cNvSpPr/>
            <p:nvPr/>
          </p:nvSpPr>
          <p:spPr>
            <a:xfrm>
              <a:off x="0" y="0"/>
              <a:ext cx="4400000" cy="4400000"/>
            </a:xfrm>
            <a:custGeom>
              <a:avLst/>
              <a:gdLst/>
              <a:ahLst/>
              <a:cxnLst/>
              <a:rect l="0" t="0" r="4400000" b="4400000"/>
              <a:pathLst>
                <a:path w="4400000" h="4400000">
                  <a:moveTo>
                    <a:pt x="2330000" y="3844"/>
                  </a:moveTo>
                  <a:lnTo>
                    <a:pt x="2443703" y="13540"/>
                  </a:lnTo>
                  <a:lnTo>
                    <a:pt x="2556751" y="29118"/>
                  </a:lnTo>
                  <a:lnTo>
                    <a:pt x="2668838" y="50537"/>
                  </a:lnTo>
                  <a:lnTo>
                    <a:pt x="2779664" y="77740"/>
                  </a:lnTo>
                  <a:lnTo>
                    <a:pt x="2888931" y="110652"/>
                  </a:lnTo>
                  <a:lnTo>
                    <a:pt x="2996344" y="149186"/>
                  </a:lnTo>
                  <a:lnTo>
                    <a:pt x="3101614" y="193238"/>
                  </a:lnTo>
                  <a:lnTo>
                    <a:pt x="3204459" y="242690"/>
                  </a:lnTo>
                  <a:lnTo>
                    <a:pt x="3304600" y="297408"/>
                  </a:lnTo>
                  <a:lnTo>
                    <a:pt x="3401770" y="357244"/>
                  </a:lnTo>
                  <a:lnTo>
                    <a:pt x="3495707" y="422039"/>
                  </a:lnTo>
                  <a:lnTo>
                    <a:pt x="3586157" y="491618"/>
                  </a:lnTo>
                  <a:lnTo>
                    <a:pt x="3672877" y="565793"/>
                  </a:lnTo>
                  <a:lnTo>
                    <a:pt x="3755635" y="644365"/>
                  </a:lnTo>
                  <a:lnTo>
                    <a:pt x="3834207" y="727123"/>
                  </a:lnTo>
                  <a:lnTo>
                    <a:pt x="3908382" y="813843"/>
                  </a:lnTo>
                  <a:lnTo>
                    <a:pt x="3977961" y="904293"/>
                  </a:lnTo>
                  <a:lnTo>
                    <a:pt x="4042756" y="998230"/>
                  </a:lnTo>
                  <a:lnTo>
                    <a:pt x="4102592" y="1095400"/>
                  </a:lnTo>
                  <a:lnTo>
                    <a:pt x="4157310" y="1195541"/>
                  </a:lnTo>
                  <a:lnTo>
                    <a:pt x="4206762" y="1298386"/>
                  </a:lnTo>
                  <a:lnTo>
                    <a:pt x="4250814" y="1403656"/>
                  </a:lnTo>
                  <a:lnTo>
                    <a:pt x="4289348" y="1511069"/>
                  </a:lnTo>
                  <a:lnTo>
                    <a:pt x="4322260" y="1620336"/>
                  </a:lnTo>
                  <a:lnTo>
                    <a:pt x="4349463" y="1731162"/>
                  </a:lnTo>
                  <a:lnTo>
                    <a:pt x="4370882" y="1843249"/>
                  </a:lnTo>
                  <a:lnTo>
                    <a:pt x="4386460" y="1956297"/>
                  </a:lnTo>
                  <a:lnTo>
                    <a:pt x="4396156" y="2070000"/>
                  </a:lnTo>
                  <a:lnTo>
                    <a:pt x="3522627" y="2070000"/>
                  </a:lnTo>
                  <a:lnTo>
                    <a:pt x="3514652" y="2005240"/>
                  </a:lnTo>
                  <a:lnTo>
                    <a:pt x="3503508" y="1940949"/>
                  </a:lnTo>
                  <a:lnTo>
                    <a:pt x="3489222" y="1877282"/>
                  </a:lnTo>
                  <a:lnTo>
                    <a:pt x="3471829" y="1814394"/>
                  </a:lnTo>
                  <a:lnTo>
                    <a:pt x="3451370" y="1752434"/>
                  </a:lnTo>
                  <a:lnTo>
                    <a:pt x="3427894" y="1691554"/>
                  </a:lnTo>
                  <a:lnTo>
                    <a:pt x="3401459" y="1631900"/>
                  </a:lnTo>
                  <a:lnTo>
                    <a:pt x="3372127" y="1573614"/>
                  </a:lnTo>
                  <a:lnTo>
                    <a:pt x="3339970" y="1516839"/>
                  </a:lnTo>
                  <a:lnTo>
                    <a:pt x="3305065" y="1461710"/>
                  </a:lnTo>
                  <a:lnTo>
                    <a:pt x="3267497" y="1408361"/>
                  </a:lnTo>
                  <a:lnTo>
                    <a:pt x="3227355" y="1356921"/>
                  </a:lnTo>
                  <a:lnTo>
                    <a:pt x="3184737" y="1307512"/>
                  </a:lnTo>
                  <a:lnTo>
                    <a:pt x="3139745" y="1260255"/>
                  </a:lnTo>
                  <a:lnTo>
                    <a:pt x="3092488" y="1215263"/>
                  </a:lnTo>
                  <a:lnTo>
                    <a:pt x="3043079" y="1172645"/>
                  </a:lnTo>
                  <a:lnTo>
                    <a:pt x="2991639" y="1132503"/>
                  </a:lnTo>
                  <a:lnTo>
                    <a:pt x="2938290" y="1094935"/>
                  </a:lnTo>
                  <a:lnTo>
                    <a:pt x="2883161" y="1060030"/>
                  </a:lnTo>
                  <a:lnTo>
                    <a:pt x="2826386" y="1027873"/>
                  </a:lnTo>
                  <a:lnTo>
                    <a:pt x="2768100" y="998541"/>
                  </a:lnTo>
                  <a:lnTo>
                    <a:pt x="2708446" y="972106"/>
                  </a:lnTo>
                  <a:lnTo>
                    <a:pt x="2647566" y="948630"/>
                  </a:lnTo>
                  <a:lnTo>
                    <a:pt x="2585606" y="928171"/>
                  </a:lnTo>
                  <a:lnTo>
                    <a:pt x="2522718" y="910778"/>
                  </a:lnTo>
                  <a:lnTo>
                    <a:pt x="2459051" y="896492"/>
                  </a:lnTo>
                  <a:lnTo>
                    <a:pt x="2394760" y="885348"/>
                  </a:lnTo>
                  <a:lnTo>
                    <a:pt x="2330000" y="877373"/>
                  </a:lnTo>
                  <a:lnTo>
                    <a:pt x="2330000" y="3844"/>
                  </a:lnTo>
                  <a:close/>
                </a:path>
              </a:pathLst>
            </a:custGeom>
            <a:solidFill>
              <a:schemeClr val="bg1"/>
            </a:solidFill>
            <a:ln w="38100">
              <a:solidFill>
                <a:srgbClr val="DC2C3E"/>
              </a:solidFill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11" name="Ring Segment SE">
              <a:extLst>
                <a:ext uri="{FF2B5EF4-FFF2-40B4-BE49-F238E27FC236}">
                  <a16:creationId xmlns:a16="http://schemas.microsoft.com/office/drawing/2014/main" id="{CE3FF253-DE33-2D0C-EB1C-EA9785568AE1}"/>
                </a:ext>
              </a:extLst>
            </p:cNvPr>
            <p:cNvSpPr/>
            <p:nvPr/>
          </p:nvSpPr>
          <p:spPr>
            <a:xfrm>
              <a:off x="0" y="0"/>
              <a:ext cx="4400000" cy="4400000"/>
            </a:xfrm>
            <a:custGeom>
              <a:avLst/>
              <a:gdLst/>
              <a:ahLst/>
              <a:cxnLst/>
              <a:rect l="0" t="0" r="4400000" b="4400000"/>
              <a:pathLst>
                <a:path w="4400000" h="4400000">
                  <a:moveTo>
                    <a:pt x="2330000" y="4396156"/>
                  </a:moveTo>
                  <a:lnTo>
                    <a:pt x="2443703" y="4386460"/>
                  </a:lnTo>
                  <a:lnTo>
                    <a:pt x="2556751" y="4370882"/>
                  </a:lnTo>
                  <a:lnTo>
                    <a:pt x="2668838" y="4349463"/>
                  </a:lnTo>
                  <a:lnTo>
                    <a:pt x="2779664" y="4322260"/>
                  </a:lnTo>
                  <a:lnTo>
                    <a:pt x="2888931" y="4289348"/>
                  </a:lnTo>
                  <a:lnTo>
                    <a:pt x="2996344" y="4250814"/>
                  </a:lnTo>
                  <a:lnTo>
                    <a:pt x="3101614" y="4206762"/>
                  </a:lnTo>
                  <a:lnTo>
                    <a:pt x="3204459" y="4157310"/>
                  </a:lnTo>
                  <a:lnTo>
                    <a:pt x="3304600" y="4102592"/>
                  </a:lnTo>
                  <a:lnTo>
                    <a:pt x="3401770" y="4042756"/>
                  </a:lnTo>
                  <a:lnTo>
                    <a:pt x="3495707" y="3977961"/>
                  </a:lnTo>
                  <a:lnTo>
                    <a:pt x="3586157" y="3908382"/>
                  </a:lnTo>
                  <a:lnTo>
                    <a:pt x="3672877" y="3834207"/>
                  </a:lnTo>
                  <a:lnTo>
                    <a:pt x="3755635" y="3755635"/>
                  </a:lnTo>
                  <a:lnTo>
                    <a:pt x="3834207" y="3672877"/>
                  </a:lnTo>
                  <a:lnTo>
                    <a:pt x="3908382" y="3586157"/>
                  </a:lnTo>
                  <a:lnTo>
                    <a:pt x="3977961" y="3495707"/>
                  </a:lnTo>
                  <a:lnTo>
                    <a:pt x="4042756" y="3401770"/>
                  </a:lnTo>
                  <a:lnTo>
                    <a:pt x="4102592" y="3304600"/>
                  </a:lnTo>
                  <a:lnTo>
                    <a:pt x="4157310" y="3204459"/>
                  </a:lnTo>
                  <a:lnTo>
                    <a:pt x="4206762" y="3101614"/>
                  </a:lnTo>
                  <a:lnTo>
                    <a:pt x="4250814" y="2996344"/>
                  </a:lnTo>
                  <a:lnTo>
                    <a:pt x="4289348" y="2888931"/>
                  </a:lnTo>
                  <a:lnTo>
                    <a:pt x="4322260" y="2779664"/>
                  </a:lnTo>
                  <a:lnTo>
                    <a:pt x="4349463" y="2668838"/>
                  </a:lnTo>
                  <a:lnTo>
                    <a:pt x="4370882" y="2556751"/>
                  </a:lnTo>
                  <a:lnTo>
                    <a:pt x="4386460" y="2443703"/>
                  </a:lnTo>
                  <a:lnTo>
                    <a:pt x="4396156" y="2330000"/>
                  </a:lnTo>
                  <a:lnTo>
                    <a:pt x="3522627" y="2330000"/>
                  </a:lnTo>
                  <a:lnTo>
                    <a:pt x="3514652" y="2394760"/>
                  </a:lnTo>
                  <a:lnTo>
                    <a:pt x="3503508" y="2459051"/>
                  </a:lnTo>
                  <a:lnTo>
                    <a:pt x="3489222" y="2522718"/>
                  </a:lnTo>
                  <a:lnTo>
                    <a:pt x="3471829" y="2585606"/>
                  </a:lnTo>
                  <a:lnTo>
                    <a:pt x="3451370" y="2647566"/>
                  </a:lnTo>
                  <a:lnTo>
                    <a:pt x="3427894" y="2708446"/>
                  </a:lnTo>
                  <a:lnTo>
                    <a:pt x="3401459" y="2768100"/>
                  </a:lnTo>
                  <a:lnTo>
                    <a:pt x="3372127" y="2826386"/>
                  </a:lnTo>
                  <a:lnTo>
                    <a:pt x="3339970" y="2883161"/>
                  </a:lnTo>
                  <a:lnTo>
                    <a:pt x="3305065" y="2938290"/>
                  </a:lnTo>
                  <a:lnTo>
                    <a:pt x="3267497" y="2991639"/>
                  </a:lnTo>
                  <a:lnTo>
                    <a:pt x="3227355" y="3043079"/>
                  </a:lnTo>
                  <a:lnTo>
                    <a:pt x="3184737" y="3092488"/>
                  </a:lnTo>
                  <a:lnTo>
                    <a:pt x="3139745" y="3139745"/>
                  </a:lnTo>
                  <a:lnTo>
                    <a:pt x="3092488" y="3184737"/>
                  </a:lnTo>
                  <a:lnTo>
                    <a:pt x="3043079" y="3227355"/>
                  </a:lnTo>
                  <a:lnTo>
                    <a:pt x="2991639" y="3267497"/>
                  </a:lnTo>
                  <a:lnTo>
                    <a:pt x="2938290" y="3305065"/>
                  </a:lnTo>
                  <a:lnTo>
                    <a:pt x="2883161" y="3339970"/>
                  </a:lnTo>
                  <a:lnTo>
                    <a:pt x="2826386" y="3372127"/>
                  </a:lnTo>
                  <a:lnTo>
                    <a:pt x="2768100" y="3401459"/>
                  </a:lnTo>
                  <a:lnTo>
                    <a:pt x="2708446" y="3427894"/>
                  </a:lnTo>
                  <a:lnTo>
                    <a:pt x="2647566" y="3451370"/>
                  </a:lnTo>
                  <a:lnTo>
                    <a:pt x="2585606" y="3471829"/>
                  </a:lnTo>
                  <a:lnTo>
                    <a:pt x="2522718" y="3489222"/>
                  </a:lnTo>
                  <a:lnTo>
                    <a:pt x="2459051" y="3503508"/>
                  </a:lnTo>
                  <a:lnTo>
                    <a:pt x="2394760" y="3514652"/>
                  </a:lnTo>
                  <a:lnTo>
                    <a:pt x="2330000" y="3522627"/>
                  </a:lnTo>
                  <a:lnTo>
                    <a:pt x="2330000" y="4396156"/>
                  </a:lnTo>
                  <a:close/>
                </a:path>
              </a:pathLst>
            </a:custGeom>
            <a:grpFill/>
            <a:ln w="38100">
              <a:solidFill>
                <a:srgbClr val="DC2C3E"/>
              </a:solidFill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12" name="Ring Segment SW">
              <a:extLst>
                <a:ext uri="{FF2B5EF4-FFF2-40B4-BE49-F238E27FC236}">
                  <a16:creationId xmlns:a16="http://schemas.microsoft.com/office/drawing/2014/main" id="{9F45368B-7B08-C63A-9AFC-B36DDD3D560E}"/>
                </a:ext>
              </a:extLst>
            </p:cNvPr>
            <p:cNvSpPr/>
            <p:nvPr/>
          </p:nvSpPr>
          <p:spPr>
            <a:xfrm>
              <a:off x="0" y="0"/>
              <a:ext cx="4400000" cy="4400000"/>
            </a:xfrm>
            <a:custGeom>
              <a:avLst/>
              <a:gdLst/>
              <a:ahLst/>
              <a:cxnLst/>
              <a:rect l="0" t="0" r="4400000" b="4400000"/>
              <a:pathLst>
                <a:path w="4400000" h="4400000">
                  <a:moveTo>
                    <a:pt x="2070000" y="4396156"/>
                  </a:moveTo>
                  <a:lnTo>
                    <a:pt x="1956297" y="4386460"/>
                  </a:lnTo>
                  <a:lnTo>
                    <a:pt x="1843249" y="4370882"/>
                  </a:lnTo>
                  <a:lnTo>
                    <a:pt x="1731162" y="4349463"/>
                  </a:lnTo>
                  <a:lnTo>
                    <a:pt x="1620336" y="4322260"/>
                  </a:lnTo>
                  <a:lnTo>
                    <a:pt x="1511069" y="4289348"/>
                  </a:lnTo>
                  <a:lnTo>
                    <a:pt x="1403656" y="4250814"/>
                  </a:lnTo>
                  <a:lnTo>
                    <a:pt x="1298386" y="4206762"/>
                  </a:lnTo>
                  <a:lnTo>
                    <a:pt x="1195541" y="4157310"/>
                  </a:lnTo>
                  <a:lnTo>
                    <a:pt x="1095400" y="4102592"/>
                  </a:lnTo>
                  <a:lnTo>
                    <a:pt x="998230" y="4042756"/>
                  </a:lnTo>
                  <a:lnTo>
                    <a:pt x="904293" y="3977961"/>
                  </a:lnTo>
                  <a:lnTo>
                    <a:pt x="813843" y="3908382"/>
                  </a:lnTo>
                  <a:lnTo>
                    <a:pt x="727123" y="3834207"/>
                  </a:lnTo>
                  <a:lnTo>
                    <a:pt x="644365" y="3755635"/>
                  </a:lnTo>
                  <a:lnTo>
                    <a:pt x="565793" y="3672877"/>
                  </a:lnTo>
                  <a:lnTo>
                    <a:pt x="491618" y="3586157"/>
                  </a:lnTo>
                  <a:lnTo>
                    <a:pt x="422039" y="3495707"/>
                  </a:lnTo>
                  <a:lnTo>
                    <a:pt x="357244" y="3401770"/>
                  </a:lnTo>
                  <a:lnTo>
                    <a:pt x="297408" y="3304600"/>
                  </a:lnTo>
                  <a:lnTo>
                    <a:pt x="242690" y="3204459"/>
                  </a:lnTo>
                  <a:lnTo>
                    <a:pt x="193238" y="3101614"/>
                  </a:lnTo>
                  <a:lnTo>
                    <a:pt x="149186" y="2996344"/>
                  </a:lnTo>
                  <a:lnTo>
                    <a:pt x="110652" y="2888931"/>
                  </a:lnTo>
                  <a:lnTo>
                    <a:pt x="77740" y="2779664"/>
                  </a:lnTo>
                  <a:lnTo>
                    <a:pt x="50537" y="2668838"/>
                  </a:lnTo>
                  <a:lnTo>
                    <a:pt x="29118" y="2556751"/>
                  </a:lnTo>
                  <a:lnTo>
                    <a:pt x="13540" y="2443703"/>
                  </a:lnTo>
                  <a:lnTo>
                    <a:pt x="3844" y="2330000"/>
                  </a:lnTo>
                  <a:lnTo>
                    <a:pt x="877373" y="2330000"/>
                  </a:lnTo>
                  <a:lnTo>
                    <a:pt x="885348" y="2394760"/>
                  </a:lnTo>
                  <a:lnTo>
                    <a:pt x="896492" y="2459051"/>
                  </a:lnTo>
                  <a:lnTo>
                    <a:pt x="910778" y="2522718"/>
                  </a:lnTo>
                  <a:lnTo>
                    <a:pt x="928171" y="2585606"/>
                  </a:lnTo>
                  <a:lnTo>
                    <a:pt x="948630" y="2647566"/>
                  </a:lnTo>
                  <a:lnTo>
                    <a:pt x="972106" y="2708446"/>
                  </a:lnTo>
                  <a:lnTo>
                    <a:pt x="998541" y="2768100"/>
                  </a:lnTo>
                  <a:lnTo>
                    <a:pt x="1027873" y="2826386"/>
                  </a:lnTo>
                  <a:lnTo>
                    <a:pt x="1060030" y="2883161"/>
                  </a:lnTo>
                  <a:lnTo>
                    <a:pt x="1094935" y="2938290"/>
                  </a:lnTo>
                  <a:lnTo>
                    <a:pt x="1132503" y="2991639"/>
                  </a:lnTo>
                  <a:lnTo>
                    <a:pt x="1172645" y="3043079"/>
                  </a:lnTo>
                  <a:lnTo>
                    <a:pt x="1215263" y="3092488"/>
                  </a:lnTo>
                  <a:lnTo>
                    <a:pt x="1260255" y="3139745"/>
                  </a:lnTo>
                  <a:lnTo>
                    <a:pt x="1307512" y="3184737"/>
                  </a:lnTo>
                  <a:lnTo>
                    <a:pt x="1356921" y="3227355"/>
                  </a:lnTo>
                  <a:lnTo>
                    <a:pt x="1408361" y="3267497"/>
                  </a:lnTo>
                  <a:lnTo>
                    <a:pt x="1461710" y="3305065"/>
                  </a:lnTo>
                  <a:lnTo>
                    <a:pt x="1516839" y="3339970"/>
                  </a:lnTo>
                  <a:lnTo>
                    <a:pt x="1573614" y="3372127"/>
                  </a:lnTo>
                  <a:lnTo>
                    <a:pt x="1631900" y="3401459"/>
                  </a:lnTo>
                  <a:lnTo>
                    <a:pt x="1691554" y="3427894"/>
                  </a:lnTo>
                  <a:lnTo>
                    <a:pt x="1752434" y="3451370"/>
                  </a:lnTo>
                  <a:lnTo>
                    <a:pt x="1814394" y="3471829"/>
                  </a:lnTo>
                  <a:lnTo>
                    <a:pt x="1877282" y="3489222"/>
                  </a:lnTo>
                  <a:lnTo>
                    <a:pt x="1940949" y="3503508"/>
                  </a:lnTo>
                  <a:lnTo>
                    <a:pt x="2005240" y="3514652"/>
                  </a:lnTo>
                  <a:lnTo>
                    <a:pt x="2070000" y="3522627"/>
                  </a:lnTo>
                  <a:lnTo>
                    <a:pt x="2070000" y="4396156"/>
                  </a:lnTo>
                  <a:close/>
                </a:path>
              </a:pathLst>
            </a:custGeom>
            <a:solidFill>
              <a:schemeClr val="bg1"/>
            </a:solidFill>
            <a:ln w="38100">
              <a:solidFill>
                <a:srgbClr val="DC2C3E"/>
              </a:solidFill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13" name="Ring Segment NW">
              <a:extLst>
                <a:ext uri="{FF2B5EF4-FFF2-40B4-BE49-F238E27FC236}">
                  <a16:creationId xmlns:a16="http://schemas.microsoft.com/office/drawing/2014/main" id="{49AB3989-B8AA-322C-9641-EC449BE39790}"/>
                </a:ext>
              </a:extLst>
            </p:cNvPr>
            <p:cNvSpPr/>
            <p:nvPr/>
          </p:nvSpPr>
          <p:spPr>
            <a:xfrm>
              <a:off x="0" y="0"/>
              <a:ext cx="4400000" cy="4400000"/>
            </a:xfrm>
            <a:custGeom>
              <a:avLst/>
              <a:gdLst/>
              <a:ahLst/>
              <a:cxnLst/>
              <a:rect l="0" t="0" r="4400000" b="4400000"/>
              <a:pathLst>
                <a:path w="4400000" h="4400000">
                  <a:moveTo>
                    <a:pt x="2070000" y="3844"/>
                  </a:moveTo>
                  <a:lnTo>
                    <a:pt x="1956297" y="13540"/>
                  </a:lnTo>
                  <a:lnTo>
                    <a:pt x="1843249" y="29118"/>
                  </a:lnTo>
                  <a:lnTo>
                    <a:pt x="1731162" y="50537"/>
                  </a:lnTo>
                  <a:lnTo>
                    <a:pt x="1620336" y="77740"/>
                  </a:lnTo>
                  <a:lnTo>
                    <a:pt x="1511069" y="110652"/>
                  </a:lnTo>
                  <a:lnTo>
                    <a:pt x="1403656" y="149186"/>
                  </a:lnTo>
                  <a:lnTo>
                    <a:pt x="1298386" y="193238"/>
                  </a:lnTo>
                  <a:lnTo>
                    <a:pt x="1195541" y="242690"/>
                  </a:lnTo>
                  <a:lnTo>
                    <a:pt x="1095400" y="297408"/>
                  </a:lnTo>
                  <a:lnTo>
                    <a:pt x="998230" y="357244"/>
                  </a:lnTo>
                  <a:lnTo>
                    <a:pt x="904293" y="422039"/>
                  </a:lnTo>
                  <a:lnTo>
                    <a:pt x="813843" y="491618"/>
                  </a:lnTo>
                  <a:lnTo>
                    <a:pt x="727123" y="565793"/>
                  </a:lnTo>
                  <a:lnTo>
                    <a:pt x="644365" y="644365"/>
                  </a:lnTo>
                  <a:lnTo>
                    <a:pt x="565793" y="727123"/>
                  </a:lnTo>
                  <a:lnTo>
                    <a:pt x="491618" y="813843"/>
                  </a:lnTo>
                  <a:lnTo>
                    <a:pt x="422039" y="904293"/>
                  </a:lnTo>
                  <a:lnTo>
                    <a:pt x="357244" y="998230"/>
                  </a:lnTo>
                  <a:lnTo>
                    <a:pt x="297408" y="1095400"/>
                  </a:lnTo>
                  <a:lnTo>
                    <a:pt x="242690" y="1195541"/>
                  </a:lnTo>
                  <a:lnTo>
                    <a:pt x="193238" y="1298386"/>
                  </a:lnTo>
                  <a:lnTo>
                    <a:pt x="149186" y="1403656"/>
                  </a:lnTo>
                  <a:lnTo>
                    <a:pt x="110652" y="1511069"/>
                  </a:lnTo>
                  <a:lnTo>
                    <a:pt x="77740" y="1620336"/>
                  </a:lnTo>
                  <a:lnTo>
                    <a:pt x="50537" y="1731162"/>
                  </a:lnTo>
                  <a:lnTo>
                    <a:pt x="29118" y="1843249"/>
                  </a:lnTo>
                  <a:lnTo>
                    <a:pt x="13540" y="1956297"/>
                  </a:lnTo>
                  <a:lnTo>
                    <a:pt x="3844" y="2070000"/>
                  </a:lnTo>
                  <a:lnTo>
                    <a:pt x="877373" y="2070000"/>
                  </a:lnTo>
                  <a:lnTo>
                    <a:pt x="885348" y="2005240"/>
                  </a:lnTo>
                  <a:lnTo>
                    <a:pt x="896492" y="1940949"/>
                  </a:lnTo>
                  <a:lnTo>
                    <a:pt x="910778" y="1877282"/>
                  </a:lnTo>
                  <a:lnTo>
                    <a:pt x="928171" y="1814394"/>
                  </a:lnTo>
                  <a:lnTo>
                    <a:pt x="948630" y="1752434"/>
                  </a:lnTo>
                  <a:lnTo>
                    <a:pt x="972106" y="1691554"/>
                  </a:lnTo>
                  <a:lnTo>
                    <a:pt x="998541" y="1631900"/>
                  </a:lnTo>
                  <a:lnTo>
                    <a:pt x="1027873" y="1573614"/>
                  </a:lnTo>
                  <a:lnTo>
                    <a:pt x="1060030" y="1516839"/>
                  </a:lnTo>
                  <a:lnTo>
                    <a:pt x="1094935" y="1461710"/>
                  </a:lnTo>
                  <a:lnTo>
                    <a:pt x="1132503" y="1408361"/>
                  </a:lnTo>
                  <a:lnTo>
                    <a:pt x="1172645" y="1356921"/>
                  </a:lnTo>
                  <a:lnTo>
                    <a:pt x="1215263" y="1307512"/>
                  </a:lnTo>
                  <a:lnTo>
                    <a:pt x="1260255" y="1260255"/>
                  </a:lnTo>
                  <a:lnTo>
                    <a:pt x="1307512" y="1215263"/>
                  </a:lnTo>
                  <a:lnTo>
                    <a:pt x="1356921" y="1172645"/>
                  </a:lnTo>
                  <a:lnTo>
                    <a:pt x="1408361" y="1132503"/>
                  </a:lnTo>
                  <a:lnTo>
                    <a:pt x="1461710" y="1094935"/>
                  </a:lnTo>
                  <a:lnTo>
                    <a:pt x="1516839" y="1060030"/>
                  </a:lnTo>
                  <a:lnTo>
                    <a:pt x="1573614" y="1027873"/>
                  </a:lnTo>
                  <a:lnTo>
                    <a:pt x="1631900" y="998541"/>
                  </a:lnTo>
                  <a:lnTo>
                    <a:pt x="1691554" y="972106"/>
                  </a:lnTo>
                  <a:lnTo>
                    <a:pt x="1752434" y="948630"/>
                  </a:lnTo>
                  <a:lnTo>
                    <a:pt x="1814394" y="928171"/>
                  </a:lnTo>
                  <a:lnTo>
                    <a:pt x="1877282" y="910778"/>
                  </a:lnTo>
                  <a:lnTo>
                    <a:pt x="1940949" y="896492"/>
                  </a:lnTo>
                  <a:lnTo>
                    <a:pt x="2005240" y="885348"/>
                  </a:lnTo>
                  <a:lnTo>
                    <a:pt x="2070000" y="877373"/>
                  </a:lnTo>
                  <a:lnTo>
                    <a:pt x="2070000" y="3844"/>
                  </a:lnTo>
                  <a:close/>
                </a:path>
              </a:pathLst>
            </a:custGeom>
            <a:grpFill/>
            <a:ln w="38100">
              <a:solidFill>
                <a:srgbClr val="DC2C3E"/>
              </a:solidFill>
            </a:ln>
          </p:spPr>
          <p:txBody>
            <a:bodyPr rtlCol="0" anchor="ctr"/>
            <a:lstStyle/>
            <a:p>
              <a:endParaRPr lang="en-GB"/>
            </a:p>
          </p:txBody>
        </p:sp>
      </p:grpSp>
      <p:pic>
        <p:nvPicPr>
          <p:cNvPr id="25" name="Picture 24">
            <a:extLst>
              <a:ext uri="{FF2B5EF4-FFF2-40B4-BE49-F238E27FC236}">
                <a16:creationId xmlns:a16="http://schemas.microsoft.com/office/drawing/2014/main" id="{ABF9B4D9-2FA9-8CE6-7AF5-FAB7AFC841C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29795" y="4952167"/>
            <a:ext cx="622222" cy="622222"/>
          </a:xfrm>
          <a:prstGeom prst="rect">
            <a:avLst/>
          </a:prstGeom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id="{6D4062DD-72BD-7EE3-E271-191DB8DCD66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46544" y="4980494"/>
            <a:ext cx="622222" cy="622222"/>
          </a:xfrm>
          <a:prstGeom prst="rect">
            <a:avLst/>
          </a:prstGeom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</p:pic>
      <p:pic>
        <p:nvPicPr>
          <p:cNvPr id="29" name="Picture 28">
            <a:extLst>
              <a:ext uri="{FF2B5EF4-FFF2-40B4-BE49-F238E27FC236}">
                <a16:creationId xmlns:a16="http://schemas.microsoft.com/office/drawing/2014/main" id="{06816D31-0F78-ED87-1875-D750630F87A1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51647" y="2635597"/>
            <a:ext cx="560000" cy="560000"/>
          </a:xfrm>
          <a:prstGeom prst="rect">
            <a:avLst/>
          </a:prstGeom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</p:pic>
      <p:pic>
        <p:nvPicPr>
          <p:cNvPr id="36" name="Picture 35">
            <a:extLst>
              <a:ext uri="{FF2B5EF4-FFF2-40B4-BE49-F238E27FC236}">
                <a16:creationId xmlns:a16="http://schemas.microsoft.com/office/drawing/2014/main" id="{58214751-EC54-670F-49A7-C818912B1633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06441" y="2565391"/>
            <a:ext cx="699317" cy="699317"/>
          </a:xfrm>
          <a:prstGeom prst="rect">
            <a:avLst/>
          </a:prstGeom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</p:pic>
      <p:grpSp>
        <p:nvGrpSpPr>
          <p:cNvPr id="6" name="Group 5">
            <a:extLst>
              <a:ext uri="{FF2B5EF4-FFF2-40B4-BE49-F238E27FC236}">
                <a16:creationId xmlns:a16="http://schemas.microsoft.com/office/drawing/2014/main" id="{9B2DADE1-86EF-98E0-2D54-D7863B0EDDB2}"/>
              </a:ext>
            </a:extLst>
          </p:cNvPr>
          <p:cNvGrpSpPr/>
          <p:nvPr/>
        </p:nvGrpSpPr>
        <p:grpSpPr>
          <a:xfrm>
            <a:off x="276028" y="1779876"/>
            <a:ext cx="3806910" cy="1906299"/>
            <a:chOff x="428428" y="2122776"/>
            <a:chExt cx="3806910" cy="1906299"/>
          </a:xfrm>
        </p:grpSpPr>
        <p:sp>
          <p:nvSpPr>
            <p:cNvPr id="2" name="Contents Heading">
              <a:extLst>
                <a:ext uri="{FF2B5EF4-FFF2-40B4-BE49-F238E27FC236}">
                  <a16:creationId xmlns:a16="http://schemas.microsoft.com/office/drawing/2014/main" id="{5BA1F1C8-3C56-A8EA-764F-3D73B06D0FE2}"/>
                </a:ext>
              </a:extLst>
            </p:cNvPr>
            <p:cNvSpPr txBox="1"/>
            <p:nvPr/>
          </p:nvSpPr>
          <p:spPr>
            <a:xfrm>
              <a:off x="428428" y="2245631"/>
              <a:ext cx="3040394" cy="461665"/>
            </a:xfrm>
            <a:prstGeom prst="rect">
              <a:avLst/>
            </a:prstGeom>
            <a:noFill/>
          </p:spPr>
          <p:txBody>
            <a:bodyPr wrap="square" rtlCol="0" anchor="ctr">
              <a:noAutofit/>
            </a:bodyPr>
            <a:lstStyle/>
            <a:p>
              <a:r>
                <a:rPr lang="en-GB" sz="4800" dirty="0">
                  <a:solidFill>
                    <a:srgbClr val="DC2C3E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Montserrat SemiBold" panose="00000700000000000000" pitchFamily="2" charset="0"/>
                </a:rPr>
                <a:t>01</a:t>
              </a:r>
            </a:p>
          </p:txBody>
        </p:sp>
        <p:sp>
          <p:nvSpPr>
            <p:cNvPr id="3" name="Contents Heading">
              <a:extLst>
                <a:ext uri="{FF2B5EF4-FFF2-40B4-BE49-F238E27FC236}">
                  <a16:creationId xmlns:a16="http://schemas.microsoft.com/office/drawing/2014/main" id="{3D1B313B-7B30-37ED-729F-71EED88CBE15}"/>
                </a:ext>
              </a:extLst>
            </p:cNvPr>
            <p:cNvSpPr txBox="1"/>
            <p:nvPr/>
          </p:nvSpPr>
          <p:spPr>
            <a:xfrm>
              <a:off x="1194944" y="2122776"/>
              <a:ext cx="3040394" cy="461665"/>
            </a:xfrm>
            <a:prstGeom prst="rect">
              <a:avLst/>
            </a:prstGeom>
            <a:noFill/>
          </p:spPr>
          <p:txBody>
            <a:bodyPr wrap="square" rtlCol="0" anchor="ctr">
              <a:noAutofit/>
            </a:bodyPr>
            <a:lstStyle/>
            <a:p>
              <a:r>
                <a:rPr lang="en-GB" sz="1600" dirty="0">
                  <a:solidFill>
                    <a:srgbClr val="DC2C3E"/>
                  </a:solidFill>
                  <a:latin typeface="Montserrat" panose="00000500000000000000" pitchFamily="2" charset="0"/>
                </a:rPr>
                <a:t>Missing</a:t>
              </a:r>
            </a:p>
          </p:txBody>
        </p:sp>
        <p:sp>
          <p:nvSpPr>
            <p:cNvPr id="5" name="Checklist">
              <a:extLst>
                <a:ext uri="{FF2B5EF4-FFF2-40B4-BE49-F238E27FC236}">
                  <a16:creationId xmlns:a16="http://schemas.microsoft.com/office/drawing/2014/main" id="{9A30BE49-9071-8F27-95B7-5511E8915CF0}"/>
                </a:ext>
              </a:extLst>
            </p:cNvPr>
            <p:cNvSpPr txBox="1"/>
            <p:nvPr/>
          </p:nvSpPr>
          <p:spPr>
            <a:xfrm>
              <a:off x="1194944" y="2505039"/>
              <a:ext cx="2538856" cy="1524036"/>
            </a:xfrm>
            <a:prstGeom prst="rect">
              <a:avLst/>
            </a:prstGeom>
            <a:noFill/>
          </p:spPr>
          <p:txBody>
            <a:bodyPr wrap="square" rtlCol="0">
              <a:noAutofit/>
            </a:bodyPr>
            <a:lstStyle/>
            <a:p>
              <a:pPr>
                <a:spcAft>
                  <a:spcPts val="500"/>
                </a:spcAft>
              </a:pPr>
              <a:r>
                <a:rPr lang="en-GB" sz="1100" dirty="0">
                  <a:solidFill>
                    <a:srgbClr val="1A1A1A"/>
                  </a:solidFill>
                  <a:latin typeface="Montserrat" panose="00000500000000000000" pitchFamily="2" charset="0"/>
                </a:rPr>
                <a:t>Values that were left blank or assigned NULL to symbolise an </a:t>
              </a:r>
              <a:r>
                <a:rPr lang="en-GB" sz="1100" b="1" dirty="0">
                  <a:solidFill>
                    <a:srgbClr val="4D6C75"/>
                  </a:solidFill>
                  <a:latin typeface="Montserrat" panose="00000500000000000000" pitchFamily="2" charset="0"/>
                </a:rPr>
                <a:t>absent value </a:t>
              </a:r>
              <a:r>
                <a:rPr lang="en-GB" sz="1100" dirty="0">
                  <a:solidFill>
                    <a:srgbClr val="1A1A1A"/>
                  </a:solidFill>
                  <a:latin typeface="Montserrat" panose="00000500000000000000" pitchFamily="2" charset="0"/>
                </a:rPr>
                <a:t>within the column.</a:t>
              </a:r>
            </a:p>
            <a:p>
              <a:pPr>
                <a:spcAft>
                  <a:spcPts val="500"/>
                </a:spcAft>
              </a:pPr>
              <a:r>
                <a:rPr lang="en-GB" sz="1100" dirty="0">
                  <a:solidFill>
                    <a:srgbClr val="1A1A1A"/>
                  </a:solidFill>
                  <a:latin typeface="Montserrat" panose="00000500000000000000" pitchFamily="2" charset="0"/>
                </a:rPr>
                <a:t>Missing values were </a:t>
              </a:r>
              <a:r>
                <a:rPr lang="en-GB" sz="1100" b="1" dirty="0">
                  <a:solidFill>
                    <a:srgbClr val="4D6C75"/>
                  </a:solidFill>
                  <a:latin typeface="Montserrat" panose="00000500000000000000" pitchFamily="2" charset="0"/>
                </a:rPr>
                <a:t>retained as NULL</a:t>
              </a:r>
              <a:r>
                <a:rPr lang="en-GB" sz="1100" dirty="0">
                  <a:solidFill>
                    <a:srgbClr val="1A1A1A"/>
                  </a:solidFill>
                  <a:latin typeface="Montserrat" panose="00000500000000000000" pitchFamily="2" charset="0"/>
                </a:rPr>
                <a:t> to maintain data integrity and prevent any calculation bias.</a:t>
              </a:r>
            </a:p>
          </p:txBody>
        </p:sp>
      </p:grpSp>
      <p:grpSp>
        <p:nvGrpSpPr>
          <p:cNvPr id="7" name="Group 6">
            <a:extLst>
              <a:ext uri="{FF2B5EF4-FFF2-40B4-BE49-F238E27FC236}">
                <a16:creationId xmlns:a16="http://schemas.microsoft.com/office/drawing/2014/main" id="{8C15E6B6-8948-2B02-8D9A-698297F5837D}"/>
              </a:ext>
            </a:extLst>
          </p:cNvPr>
          <p:cNvGrpSpPr/>
          <p:nvPr/>
        </p:nvGrpSpPr>
        <p:grpSpPr>
          <a:xfrm>
            <a:off x="123628" y="4168785"/>
            <a:ext cx="3959310" cy="1906299"/>
            <a:chOff x="276028" y="2122776"/>
            <a:chExt cx="3959310" cy="1906299"/>
          </a:xfrm>
        </p:grpSpPr>
        <p:sp>
          <p:nvSpPr>
            <p:cNvPr id="8" name="Contents Heading">
              <a:extLst>
                <a:ext uri="{FF2B5EF4-FFF2-40B4-BE49-F238E27FC236}">
                  <a16:creationId xmlns:a16="http://schemas.microsoft.com/office/drawing/2014/main" id="{8B094B13-F981-64C6-3ACB-AE67F8CE8DC0}"/>
                </a:ext>
              </a:extLst>
            </p:cNvPr>
            <p:cNvSpPr txBox="1"/>
            <p:nvPr/>
          </p:nvSpPr>
          <p:spPr>
            <a:xfrm>
              <a:off x="276028" y="2245631"/>
              <a:ext cx="3040394" cy="461665"/>
            </a:xfrm>
            <a:prstGeom prst="rect">
              <a:avLst/>
            </a:prstGeom>
            <a:noFill/>
          </p:spPr>
          <p:txBody>
            <a:bodyPr wrap="square" rtlCol="0" anchor="ctr">
              <a:noAutofit/>
            </a:bodyPr>
            <a:lstStyle/>
            <a:p>
              <a:r>
                <a:rPr lang="en-GB" sz="4800" dirty="0">
                  <a:solidFill>
                    <a:srgbClr val="DC2C3E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Montserrat SemiBold" panose="00000700000000000000" pitchFamily="2" charset="0"/>
                </a:rPr>
                <a:t>02</a:t>
              </a:r>
            </a:p>
          </p:txBody>
        </p:sp>
        <p:sp>
          <p:nvSpPr>
            <p:cNvPr id="9" name="Contents Heading">
              <a:extLst>
                <a:ext uri="{FF2B5EF4-FFF2-40B4-BE49-F238E27FC236}">
                  <a16:creationId xmlns:a16="http://schemas.microsoft.com/office/drawing/2014/main" id="{579228C5-B6FC-4C2B-934D-59C8C4EB2D0C}"/>
                </a:ext>
              </a:extLst>
            </p:cNvPr>
            <p:cNvSpPr txBox="1"/>
            <p:nvPr/>
          </p:nvSpPr>
          <p:spPr>
            <a:xfrm>
              <a:off x="1194944" y="2122776"/>
              <a:ext cx="3040394" cy="461665"/>
            </a:xfrm>
            <a:prstGeom prst="rect">
              <a:avLst/>
            </a:prstGeom>
            <a:noFill/>
          </p:spPr>
          <p:txBody>
            <a:bodyPr wrap="square" rtlCol="0" anchor="ctr">
              <a:noAutofit/>
            </a:bodyPr>
            <a:lstStyle/>
            <a:p>
              <a:r>
                <a:rPr lang="en-GB" sz="1600" dirty="0">
                  <a:solidFill>
                    <a:srgbClr val="DC2C3E"/>
                  </a:solidFill>
                  <a:latin typeface="Montserrat" panose="00000500000000000000" pitchFamily="2" charset="0"/>
                </a:rPr>
                <a:t>Placeholder</a:t>
              </a:r>
            </a:p>
          </p:txBody>
        </p:sp>
        <p:sp>
          <p:nvSpPr>
            <p:cNvPr id="15" name="Checklist">
              <a:extLst>
                <a:ext uri="{FF2B5EF4-FFF2-40B4-BE49-F238E27FC236}">
                  <a16:creationId xmlns:a16="http://schemas.microsoft.com/office/drawing/2014/main" id="{3F3FF271-7A89-361B-D75F-264CE5FCC300}"/>
                </a:ext>
              </a:extLst>
            </p:cNvPr>
            <p:cNvSpPr txBox="1"/>
            <p:nvPr/>
          </p:nvSpPr>
          <p:spPr>
            <a:xfrm>
              <a:off x="1194944" y="2505039"/>
              <a:ext cx="2538856" cy="1524036"/>
            </a:xfrm>
            <a:prstGeom prst="rect">
              <a:avLst/>
            </a:prstGeom>
            <a:noFill/>
          </p:spPr>
          <p:txBody>
            <a:bodyPr wrap="square" rtlCol="0">
              <a:noAutofit/>
            </a:bodyPr>
            <a:lstStyle/>
            <a:p>
              <a:pPr>
                <a:spcAft>
                  <a:spcPts val="500"/>
                </a:spcAft>
              </a:pPr>
              <a:r>
                <a:rPr lang="en-GB" sz="1100" dirty="0">
                  <a:solidFill>
                    <a:srgbClr val="1A1A1A"/>
                  </a:solidFill>
                  <a:latin typeface="Montserrat" panose="00000500000000000000" pitchFamily="2" charset="0"/>
                </a:rPr>
                <a:t>Arbitrary values assigned to represent unknown values. Typical examples include:</a:t>
              </a:r>
            </a:p>
            <a:p>
              <a:pPr marL="171450" indent="-171450">
                <a:spcAft>
                  <a:spcPts val="500"/>
                </a:spcAft>
                <a:buFont typeface="Arial" panose="020B0604020202020204" pitchFamily="34" charset="0"/>
                <a:buChar char="•"/>
              </a:pPr>
              <a:r>
                <a:rPr lang="en-GB" sz="1100" b="1" dirty="0">
                  <a:solidFill>
                    <a:srgbClr val="4D6C75"/>
                  </a:solidFill>
                  <a:latin typeface="Montserrat" panose="00000500000000000000" pitchFamily="2" charset="0"/>
                </a:rPr>
                <a:t>N/A</a:t>
              </a:r>
              <a:r>
                <a:rPr lang="en-GB" sz="1100" dirty="0">
                  <a:latin typeface="Montserrat" panose="00000500000000000000" pitchFamily="2" charset="0"/>
                </a:rPr>
                <a:t>,</a:t>
              </a:r>
              <a:r>
                <a:rPr lang="en-GB" sz="1100" b="1" dirty="0">
                  <a:solidFill>
                    <a:srgbClr val="4D6C75"/>
                  </a:solidFill>
                  <a:latin typeface="Montserrat" panose="00000500000000000000" pitchFamily="2" charset="0"/>
                </a:rPr>
                <a:t> Unknown</a:t>
              </a:r>
              <a:r>
                <a:rPr lang="en-GB" sz="1100" dirty="0">
                  <a:latin typeface="Montserrat" panose="00000500000000000000" pitchFamily="2" charset="0"/>
                </a:rPr>
                <a:t>,</a:t>
              </a:r>
              <a:r>
                <a:rPr lang="en-GB" sz="1100" b="1" dirty="0">
                  <a:solidFill>
                    <a:srgbClr val="4D6C75"/>
                  </a:solidFill>
                  <a:latin typeface="Montserrat" panose="00000500000000000000" pitchFamily="2" charset="0"/>
                </a:rPr>
                <a:t> </a:t>
              </a:r>
              <a:r>
                <a:rPr lang="en-GB" sz="1100" b="1" dirty="0" err="1">
                  <a:solidFill>
                    <a:srgbClr val="4D6C75"/>
                  </a:solidFill>
                  <a:latin typeface="Montserrat" panose="00000500000000000000" pitchFamily="2" charset="0"/>
                </a:rPr>
                <a:t>NaN</a:t>
              </a:r>
              <a:r>
                <a:rPr lang="en-GB" sz="1100" dirty="0">
                  <a:solidFill>
                    <a:srgbClr val="1A1A1A"/>
                  </a:solidFill>
                  <a:latin typeface="Montserrat" panose="00000500000000000000" pitchFamily="2" charset="0"/>
                </a:rPr>
                <a:t>.</a:t>
              </a:r>
            </a:p>
            <a:p>
              <a:pPr>
                <a:spcAft>
                  <a:spcPts val="500"/>
                </a:spcAft>
              </a:pPr>
              <a:r>
                <a:rPr lang="en-GB" sz="1100" dirty="0">
                  <a:latin typeface="Montserrat" panose="00000500000000000000" pitchFamily="2" charset="0"/>
                </a:rPr>
                <a:t>Most placeholder values were </a:t>
              </a:r>
              <a:r>
                <a:rPr lang="en-GB" sz="1100" b="1" dirty="0">
                  <a:solidFill>
                    <a:srgbClr val="4D6C75"/>
                  </a:solidFill>
                  <a:latin typeface="Montserrat" panose="00000500000000000000" pitchFamily="2" charset="0"/>
                </a:rPr>
                <a:t>converted to NULL </a:t>
              </a:r>
              <a:r>
                <a:rPr lang="en-GB" sz="1100" dirty="0">
                  <a:latin typeface="Montserrat" panose="00000500000000000000" pitchFamily="2" charset="0"/>
                </a:rPr>
                <a:t>via CSV parsing rules. Exceptional examples such as 0.0 in </a:t>
              </a:r>
              <a:r>
                <a:rPr lang="en-GB" sz="1100" dirty="0" err="1">
                  <a:latin typeface="Montserrat" panose="00000500000000000000" pitchFamily="2" charset="0"/>
                </a:rPr>
                <a:t>engineSize</a:t>
              </a:r>
              <a:r>
                <a:rPr lang="en-GB" sz="1100" dirty="0">
                  <a:latin typeface="Montserrat" panose="00000500000000000000" pitchFamily="2" charset="0"/>
                </a:rPr>
                <a:t> for Petrol were handled on a case-by-case basis.</a:t>
              </a:r>
            </a:p>
          </p:txBody>
        </p:sp>
      </p:grpSp>
      <p:grpSp>
        <p:nvGrpSpPr>
          <p:cNvPr id="20" name="Group 19">
            <a:extLst>
              <a:ext uri="{FF2B5EF4-FFF2-40B4-BE49-F238E27FC236}">
                <a16:creationId xmlns:a16="http://schemas.microsoft.com/office/drawing/2014/main" id="{926D53C9-3EE1-FC07-F732-648FADE72B4D}"/>
              </a:ext>
            </a:extLst>
          </p:cNvPr>
          <p:cNvGrpSpPr/>
          <p:nvPr/>
        </p:nvGrpSpPr>
        <p:grpSpPr>
          <a:xfrm>
            <a:off x="8034075" y="4149735"/>
            <a:ext cx="3945269" cy="1906299"/>
            <a:chOff x="1194944" y="2122776"/>
            <a:chExt cx="3945269" cy="1906299"/>
          </a:xfrm>
        </p:grpSpPr>
        <p:sp>
          <p:nvSpPr>
            <p:cNvPr id="21" name="Contents Heading">
              <a:extLst>
                <a:ext uri="{FF2B5EF4-FFF2-40B4-BE49-F238E27FC236}">
                  <a16:creationId xmlns:a16="http://schemas.microsoft.com/office/drawing/2014/main" id="{97A48DB7-5EEC-6356-1D8F-4B99BD40EB1F}"/>
                </a:ext>
              </a:extLst>
            </p:cNvPr>
            <p:cNvSpPr txBox="1"/>
            <p:nvPr/>
          </p:nvSpPr>
          <p:spPr>
            <a:xfrm>
              <a:off x="4130563" y="2274206"/>
              <a:ext cx="1009650" cy="461665"/>
            </a:xfrm>
            <a:prstGeom prst="rect">
              <a:avLst/>
            </a:prstGeom>
            <a:noFill/>
          </p:spPr>
          <p:txBody>
            <a:bodyPr wrap="square" rtlCol="0" anchor="ctr">
              <a:noAutofit/>
            </a:bodyPr>
            <a:lstStyle/>
            <a:p>
              <a:r>
                <a:rPr lang="en-GB" sz="4800" dirty="0">
                  <a:solidFill>
                    <a:srgbClr val="DC2C3E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Montserrat SemiBold" panose="00000700000000000000" pitchFamily="2" charset="0"/>
                </a:rPr>
                <a:t>04</a:t>
              </a:r>
            </a:p>
          </p:txBody>
        </p:sp>
        <p:sp>
          <p:nvSpPr>
            <p:cNvPr id="22" name="Contents Heading">
              <a:extLst>
                <a:ext uri="{FF2B5EF4-FFF2-40B4-BE49-F238E27FC236}">
                  <a16:creationId xmlns:a16="http://schemas.microsoft.com/office/drawing/2014/main" id="{4591BFF0-1C68-2114-F7E2-335685F5115D}"/>
                </a:ext>
              </a:extLst>
            </p:cNvPr>
            <p:cNvSpPr txBox="1"/>
            <p:nvPr/>
          </p:nvSpPr>
          <p:spPr>
            <a:xfrm>
              <a:off x="1194944" y="2122776"/>
              <a:ext cx="3040394" cy="461665"/>
            </a:xfrm>
            <a:prstGeom prst="rect">
              <a:avLst/>
            </a:prstGeom>
            <a:noFill/>
          </p:spPr>
          <p:txBody>
            <a:bodyPr wrap="square" rtlCol="0" anchor="ctr">
              <a:noAutofit/>
            </a:bodyPr>
            <a:lstStyle/>
            <a:p>
              <a:pPr algn="r"/>
              <a:r>
                <a:rPr lang="en-GB" sz="1600" dirty="0">
                  <a:solidFill>
                    <a:srgbClr val="DC2C3E"/>
                  </a:solidFill>
                  <a:latin typeface="Montserrat" panose="00000500000000000000" pitchFamily="2" charset="0"/>
                </a:rPr>
                <a:t>Anomalies</a:t>
              </a:r>
            </a:p>
          </p:txBody>
        </p:sp>
        <p:sp>
          <p:nvSpPr>
            <p:cNvPr id="23" name="Checklist">
              <a:extLst>
                <a:ext uri="{FF2B5EF4-FFF2-40B4-BE49-F238E27FC236}">
                  <a16:creationId xmlns:a16="http://schemas.microsoft.com/office/drawing/2014/main" id="{CEF24AAA-A9F0-E038-08A7-41269CF4E530}"/>
                </a:ext>
              </a:extLst>
            </p:cNvPr>
            <p:cNvSpPr txBox="1"/>
            <p:nvPr/>
          </p:nvSpPr>
          <p:spPr>
            <a:xfrm>
              <a:off x="1390468" y="2505039"/>
              <a:ext cx="2844869" cy="1524036"/>
            </a:xfrm>
            <a:prstGeom prst="rect">
              <a:avLst/>
            </a:prstGeom>
            <a:noFill/>
          </p:spPr>
          <p:txBody>
            <a:bodyPr wrap="square" rtlCol="0">
              <a:noAutofit/>
            </a:bodyPr>
            <a:lstStyle/>
            <a:p>
              <a:pPr algn="r">
                <a:spcAft>
                  <a:spcPts val="500"/>
                </a:spcAft>
              </a:pPr>
              <a:r>
                <a:rPr lang="en-GB" sz="1100" dirty="0">
                  <a:solidFill>
                    <a:srgbClr val="1A1A1A"/>
                  </a:solidFill>
                  <a:latin typeface="Montserrat" panose="00000500000000000000" pitchFamily="2" charset="0"/>
                </a:rPr>
                <a:t>Values that do not meet the field’s </a:t>
              </a:r>
              <a:r>
                <a:rPr lang="en-GB" sz="1100" b="1" dirty="0">
                  <a:solidFill>
                    <a:srgbClr val="4D6C75"/>
                  </a:solidFill>
                  <a:latin typeface="Montserrat" panose="00000500000000000000" pitchFamily="2" charset="0"/>
                </a:rPr>
                <a:t>logic</a:t>
              </a:r>
              <a:r>
                <a:rPr lang="en-GB" sz="1100" dirty="0">
                  <a:solidFill>
                    <a:srgbClr val="1A1A1A"/>
                  </a:solidFill>
                  <a:latin typeface="Montserrat" panose="00000500000000000000" pitchFamily="2" charset="0"/>
                </a:rPr>
                <a:t>, as a result are treated as </a:t>
              </a:r>
              <a:r>
                <a:rPr lang="en-GB" sz="1100" b="1" dirty="0">
                  <a:solidFill>
                    <a:srgbClr val="4D6C75"/>
                  </a:solidFill>
                  <a:latin typeface="Montserrat" panose="00000500000000000000" pitchFamily="2" charset="0"/>
                </a:rPr>
                <a:t>invalid</a:t>
              </a:r>
              <a:r>
                <a:rPr lang="en-GB" sz="1100" dirty="0">
                  <a:solidFill>
                    <a:srgbClr val="1A1A1A"/>
                  </a:solidFill>
                  <a:latin typeface="Montserrat" panose="00000500000000000000" pitchFamily="2" charset="0"/>
                </a:rPr>
                <a:t> or </a:t>
              </a:r>
              <a:r>
                <a:rPr lang="en-GB" sz="1100" b="1" dirty="0">
                  <a:solidFill>
                    <a:srgbClr val="4D6C75"/>
                  </a:solidFill>
                  <a:latin typeface="Montserrat" panose="00000500000000000000" pitchFamily="2" charset="0"/>
                </a:rPr>
                <a:t>incorrect values</a:t>
              </a:r>
              <a:r>
                <a:rPr lang="en-GB" sz="1100" dirty="0">
                  <a:solidFill>
                    <a:srgbClr val="1A1A1A"/>
                  </a:solidFill>
                  <a:latin typeface="Montserrat" panose="00000500000000000000" pitchFamily="2" charset="0"/>
                </a:rPr>
                <a:t>.</a:t>
              </a:r>
            </a:p>
            <a:p>
              <a:pPr algn="r">
                <a:spcAft>
                  <a:spcPts val="500"/>
                </a:spcAft>
              </a:pPr>
              <a:r>
                <a:rPr lang="en-GB" sz="1100" dirty="0">
                  <a:solidFill>
                    <a:srgbClr val="1A1A1A"/>
                  </a:solidFill>
                  <a:latin typeface="Montserrat" panose="00000500000000000000" pitchFamily="2" charset="0"/>
                </a:rPr>
                <a:t>Often rare, therefore they’re handled on a case-by-case basis.</a:t>
              </a:r>
            </a:p>
            <a:p>
              <a:pPr algn="r">
                <a:spcAft>
                  <a:spcPts val="500"/>
                </a:spcAft>
              </a:pPr>
              <a:r>
                <a:rPr lang="en-GB" sz="1100" dirty="0">
                  <a:solidFill>
                    <a:srgbClr val="1A1A1A"/>
                  </a:solidFill>
                  <a:latin typeface="Montserrat" panose="00000500000000000000" pitchFamily="2" charset="0"/>
                </a:rPr>
                <a:t>‘year’ had two anomalies, one being a </a:t>
              </a:r>
              <a:r>
                <a:rPr lang="en-GB" sz="1100" b="1" dirty="0">
                  <a:solidFill>
                    <a:srgbClr val="4D6C75"/>
                  </a:solidFill>
                  <a:latin typeface="Montserrat" panose="00000500000000000000" pitchFamily="2" charset="0"/>
                </a:rPr>
                <a:t>future year</a:t>
              </a:r>
              <a:r>
                <a:rPr lang="en-GB" sz="1100" dirty="0">
                  <a:solidFill>
                    <a:srgbClr val="1A1A1A"/>
                  </a:solidFill>
                  <a:latin typeface="Montserrat" panose="00000500000000000000" pitchFamily="2" charset="0"/>
                </a:rPr>
                <a:t>, the other being too old.</a:t>
              </a:r>
            </a:p>
          </p:txBody>
        </p:sp>
      </p:grpSp>
      <p:grpSp>
        <p:nvGrpSpPr>
          <p:cNvPr id="24" name="Group 23">
            <a:extLst>
              <a:ext uri="{FF2B5EF4-FFF2-40B4-BE49-F238E27FC236}">
                <a16:creationId xmlns:a16="http://schemas.microsoft.com/office/drawing/2014/main" id="{C6A85A35-A25E-E52F-63F0-9825A56A0101}"/>
              </a:ext>
            </a:extLst>
          </p:cNvPr>
          <p:cNvGrpSpPr/>
          <p:nvPr/>
        </p:nvGrpSpPr>
        <p:grpSpPr>
          <a:xfrm>
            <a:off x="8034075" y="1775443"/>
            <a:ext cx="3945269" cy="1906299"/>
            <a:chOff x="1194944" y="2122776"/>
            <a:chExt cx="3945269" cy="1906299"/>
          </a:xfrm>
        </p:grpSpPr>
        <p:sp>
          <p:nvSpPr>
            <p:cNvPr id="26" name="Contents Heading">
              <a:extLst>
                <a:ext uri="{FF2B5EF4-FFF2-40B4-BE49-F238E27FC236}">
                  <a16:creationId xmlns:a16="http://schemas.microsoft.com/office/drawing/2014/main" id="{8760DD54-D782-8504-BC10-81277064EB39}"/>
                </a:ext>
              </a:extLst>
            </p:cNvPr>
            <p:cNvSpPr txBox="1"/>
            <p:nvPr/>
          </p:nvSpPr>
          <p:spPr>
            <a:xfrm>
              <a:off x="4130563" y="2274206"/>
              <a:ext cx="1009650" cy="461665"/>
            </a:xfrm>
            <a:prstGeom prst="rect">
              <a:avLst/>
            </a:prstGeom>
            <a:noFill/>
          </p:spPr>
          <p:txBody>
            <a:bodyPr wrap="square" rtlCol="0" anchor="ctr">
              <a:noAutofit/>
            </a:bodyPr>
            <a:lstStyle/>
            <a:p>
              <a:r>
                <a:rPr lang="en-GB" sz="4800" dirty="0">
                  <a:solidFill>
                    <a:srgbClr val="DC2C3E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Montserrat SemiBold" panose="00000700000000000000" pitchFamily="2" charset="0"/>
                </a:rPr>
                <a:t>03</a:t>
              </a:r>
            </a:p>
          </p:txBody>
        </p:sp>
        <p:sp>
          <p:nvSpPr>
            <p:cNvPr id="28" name="Contents Heading">
              <a:extLst>
                <a:ext uri="{FF2B5EF4-FFF2-40B4-BE49-F238E27FC236}">
                  <a16:creationId xmlns:a16="http://schemas.microsoft.com/office/drawing/2014/main" id="{594834C0-A194-87A3-1D56-ACFF14424D2A}"/>
                </a:ext>
              </a:extLst>
            </p:cNvPr>
            <p:cNvSpPr txBox="1"/>
            <p:nvPr/>
          </p:nvSpPr>
          <p:spPr>
            <a:xfrm>
              <a:off x="1194944" y="2122776"/>
              <a:ext cx="3040394" cy="461665"/>
            </a:xfrm>
            <a:prstGeom prst="rect">
              <a:avLst/>
            </a:prstGeom>
            <a:noFill/>
          </p:spPr>
          <p:txBody>
            <a:bodyPr wrap="square" rtlCol="0" anchor="ctr">
              <a:noAutofit/>
            </a:bodyPr>
            <a:lstStyle/>
            <a:p>
              <a:pPr algn="r"/>
              <a:r>
                <a:rPr lang="en-GB" sz="1600" dirty="0">
                  <a:solidFill>
                    <a:srgbClr val="DC2C3E"/>
                  </a:solidFill>
                  <a:latin typeface="Montserrat" panose="00000500000000000000" pitchFamily="2" charset="0"/>
                </a:rPr>
                <a:t>Typos</a:t>
              </a:r>
            </a:p>
          </p:txBody>
        </p:sp>
        <p:sp>
          <p:nvSpPr>
            <p:cNvPr id="30" name="Checklist">
              <a:extLst>
                <a:ext uri="{FF2B5EF4-FFF2-40B4-BE49-F238E27FC236}">
                  <a16:creationId xmlns:a16="http://schemas.microsoft.com/office/drawing/2014/main" id="{97BFC2CC-C134-4323-8B9B-5AAEBCEC1EB2}"/>
                </a:ext>
              </a:extLst>
            </p:cNvPr>
            <p:cNvSpPr txBox="1"/>
            <p:nvPr/>
          </p:nvSpPr>
          <p:spPr>
            <a:xfrm>
              <a:off x="1202246" y="2505039"/>
              <a:ext cx="3033091" cy="1524036"/>
            </a:xfrm>
            <a:prstGeom prst="rect">
              <a:avLst/>
            </a:prstGeom>
            <a:noFill/>
          </p:spPr>
          <p:txBody>
            <a:bodyPr wrap="square" rtlCol="0">
              <a:noAutofit/>
            </a:bodyPr>
            <a:lstStyle/>
            <a:p>
              <a:pPr algn="r">
                <a:spcAft>
                  <a:spcPts val="500"/>
                </a:spcAft>
              </a:pPr>
              <a:r>
                <a:rPr lang="en-GB" sz="1100" dirty="0">
                  <a:solidFill>
                    <a:srgbClr val="1A1A1A"/>
                  </a:solidFill>
                  <a:latin typeface="Montserrat" panose="00000500000000000000" pitchFamily="2" charset="0"/>
                </a:rPr>
                <a:t>Unknown values caused by </a:t>
              </a:r>
              <a:r>
                <a:rPr lang="en-GB" sz="1100" b="1" dirty="0">
                  <a:solidFill>
                    <a:srgbClr val="4D6C75"/>
                  </a:solidFill>
                  <a:latin typeface="Montserrat" panose="00000500000000000000" pitchFamily="2" charset="0"/>
                </a:rPr>
                <a:t>misplaced characters</a:t>
              </a:r>
              <a:r>
                <a:rPr lang="en-GB" sz="1100" dirty="0">
                  <a:solidFill>
                    <a:srgbClr val="1A1A1A"/>
                  </a:solidFill>
                  <a:latin typeface="Montserrat" panose="00000500000000000000" pitchFamily="2" charset="0"/>
                </a:rPr>
                <a:t>. They’re not systematic so they can be difficult to detect</a:t>
              </a:r>
            </a:p>
            <a:p>
              <a:pPr algn="r">
                <a:spcAft>
                  <a:spcPts val="500"/>
                </a:spcAft>
              </a:pPr>
              <a:r>
                <a:rPr lang="en-GB" sz="1100" i="1" dirty="0">
                  <a:solidFill>
                    <a:srgbClr val="1A1A1A"/>
                  </a:solidFill>
                  <a:latin typeface="Montserrat" panose="00000500000000000000" pitchFamily="2" charset="0"/>
                </a:rPr>
                <a:t>Used the following methods:</a:t>
              </a:r>
            </a:p>
            <a:p>
              <a:pPr marL="171450" indent="-171450" algn="r">
                <a:spcAft>
                  <a:spcPts val="500"/>
                </a:spcAft>
                <a:buFont typeface="Arial" panose="020B0604020202020204" pitchFamily="34" charset="0"/>
                <a:buChar char="•"/>
              </a:pPr>
              <a:r>
                <a:rPr lang="en-GB" sz="1100" dirty="0">
                  <a:latin typeface="Montserrat" panose="00000500000000000000" pitchFamily="2" charset="0"/>
                </a:rPr>
                <a:t>Reviewing</a:t>
              </a:r>
              <a:r>
                <a:rPr lang="en-GB" sz="1100" b="1" dirty="0">
                  <a:solidFill>
                    <a:srgbClr val="4D6C75"/>
                  </a:solidFill>
                  <a:latin typeface="Montserrat" panose="00000500000000000000" pitchFamily="2" charset="0"/>
                </a:rPr>
                <a:t> distinct</a:t>
              </a:r>
              <a:r>
                <a:rPr lang="en-GB" sz="1100" dirty="0">
                  <a:solidFill>
                    <a:srgbClr val="1A1A1A"/>
                  </a:solidFill>
                  <a:latin typeface="Montserrat" panose="00000500000000000000" pitchFamily="2" charset="0"/>
                </a:rPr>
                <a:t> string categories.</a:t>
              </a:r>
            </a:p>
            <a:p>
              <a:pPr marL="171450" indent="-171450" algn="r">
                <a:spcAft>
                  <a:spcPts val="500"/>
                </a:spcAft>
                <a:buFont typeface="Arial" panose="020B0604020202020204" pitchFamily="34" charset="0"/>
                <a:buChar char="•"/>
              </a:pPr>
              <a:r>
                <a:rPr lang="en-GB" sz="1100" b="1" dirty="0">
                  <a:solidFill>
                    <a:srgbClr val="4D6C75"/>
                  </a:solidFill>
                  <a:latin typeface="Montserrat" panose="00000500000000000000" pitchFamily="2" charset="0"/>
                </a:rPr>
                <a:t>Sorting</a:t>
              </a:r>
              <a:r>
                <a:rPr lang="en-GB" sz="1100" dirty="0">
                  <a:solidFill>
                    <a:srgbClr val="1A1A1A"/>
                  </a:solidFill>
                  <a:latin typeface="Montserrat" panose="00000500000000000000" pitchFamily="2" charset="0"/>
                </a:rPr>
                <a:t> unique numeric values.</a:t>
              </a:r>
            </a:p>
            <a:p>
              <a:pPr algn="r">
                <a:spcAft>
                  <a:spcPts val="500"/>
                </a:spcAft>
              </a:pPr>
              <a:r>
                <a:rPr lang="en-GB" sz="1100" dirty="0">
                  <a:solidFill>
                    <a:srgbClr val="1A1A1A"/>
                  </a:solidFill>
                  <a:latin typeface="Montserrat" panose="00000500000000000000" pitchFamily="2" charset="0"/>
                </a:rPr>
                <a:t>‘</a:t>
              </a:r>
              <a:r>
                <a:rPr lang="en-GB" sz="1100" dirty="0" err="1">
                  <a:solidFill>
                    <a:srgbClr val="1A1A1A"/>
                  </a:solidFill>
                  <a:latin typeface="Montserrat" panose="00000500000000000000" pitchFamily="2" charset="0"/>
                </a:rPr>
                <a:t>engineSize</a:t>
              </a:r>
              <a:r>
                <a:rPr lang="en-GB" sz="1100" dirty="0">
                  <a:solidFill>
                    <a:srgbClr val="1A1A1A"/>
                  </a:solidFill>
                  <a:latin typeface="Montserrat" panose="00000500000000000000" pitchFamily="2" charset="0"/>
                </a:rPr>
                <a:t>’ had three numeric typos.</a:t>
              </a:r>
            </a:p>
          </p:txBody>
        </p:sp>
      </p:grpSp>
      <p:grpSp>
        <p:nvGrpSpPr>
          <p:cNvPr id="33" name="Group 32">
            <a:extLst>
              <a:ext uri="{FF2B5EF4-FFF2-40B4-BE49-F238E27FC236}">
                <a16:creationId xmlns:a16="http://schemas.microsoft.com/office/drawing/2014/main" id="{51DFFF44-148E-D573-0731-671604A0E79D}"/>
              </a:ext>
            </a:extLst>
          </p:cNvPr>
          <p:cNvGrpSpPr/>
          <p:nvPr/>
        </p:nvGrpSpPr>
        <p:grpSpPr>
          <a:xfrm>
            <a:off x="4423403" y="3314619"/>
            <a:ext cx="3040394" cy="1955110"/>
            <a:chOff x="4423403" y="3162219"/>
            <a:chExt cx="3040394" cy="1955110"/>
          </a:xfrm>
        </p:grpSpPr>
        <p:sp>
          <p:nvSpPr>
            <p:cNvPr id="31" name="Contents Heading">
              <a:extLst>
                <a:ext uri="{FF2B5EF4-FFF2-40B4-BE49-F238E27FC236}">
                  <a16:creationId xmlns:a16="http://schemas.microsoft.com/office/drawing/2014/main" id="{CD7F666A-C3C2-C8F0-7A2E-C61BBAB89EBB}"/>
                </a:ext>
              </a:extLst>
            </p:cNvPr>
            <p:cNvSpPr txBox="1"/>
            <p:nvPr/>
          </p:nvSpPr>
          <p:spPr>
            <a:xfrm>
              <a:off x="4423403" y="3162219"/>
              <a:ext cx="3040394" cy="461665"/>
            </a:xfrm>
            <a:prstGeom prst="rect">
              <a:avLst/>
            </a:prstGeom>
            <a:noFill/>
          </p:spPr>
          <p:txBody>
            <a:bodyPr wrap="square" rtlCol="0" anchor="ctr">
              <a:noAutofit/>
            </a:bodyPr>
            <a:lstStyle/>
            <a:p>
              <a:pPr algn="ctr"/>
              <a:r>
                <a:rPr lang="en-GB" sz="1600" dirty="0">
                  <a:solidFill>
                    <a:srgbClr val="DC2C3E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Montserrat" panose="00000500000000000000" pitchFamily="2" charset="0"/>
                </a:rPr>
                <a:t>Handling</a:t>
              </a:r>
            </a:p>
          </p:txBody>
        </p:sp>
        <p:sp>
          <p:nvSpPr>
            <p:cNvPr id="32" name="Checklist">
              <a:extLst>
                <a:ext uri="{FF2B5EF4-FFF2-40B4-BE49-F238E27FC236}">
                  <a16:creationId xmlns:a16="http://schemas.microsoft.com/office/drawing/2014/main" id="{5B115D4D-E81F-7E51-8CE6-6481F0E738F3}"/>
                </a:ext>
              </a:extLst>
            </p:cNvPr>
            <p:cNvSpPr txBox="1"/>
            <p:nvPr/>
          </p:nvSpPr>
          <p:spPr>
            <a:xfrm>
              <a:off x="4938465" y="3593293"/>
              <a:ext cx="2008048" cy="1524036"/>
            </a:xfrm>
            <a:prstGeom prst="rect">
              <a:avLst/>
            </a:prstGeom>
            <a:noFill/>
          </p:spPr>
          <p:txBody>
            <a:bodyPr wrap="square" rtlCol="0">
              <a:noAutofit/>
            </a:bodyPr>
            <a:lstStyle/>
            <a:p>
              <a:pPr algn="ctr">
                <a:spcAft>
                  <a:spcPts val="500"/>
                </a:spcAft>
              </a:pPr>
              <a:r>
                <a:rPr lang="en-GB" sz="1100" dirty="0">
                  <a:solidFill>
                    <a:srgbClr val="1A1A1A"/>
                  </a:solidFill>
                  <a:latin typeface="Montserrat" panose="00000500000000000000" pitchFamily="2" charset="0"/>
                </a:rPr>
                <a:t>Unless the correct value is known, most unknown values are </a:t>
              </a:r>
              <a:r>
                <a:rPr lang="en-GB" sz="1100" b="1" dirty="0">
                  <a:solidFill>
                    <a:srgbClr val="4D6C75"/>
                  </a:solidFill>
                  <a:latin typeface="Montserrat" panose="00000500000000000000" pitchFamily="2" charset="0"/>
                </a:rPr>
                <a:t>casted to NULL </a:t>
              </a:r>
              <a:r>
                <a:rPr lang="en-GB" sz="1100" dirty="0">
                  <a:solidFill>
                    <a:srgbClr val="1A1A1A"/>
                  </a:solidFill>
                  <a:latin typeface="Montserrat" panose="00000500000000000000" pitchFamily="2" charset="0"/>
                </a:rPr>
                <a:t>to avoid affecting column logic.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14002832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DAF8EC4-C6F0-46A2-2E27-0D9E9692E5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7CADE1DE-10CA-6E5F-E0E3-8063FE04990C}"/>
              </a:ext>
            </a:extLst>
          </p:cNvPr>
          <p:cNvCxnSpPr>
            <a:cxnSpLocks/>
          </p:cNvCxnSpPr>
          <p:nvPr/>
        </p:nvCxnSpPr>
        <p:spPr>
          <a:xfrm flipH="1">
            <a:off x="1368675" y="2760847"/>
            <a:ext cx="8766" cy="4135252"/>
          </a:xfrm>
          <a:prstGeom prst="line">
            <a:avLst/>
          </a:prstGeom>
          <a:ln w="76200">
            <a:solidFill>
              <a:srgbClr val="4D6C75"/>
            </a:solidFill>
            <a:prstDash val="sysDot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itle 1">
            <a:extLst>
              <a:ext uri="{FF2B5EF4-FFF2-40B4-BE49-F238E27FC236}">
                <a16:creationId xmlns:a16="http://schemas.microsoft.com/office/drawing/2014/main" id="{20847B40-221E-C71A-6BBF-AA6AD05DB9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en-GB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Montserrat SemiBold" panose="00000700000000000000" pitchFamily="2" charset="0"/>
              </a:rPr>
              <a:t>AI USAGE</a:t>
            </a:r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B668A914-B7BA-6696-CD8A-F5227FCC41E2}"/>
              </a:ext>
            </a:extLst>
          </p:cNvPr>
          <p:cNvSpPr/>
          <p:nvPr/>
        </p:nvSpPr>
        <p:spPr>
          <a:xfrm>
            <a:off x="838200" y="1690688"/>
            <a:ext cx="1080000" cy="1080000"/>
          </a:xfrm>
          <a:prstGeom prst="roundRect">
            <a:avLst>
              <a:gd name="adj" fmla="val 11192"/>
            </a:avLst>
          </a:prstGeom>
          <a:solidFill>
            <a:srgbClr val="DC2C3E"/>
          </a:solidFill>
          <a:ln w="38100">
            <a:solidFill>
              <a:srgbClr val="DC2C3E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050" dirty="0">
              <a:solidFill>
                <a:schemeClr val="bg1"/>
              </a:solidFill>
              <a:latin typeface="Montserrat" panose="00000500000000000000" pitchFamily="2" charset="0"/>
            </a:endParaRPr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5B982C6A-4184-6BF4-7407-91EF4D2CCE32}"/>
              </a:ext>
            </a:extLst>
          </p:cNvPr>
          <p:cNvSpPr/>
          <p:nvPr/>
        </p:nvSpPr>
        <p:spPr>
          <a:xfrm>
            <a:off x="838200" y="3429000"/>
            <a:ext cx="1080000" cy="1080000"/>
          </a:xfrm>
          <a:prstGeom prst="roundRect">
            <a:avLst>
              <a:gd name="adj" fmla="val 11192"/>
            </a:avLst>
          </a:prstGeom>
          <a:solidFill>
            <a:srgbClr val="DC2C3E"/>
          </a:solidFill>
          <a:ln w="38100">
            <a:solidFill>
              <a:srgbClr val="DC2C3E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050" dirty="0">
              <a:solidFill>
                <a:schemeClr val="bg1"/>
              </a:solidFill>
              <a:latin typeface="Montserrat" panose="00000500000000000000" pitchFamily="2" charset="0"/>
            </a:endParaRP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F0544B0D-D686-02D8-0ACD-FDC4F162A8BE}"/>
              </a:ext>
            </a:extLst>
          </p:cNvPr>
          <p:cNvSpPr/>
          <p:nvPr/>
        </p:nvSpPr>
        <p:spPr>
          <a:xfrm>
            <a:off x="838200" y="5167312"/>
            <a:ext cx="1080000" cy="1080000"/>
          </a:xfrm>
          <a:prstGeom prst="roundRect">
            <a:avLst>
              <a:gd name="adj" fmla="val 11192"/>
            </a:avLst>
          </a:prstGeom>
          <a:solidFill>
            <a:srgbClr val="DC2C3E"/>
          </a:solidFill>
          <a:ln w="38100">
            <a:solidFill>
              <a:srgbClr val="DC2C3E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050" dirty="0">
              <a:solidFill>
                <a:schemeClr val="bg1"/>
              </a:solidFill>
              <a:latin typeface="Montserrat" panose="00000500000000000000" pitchFamily="2" charset="0"/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F281CFED-901C-5367-F153-64ACFD896FA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2177" y="3602977"/>
            <a:ext cx="732046" cy="732046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07FA8D64-9E99-3CB5-463F-A8B9C3CF229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2177" y="1860708"/>
            <a:ext cx="732046" cy="739960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BF3CFE24-7C9A-62E8-F95C-947778BE5CA5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2177" y="5337016"/>
            <a:ext cx="740592" cy="740592"/>
          </a:xfrm>
          <a:prstGeom prst="rect">
            <a:avLst/>
          </a:prstGeom>
        </p:spPr>
      </p:pic>
      <p:sp>
        <p:nvSpPr>
          <p:cNvPr id="13" name="Heading Bar">
            <a:extLst>
              <a:ext uri="{FF2B5EF4-FFF2-40B4-BE49-F238E27FC236}">
                <a16:creationId xmlns:a16="http://schemas.microsoft.com/office/drawing/2014/main" id="{1435A9E4-0FF7-8FB8-FBAB-7CDDCAEE2DB5}"/>
              </a:ext>
            </a:extLst>
          </p:cNvPr>
          <p:cNvSpPr/>
          <p:nvPr/>
        </p:nvSpPr>
        <p:spPr>
          <a:xfrm>
            <a:off x="2092177" y="1867033"/>
            <a:ext cx="92959" cy="733635"/>
          </a:xfrm>
          <a:prstGeom prst="rect">
            <a:avLst/>
          </a:prstGeom>
          <a:solidFill>
            <a:srgbClr val="B32131"/>
          </a:solidFill>
          <a:ln>
            <a:noFill/>
          </a:ln>
        </p:spPr>
        <p:txBody>
          <a:bodyPr rtlCol="0" anchor="ctr"/>
          <a:lstStyle/>
          <a:p>
            <a:pPr algn="ctr"/>
            <a:endParaRPr lang="en-GB" dirty="0"/>
          </a:p>
        </p:txBody>
      </p:sp>
      <p:grpSp>
        <p:nvGrpSpPr>
          <p:cNvPr id="21" name="Group 20">
            <a:extLst>
              <a:ext uri="{FF2B5EF4-FFF2-40B4-BE49-F238E27FC236}">
                <a16:creationId xmlns:a16="http://schemas.microsoft.com/office/drawing/2014/main" id="{6EC54705-FA4F-FD48-0727-1B1095EF5E54}"/>
              </a:ext>
            </a:extLst>
          </p:cNvPr>
          <p:cNvGrpSpPr/>
          <p:nvPr/>
        </p:nvGrpSpPr>
        <p:grpSpPr>
          <a:xfrm>
            <a:off x="2372851" y="1629875"/>
            <a:ext cx="4264463" cy="1195302"/>
            <a:chOff x="2372851" y="1629875"/>
            <a:chExt cx="4264463" cy="1195302"/>
          </a:xfrm>
        </p:grpSpPr>
        <p:sp>
          <p:nvSpPr>
            <p:cNvPr id="17" name="Contents Heading">
              <a:extLst>
                <a:ext uri="{FF2B5EF4-FFF2-40B4-BE49-F238E27FC236}">
                  <a16:creationId xmlns:a16="http://schemas.microsoft.com/office/drawing/2014/main" id="{9357756D-CAAC-A851-2A95-877C8C6CE4DC}"/>
                </a:ext>
              </a:extLst>
            </p:cNvPr>
            <p:cNvSpPr txBox="1"/>
            <p:nvPr/>
          </p:nvSpPr>
          <p:spPr>
            <a:xfrm>
              <a:off x="2372851" y="1629875"/>
              <a:ext cx="4236265" cy="461665"/>
            </a:xfrm>
            <a:prstGeom prst="rect">
              <a:avLst/>
            </a:prstGeom>
            <a:noFill/>
          </p:spPr>
          <p:txBody>
            <a:bodyPr wrap="square" rtlCol="0" anchor="ctr">
              <a:noAutofit/>
            </a:bodyPr>
            <a:lstStyle/>
            <a:p>
              <a:r>
                <a:rPr lang="en-GB" sz="2400" dirty="0">
                  <a:solidFill>
                    <a:srgbClr val="DC2C3E"/>
                  </a:solidFill>
                  <a:latin typeface="Montserrat SemiBold" panose="00000700000000000000" pitchFamily="2" charset="0"/>
                </a:rPr>
                <a:t>Cortex Code</a:t>
              </a:r>
            </a:p>
          </p:txBody>
        </p:sp>
        <p:sp>
          <p:nvSpPr>
            <p:cNvPr id="18" name="Checklist">
              <a:extLst>
                <a:ext uri="{FF2B5EF4-FFF2-40B4-BE49-F238E27FC236}">
                  <a16:creationId xmlns:a16="http://schemas.microsoft.com/office/drawing/2014/main" id="{8CA014DB-75A2-1B1A-BBED-FA2A81C39CEE}"/>
                </a:ext>
              </a:extLst>
            </p:cNvPr>
            <p:cNvSpPr txBox="1"/>
            <p:nvPr/>
          </p:nvSpPr>
          <p:spPr>
            <a:xfrm>
              <a:off x="2401049" y="2091541"/>
              <a:ext cx="4236265" cy="733636"/>
            </a:xfrm>
            <a:prstGeom prst="rect">
              <a:avLst/>
            </a:prstGeom>
            <a:noFill/>
          </p:spPr>
          <p:txBody>
            <a:bodyPr wrap="square" rtlCol="0">
              <a:noAutofit/>
            </a:bodyPr>
            <a:lstStyle/>
            <a:p>
              <a:pPr>
                <a:spcAft>
                  <a:spcPts val="500"/>
                </a:spcAft>
              </a:pPr>
              <a:r>
                <a:rPr lang="en-GB" sz="1100" dirty="0">
                  <a:latin typeface="Montserrat" panose="00000500000000000000" pitchFamily="2" charset="0"/>
                </a:rPr>
                <a:t>Used in Snowflake environment to assist with </a:t>
              </a:r>
              <a:r>
                <a:rPr lang="en-GB" sz="1100" b="1" dirty="0">
                  <a:solidFill>
                    <a:srgbClr val="4D6C75"/>
                  </a:solidFill>
                  <a:latin typeface="Montserrat" panose="00000500000000000000" pitchFamily="2" charset="0"/>
                </a:rPr>
                <a:t>debugging</a:t>
              </a:r>
              <a:r>
                <a:rPr lang="en-GB" sz="1100" dirty="0">
                  <a:latin typeface="Montserrat" panose="00000500000000000000" pitchFamily="2" charset="0"/>
                </a:rPr>
                <a:t> and generating boiler plate code used to </a:t>
              </a:r>
              <a:r>
                <a:rPr lang="en-GB" sz="1100" b="1" dirty="0">
                  <a:solidFill>
                    <a:srgbClr val="4D6C75"/>
                  </a:solidFill>
                  <a:latin typeface="Montserrat" panose="00000500000000000000" pitchFamily="2" charset="0"/>
                </a:rPr>
                <a:t>learn</a:t>
              </a:r>
              <a:r>
                <a:rPr lang="en-GB" sz="1100" dirty="0">
                  <a:latin typeface="Montserrat" panose="00000500000000000000" pitchFamily="2" charset="0"/>
                </a:rPr>
                <a:t> Snowflake specific SQL or Python syntax.</a:t>
              </a:r>
            </a:p>
            <a:p>
              <a:pPr>
                <a:spcAft>
                  <a:spcPts val="500"/>
                </a:spcAft>
              </a:pPr>
              <a:r>
                <a:rPr lang="en-GB" sz="1100" i="1" dirty="0">
                  <a:latin typeface="Montserrat" panose="00000500000000000000" pitchFamily="2" charset="0"/>
                </a:rPr>
                <a:t>E.g. See Section 6.2: Align Tax &amp; </a:t>
              </a:r>
              <a:r>
                <a:rPr lang="en-GB" sz="1100" i="1" dirty="0" err="1">
                  <a:latin typeface="Montserrat" panose="00000500000000000000" pitchFamily="2" charset="0"/>
                </a:rPr>
                <a:t>EngineSize</a:t>
              </a:r>
              <a:r>
                <a:rPr lang="en-GB" sz="1100" dirty="0">
                  <a:latin typeface="Montserrat" panose="00000500000000000000" pitchFamily="2" charset="0"/>
                </a:rPr>
                <a:t>.</a:t>
              </a:r>
            </a:p>
          </p:txBody>
        </p:sp>
      </p:grpSp>
      <p:grpSp>
        <p:nvGrpSpPr>
          <p:cNvPr id="22" name="Group 21">
            <a:extLst>
              <a:ext uri="{FF2B5EF4-FFF2-40B4-BE49-F238E27FC236}">
                <a16:creationId xmlns:a16="http://schemas.microsoft.com/office/drawing/2014/main" id="{962340EE-AE15-110B-5027-048F0F2D2618}"/>
              </a:ext>
            </a:extLst>
          </p:cNvPr>
          <p:cNvGrpSpPr/>
          <p:nvPr/>
        </p:nvGrpSpPr>
        <p:grpSpPr>
          <a:xfrm>
            <a:off x="2372851" y="3356290"/>
            <a:ext cx="4390335" cy="1195302"/>
            <a:chOff x="2372851" y="1629875"/>
            <a:chExt cx="4390335" cy="1195302"/>
          </a:xfrm>
        </p:grpSpPr>
        <p:sp>
          <p:nvSpPr>
            <p:cNvPr id="23" name="Contents Heading">
              <a:extLst>
                <a:ext uri="{FF2B5EF4-FFF2-40B4-BE49-F238E27FC236}">
                  <a16:creationId xmlns:a16="http://schemas.microsoft.com/office/drawing/2014/main" id="{2FD0456B-80DE-FBBF-BFC9-E2F2600FC820}"/>
                </a:ext>
              </a:extLst>
            </p:cNvPr>
            <p:cNvSpPr txBox="1"/>
            <p:nvPr/>
          </p:nvSpPr>
          <p:spPr>
            <a:xfrm>
              <a:off x="2372851" y="1629875"/>
              <a:ext cx="4236265" cy="461665"/>
            </a:xfrm>
            <a:prstGeom prst="rect">
              <a:avLst/>
            </a:prstGeom>
            <a:noFill/>
          </p:spPr>
          <p:txBody>
            <a:bodyPr wrap="square" rtlCol="0" anchor="ctr">
              <a:noAutofit/>
            </a:bodyPr>
            <a:lstStyle/>
            <a:p>
              <a:r>
                <a:rPr lang="en-GB" sz="2400" dirty="0">
                  <a:solidFill>
                    <a:srgbClr val="DC2C3E"/>
                  </a:solidFill>
                  <a:latin typeface="Montserrat SemiBold" panose="00000700000000000000" pitchFamily="2" charset="0"/>
                </a:rPr>
                <a:t>Gemini</a:t>
              </a:r>
            </a:p>
          </p:txBody>
        </p:sp>
        <p:sp>
          <p:nvSpPr>
            <p:cNvPr id="24" name="Checklist">
              <a:extLst>
                <a:ext uri="{FF2B5EF4-FFF2-40B4-BE49-F238E27FC236}">
                  <a16:creationId xmlns:a16="http://schemas.microsoft.com/office/drawing/2014/main" id="{FD8C5676-75A5-73DD-B9A3-F300DAFD595A}"/>
                </a:ext>
              </a:extLst>
            </p:cNvPr>
            <p:cNvSpPr txBox="1"/>
            <p:nvPr/>
          </p:nvSpPr>
          <p:spPr>
            <a:xfrm>
              <a:off x="2401049" y="2091541"/>
              <a:ext cx="4362137" cy="733636"/>
            </a:xfrm>
            <a:prstGeom prst="rect">
              <a:avLst/>
            </a:prstGeom>
            <a:noFill/>
          </p:spPr>
          <p:txBody>
            <a:bodyPr wrap="square" rtlCol="0">
              <a:noAutofit/>
            </a:bodyPr>
            <a:lstStyle/>
            <a:p>
              <a:pPr>
                <a:spcAft>
                  <a:spcPts val="500"/>
                </a:spcAft>
              </a:pPr>
              <a:r>
                <a:rPr lang="en-GB" sz="1100" dirty="0">
                  <a:latin typeface="Montserrat" panose="00000500000000000000" pitchFamily="2" charset="0"/>
                </a:rPr>
                <a:t>Help with </a:t>
              </a:r>
              <a:r>
                <a:rPr lang="en-GB" sz="1100" b="1" dirty="0">
                  <a:solidFill>
                    <a:srgbClr val="4D6C75"/>
                  </a:solidFill>
                  <a:latin typeface="Montserrat" panose="00000500000000000000" pitchFamily="2" charset="0"/>
                </a:rPr>
                <a:t>cross examining </a:t>
              </a:r>
              <a:r>
                <a:rPr lang="en-GB" sz="1100" dirty="0">
                  <a:latin typeface="Montserrat" panose="00000500000000000000" pitchFamily="2" charset="0"/>
                </a:rPr>
                <a:t>plans towards</a:t>
              </a:r>
              <a:r>
                <a:rPr lang="en-GB" sz="1100" b="1" dirty="0">
                  <a:solidFill>
                    <a:srgbClr val="4D6C75"/>
                  </a:solidFill>
                  <a:latin typeface="Montserrat" panose="00000500000000000000" pitchFamily="2" charset="0"/>
                </a:rPr>
                <a:t> </a:t>
              </a:r>
              <a:r>
                <a:rPr lang="en-GB" sz="1100" dirty="0">
                  <a:latin typeface="Montserrat" panose="00000500000000000000" pitchFamily="2" charset="0"/>
                </a:rPr>
                <a:t>engineering workflows. Treated as an </a:t>
              </a:r>
              <a:r>
                <a:rPr lang="en-GB" sz="1100" b="1" dirty="0">
                  <a:solidFill>
                    <a:srgbClr val="4D6C75"/>
                  </a:solidFill>
                  <a:latin typeface="Montserrat" panose="00000500000000000000" pitchFamily="2" charset="0"/>
                </a:rPr>
                <a:t>assistant</a:t>
              </a:r>
              <a:r>
                <a:rPr lang="en-GB" sz="1100" dirty="0">
                  <a:latin typeface="Montserrat" panose="00000500000000000000" pitchFamily="2" charset="0"/>
                </a:rPr>
                <a:t> who offers alternative suggestions when extra domain knowledge is insightful.</a:t>
              </a:r>
            </a:p>
            <a:p>
              <a:pPr>
                <a:spcAft>
                  <a:spcPts val="500"/>
                </a:spcAft>
              </a:pPr>
              <a:r>
                <a:rPr lang="en-GB" sz="1100" i="1" dirty="0">
                  <a:latin typeface="Montserrat" panose="00000500000000000000" pitchFamily="2" charset="0"/>
                </a:rPr>
                <a:t>E.g. Informing me about Time Travel when discussing options for Snowflake version control.</a:t>
              </a:r>
            </a:p>
          </p:txBody>
        </p:sp>
      </p:grpSp>
      <p:sp>
        <p:nvSpPr>
          <p:cNvPr id="25" name="Heading Bar">
            <a:extLst>
              <a:ext uri="{FF2B5EF4-FFF2-40B4-BE49-F238E27FC236}">
                <a16:creationId xmlns:a16="http://schemas.microsoft.com/office/drawing/2014/main" id="{6D4EA1E0-91EE-1CB7-3F26-01C19F7E1208}"/>
              </a:ext>
            </a:extLst>
          </p:cNvPr>
          <p:cNvSpPr/>
          <p:nvPr/>
        </p:nvSpPr>
        <p:spPr>
          <a:xfrm>
            <a:off x="2092177" y="3602977"/>
            <a:ext cx="92959" cy="733635"/>
          </a:xfrm>
          <a:prstGeom prst="rect">
            <a:avLst/>
          </a:prstGeom>
          <a:solidFill>
            <a:srgbClr val="B32131"/>
          </a:solidFill>
          <a:ln>
            <a:noFill/>
          </a:ln>
        </p:spPr>
        <p:txBody>
          <a:bodyPr rtlCol="0" anchor="ctr"/>
          <a:lstStyle/>
          <a:p>
            <a:pPr algn="ctr"/>
            <a:endParaRPr lang="en-GB" dirty="0"/>
          </a:p>
        </p:txBody>
      </p:sp>
      <p:grpSp>
        <p:nvGrpSpPr>
          <p:cNvPr id="30" name="Group 29">
            <a:extLst>
              <a:ext uri="{FF2B5EF4-FFF2-40B4-BE49-F238E27FC236}">
                <a16:creationId xmlns:a16="http://schemas.microsoft.com/office/drawing/2014/main" id="{6F20EB6C-DE1D-1988-0B30-9B5911FEE637}"/>
              </a:ext>
            </a:extLst>
          </p:cNvPr>
          <p:cNvGrpSpPr/>
          <p:nvPr/>
        </p:nvGrpSpPr>
        <p:grpSpPr>
          <a:xfrm>
            <a:off x="2372851" y="5082705"/>
            <a:ext cx="4236265" cy="1195302"/>
            <a:chOff x="2372851" y="1629875"/>
            <a:chExt cx="4236265" cy="1195302"/>
          </a:xfrm>
        </p:grpSpPr>
        <p:sp>
          <p:nvSpPr>
            <p:cNvPr id="31" name="Contents Heading">
              <a:extLst>
                <a:ext uri="{FF2B5EF4-FFF2-40B4-BE49-F238E27FC236}">
                  <a16:creationId xmlns:a16="http://schemas.microsoft.com/office/drawing/2014/main" id="{3EF672E4-C476-EE7A-1414-204FE882E61C}"/>
                </a:ext>
              </a:extLst>
            </p:cNvPr>
            <p:cNvSpPr txBox="1"/>
            <p:nvPr/>
          </p:nvSpPr>
          <p:spPr>
            <a:xfrm>
              <a:off x="2372851" y="1629875"/>
              <a:ext cx="4236265" cy="461665"/>
            </a:xfrm>
            <a:prstGeom prst="rect">
              <a:avLst/>
            </a:prstGeom>
            <a:noFill/>
          </p:spPr>
          <p:txBody>
            <a:bodyPr wrap="square" rtlCol="0" anchor="ctr">
              <a:noAutofit/>
            </a:bodyPr>
            <a:lstStyle/>
            <a:p>
              <a:r>
                <a:rPr lang="en-GB" sz="2400" dirty="0">
                  <a:solidFill>
                    <a:srgbClr val="DC2C3E"/>
                  </a:solidFill>
                  <a:latin typeface="Montserrat SemiBold" panose="00000700000000000000" pitchFamily="2" charset="0"/>
                </a:rPr>
                <a:t>Copilot</a:t>
              </a:r>
            </a:p>
          </p:txBody>
        </p:sp>
        <p:sp>
          <p:nvSpPr>
            <p:cNvPr id="32" name="Checklist">
              <a:extLst>
                <a:ext uri="{FF2B5EF4-FFF2-40B4-BE49-F238E27FC236}">
                  <a16:creationId xmlns:a16="http://schemas.microsoft.com/office/drawing/2014/main" id="{62208150-D2B0-9F18-24F4-D06B7EA438A7}"/>
                </a:ext>
              </a:extLst>
            </p:cNvPr>
            <p:cNvSpPr txBox="1"/>
            <p:nvPr/>
          </p:nvSpPr>
          <p:spPr>
            <a:xfrm>
              <a:off x="2401049" y="2091541"/>
              <a:ext cx="4208067" cy="733636"/>
            </a:xfrm>
            <a:prstGeom prst="rect">
              <a:avLst/>
            </a:prstGeom>
            <a:noFill/>
          </p:spPr>
          <p:txBody>
            <a:bodyPr wrap="square" rtlCol="0">
              <a:noAutofit/>
            </a:bodyPr>
            <a:lstStyle/>
            <a:p>
              <a:pPr>
                <a:spcAft>
                  <a:spcPts val="500"/>
                </a:spcAft>
              </a:pPr>
              <a:r>
                <a:rPr lang="en-GB" sz="1100" dirty="0">
                  <a:latin typeface="Montserrat" panose="00000500000000000000" pitchFamily="2" charset="0"/>
                </a:rPr>
                <a:t>Assist with </a:t>
              </a:r>
              <a:r>
                <a:rPr lang="en-GB" sz="1100" b="1" dirty="0">
                  <a:solidFill>
                    <a:srgbClr val="4D6C75"/>
                  </a:solidFill>
                  <a:latin typeface="Montserrat" panose="00000500000000000000" pitchFamily="2" charset="0"/>
                </a:rPr>
                <a:t>complex visual layout </a:t>
              </a:r>
              <a:r>
                <a:rPr lang="en-GB" sz="1100" dirty="0">
                  <a:latin typeface="Montserrat" panose="00000500000000000000" pitchFamily="2" charset="0"/>
                </a:rPr>
                <a:t>and design of select slides alongside asset generation. </a:t>
              </a:r>
            </a:p>
            <a:p>
              <a:pPr>
                <a:spcAft>
                  <a:spcPts val="500"/>
                </a:spcAft>
              </a:pPr>
              <a:r>
                <a:rPr lang="en-GB" sz="1100" i="1" dirty="0">
                  <a:latin typeface="Montserrat" panose="00000500000000000000" pitchFamily="2" charset="0"/>
                </a:rPr>
                <a:t>E.g. Slide 3’s annotation layout, slide 8’s curved dotted lines, and slide 18’s split donut shapes.</a:t>
              </a:r>
            </a:p>
          </p:txBody>
        </p:sp>
      </p:grpSp>
      <p:sp>
        <p:nvSpPr>
          <p:cNvPr id="33" name="Heading Bar">
            <a:extLst>
              <a:ext uri="{FF2B5EF4-FFF2-40B4-BE49-F238E27FC236}">
                <a16:creationId xmlns:a16="http://schemas.microsoft.com/office/drawing/2014/main" id="{C7B94A04-38E4-FC4E-F02A-1EC6494E5D81}"/>
              </a:ext>
            </a:extLst>
          </p:cNvPr>
          <p:cNvSpPr/>
          <p:nvPr/>
        </p:nvSpPr>
        <p:spPr>
          <a:xfrm>
            <a:off x="2092177" y="5329392"/>
            <a:ext cx="92959" cy="733635"/>
          </a:xfrm>
          <a:prstGeom prst="rect">
            <a:avLst/>
          </a:prstGeom>
          <a:solidFill>
            <a:srgbClr val="B32131"/>
          </a:solidFill>
          <a:ln>
            <a:noFill/>
          </a:ln>
        </p:spPr>
        <p:txBody>
          <a:bodyPr rtlCol="0" anchor="ctr"/>
          <a:lstStyle/>
          <a:p>
            <a:pPr algn="ctr"/>
            <a:endParaRPr lang="en-GB" dirty="0"/>
          </a:p>
        </p:txBody>
      </p:sp>
      <p:grpSp>
        <p:nvGrpSpPr>
          <p:cNvPr id="44" name="Group 43">
            <a:extLst>
              <a:ext uri="{FF2B5EF4-FFF2-40B4-BE49-F238E27FC236}">
                <a16:creationId xmlns:a16="http://schemas.microsoft.com/office/drawing/2014/main" id="{A17F890E-7839-25A2-00A6-FEA7E82B9BE3}"/>
              </a:ext>
            </a:extLst>
          </p:cNvPr>
          <p:cNvGrpSpPr>
            <a:grpSpLocks noChangeAspect="1"/>
          </p:cNvGrpSpPr>
          <p:nvPr/>
        </p:nvGrpSpPr>
        <p:grpSpPr>
          <a:xfrm>
            <a:off x="7204099" y="1408556"/>
            <a:ext cx="3006182" cy="1644265"/>
            <a:chOff x="6355863" y="3689027"/>
            <a:chExt cx="5345694" cy="2923888"/>
          </a:xfrm>
        </p:grpSpPr>
        <p:sp>
          <p:nvSpPr>
            <p:cNvPr id="34" name="Code Card">
              <a:extLst>
                <a:ext uri="{FF2B5EF4-FFF2-40B4-BE49-F238E27FC236}">
                  <a16:creationId xmlns:a16="http://schemas.microsoft.com/office/drawing/2014/main" id="{A9D5D552-B677-BF70-E0ED-59BE8393B385}"/>
                </a:ext>
              </a:extLst>
            </p:cNvPr>
            <p:cNvSpPr/>
            <p:nvPr/>
          </p:nvSpPr>
          <p:spPr>
            <a:xfrm>
              <a:off x="6355863" y="3689027"/>
              <a:ext cx="5345694" cy="2923888"/>
            </a:xfrm>
            <a:prstGeom prst="roundRect">
              <a:avLst>
                <a:gd name="adj" fmla="val 3500"/>
              </a:avLst>
            </a:prstGeom>
            <a:solidFill>
              <a:schemeClr val="bg1"/>
            </a:solidFill>
            <a:ln w="9525">
              <a:noFill/>
            </a:ln>
            <a:effectLst>
              <a:outerShdw blurRad="80000" dist="30000" dir="5400000" rotWithShape="0">
                <a:srgbClr val="000000">
                  <a:alpha val="28000"/>
                </a:srgbClr>
              </a:outerShdw>
            </a:effectLst>
          </p:spPr>
          <p:txBody>
            <a:bodyPr rtlCol="0" anchor="ctr"/>
            <a:lstStyle/>
            <a:p>
              <a:pPr algn="ctr"/>
              <a:endParaRPr lang="en-GB" dirty="0"/>
            </a:p>
          </p:txBody>
        </p:sp>
        <p:cxnSp>
          <p:nvCxnSpPr>
            <p:cNvPr id="35" name="Chrome Divider">
              <a:extLst>
                <a:ext uri="{FF2B5EF4-FFF2-40B4-BE49-F238E27FC236}">
                  <a16:creationId xmlns:a16="http://schemas.microsoft.com/office/drawing/2014/main" id="{7D3F5E7F-533C-23BD-3673-D07CB55D0C51}"/>
                </a:ext>
              </a:extLst>
            </p:cNvPr>
            <p:cNvCxnSpPr/>
            <p:nvPr/>
          </p:nvCxnSpPr>
          <p:spPr>
            <a:xfrm>
              <a:off x="6355863" y="3860325"/>
              <a:ext cx="5345694" cy="0"/>
            </a:xfrm>
            <a:prstGeom prst="line">
              <a:avLst/>
            </a:prstGeom>
            <a:ln w="9525">
              <a:solidFill>
                <a:schemeClr val="bg2"/>
              </a:solidFill>
            </a:ln>
          </p:spPr>
        </p:cxnSp>
        <p:sp>
          <p:nvSpPr>
            <p:cNvPr id="36" name="Dot Red">
              <a:extLst>
                <a:ext uri="{FF2B5EF4-FFF2-40B4-BE49-F238E27FC236}">
                  <a16:creationId xmlns:a16="http://schemas.microsoft.com/office/drawing/2014/main" id="{709EB81D-4D31-AB14-4ACF-C3A3F9108ADC}"/>
                </a:ext>
              </a:extLst>
            </p:cNvPr>
            <p:cNvSpPr/>
            <p:nvPr/>
          </p:nvSpPr>
          <p:spPr>
            <a:xfrm>
              <a:off x="6479907" y="3742189"/>
              <a:ext cx="64975" cy="64975"/>
            </a:xfrm>
            <a:prstGeom prst="ellipse">
              <a:avLst/>
            </a:prstGeom>
            <a:solidFill>
              <a:srgbClr val="FF5F56"/>
            </a:solidFill>
            <a:ln>
              <a:noFill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37" name="Dot Yellow">
              <a:extLst>
                <a:ext uri="{FF2B5EF4-FFF2-40B4-BE49-F238E27FC236}">
                  <a16:creationId xmlns:a16="http://schemas.microsoft.com/office/drawing/2014/main" id="{FBBC2425-017D-A585-612E-080BA2697DDC}"/>
                </a:ext>
              </a:extLst>
            </p:cNvPr>
            <p:cNvSpPr/>
            <p:nvPr/>
          </p:nvSpPr>
          <p:spPr>
            <a:xfrm>
              <a:off x="6586230" y="3742189"/>
              <a:ext cx="64975" cy="64975"/>
            </a:xfrm>
            <a:prstGeom prst="ellipse">
              <a:avLst/>
            </a:prstGeom>
            <a:solidFill>
              <a:srgbClr val="FFBD2E"/>
            </a:solidFill>
            <a:ln>
              <a:noFill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38" name="Dot Green">
              <a:extLst>
                <a:ext uri="{FF2B5EF4-FFF2-40B4-BE49-F238E27FC236}">
                  <a16:creationId xmlns:a16="http://schemas.microsoft.com/office/drawing/2014/main" id="{78B9BC63-2B1E-AAD8-E52F-ADDEF3C32F16}"/>
                </a:ext>
              </a:extLst>
            </p:cNvPr>
            <p:cNvSpPr/>
            <p:nvPr/>
          </p:nvSpPr>
          <p:spPr>
            <a:xfrm>
              <a:off x="6692553" y="3742189"/>
              <a:ext cx="64975" cy="64975"/>
            </a:xfrm>
            <a:prstGeom prst="ellipse">
              <a:avLst/>
            </a:prstGeom>
            <a:solidFill>
              <a:srgbClr val="27C93F"/>
            </a:solidFill>
            <a:ln>
              <a:noFill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39" name="Filename">
              <a:extLst>
                <a:ext uri="{FF2B5EF4-FFF2-40B4-BE49-F238E27FC236}">
                  <a16:creationId xmlns:a16="http://schemas.microsoft.com/office/drawing/2014/main" id="{91B02F1E-8D2E-C34D-3D3D-C3CA9BC6C563}"/>
                </a:ext>
              </a:extLst>
            </p:cNvPr>
            <p:cNvSpPr txBox="1"/>
            <p:nvPr/>
          </p:nvSpPr>
          <p:spPr>
            <a:xfrm>
              <a:off x="6857945" y="3700842"/>
              <a:ext cx="2953422" cy="153577"/>
            </a:xfrm>
            <a:prstGeom prst="rect">
              <a:avLst/>
            </a:prstGeom>
            <a:noFill/>
          </p:spPr>
          <p:txBody>
            <a:bodyPr wrap="square" rtlCol="0" anchor="ctr">
              <a:noAutofit/>
            </a:bodyPr>
            <a:lstStyle/>
            <a:p>
              <a:r>
                <a:rPr lang="en-GB" sz="700" dirty="0" err="1">
                  <a:solidFill>
                    <a:srgbClr val="8B9BB0"/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Sample_code.ipynb</a:t>
              </a:r>
              <a:endParaRPr lang="en-GB" sz="700" dirty="0">
                <a:solidFill>
                  <a:srgbClr val="8B9BB0"/>
                </a:solidFill>
                <a:latin typeface="Consolas" panose="020B0609020204030204" pitchFamily="49" charset="0"/>
                <a:cs typeface="Consolas" panose="020B0609020204030204" pitchFamily="49" charset="0"/>
              </a:endParaRPr>
            </a:p>
          </p:txBody>
        </p:sp>
        <p:grpSp>
          <p:nvGrpSpPr>
            <p:cNvPr id="40" name="Group 39">
              <a:extLst>
                <a:ext uri="{FF2B5EF4-FFF2-40B4-BE49-F238E27FC236}">
                  <a16:creationId xmlns:a16="http://schemas.microsoft.com/office/drawing/2014/main" id="{CDABDD80-4747-B006-3C83-6860E2542EB9}"/>
                </a:ext>
              </a:extLst>
            </p:cNvPr>
            <p:cNvGrpSpPr>
              <a:grpSpLocks noChangeAspect="1"/>
            </p:cNvGrpSpPr>
            <p:nvPr/>
          </p:nvGrpSpPr>
          <p:grpSpPr>
            <a:xfrm>
              <a:off x="6491425" y="4031624"/>
              <a:ext cx="5080254" cy="2424816"/>
              <a:chOff x="1083512" y="1714184"/>
              <a:chExt cx="10624270" cy="5070986"/>
            </a:xfrm>
          </p:grpSpPr>
          <p:pic>
            <p:nvPicPr>
              <p:cNvPr id="41" name="Picture 40">
                <a:extLst>
                  <a:ext uri="{FF2B5EF4-FFF2-40B4-BE49-F238E27FC236}">
                    <a16:creationId xmlns:a16="http://schemas.microsoft.com/office/drawing/2014/main" id="{4AFB34A6-4892-A656-61C9-EF0A0B36ACC2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1085925" y="1714184"/>
                <a:ext cx="10621857" cy="2419688"/>
              </a:xfrm>
              <a:prstGeom prst="rect">
                <a:avLst/>
              </a:prstGeom>
            </p:spPr>
          </p:pic>
          <p:pic>
            <p:nvPicPr>
              <p:cNvPr id="42" name="Picture 41">
                <a:extLst>
                  <a:ext uri="{FF2B5EF4-FFF2-40B4-BE49-F238E27FC236}">
                    <a16:creationId xmlns:a16="http://schemas.microsoft.com/office/drawing/2014/main" id="{217B224A-84B8-9F21-ACD7-757CA46E1C0D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1091132" y="4327377"/>
                <a:ext cx="10602805" cy="2457793"/>
              </a:xfrm>
              <a:prstGeom prst="rect">
                <a:avLst/>
              </a:prstGeom>
            </p:spPr>
          </p:pic>
          <p:pic>
            <p:nvPicPr>
              <p:cNvPr id="43" name="Picture 42">
                <a:extLst>
                  <a:ext uri="{FF2B5EF4-FFF2-40B4-BE49-F238E27FC236}">
                    <a16:creationId xmlns:a16="http://schemas.microsoft.com/office/drawing/2014/main" id="{9A1333DA-5120-9155-4838-2A3639E6FF74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7"/>
              <a:srcRect t="17179" b="40781"/>
              <a:stretch>
                <a:fillRect/>
              </a:stretch>
            </p:blipFill>
            <p:spPr>
              <a:xfrm>
                <a:off x="1083512" y="4133872"/>
                <a:ext cx="10602805" cy="192233"/>
              </a:xfrm>
              <a:prstGeom prst="rect">
                <a:avLst/>
              </a:prstGeom>
            </p:spPr>
          </p:pic>
        </p:grpSp>
      </p:grpSp>
      <p:sp>
        <p:nvSpPr>
          <p:cNvPr id="45" name="Rectangle 44">
            <a:extLst>
              <a:ext uri="{FF2B5EF4-FFF2-40B4-BE49-F238E27FC236}">
                <a16:creationId xmlns:a16="http://schemas.microsoft.com/office/drawing/2014/main" id="{9462B69E-2129-7634-3781-7B7F967967B4}"/>
              </a:ext>
            </a:extLst>
          </p:cNvPr>
          <p:cNvSpPr/>
          <p:nvPr/>
        </p:nvSpPr>
        <p:spPr>
          <a:xfrm>
            <a:off x="7273856" y="1601217"/>
            <a:ext cx="2047944" cy="650315"/>
          </a:xfrm>
          <a:prstGeom prst="rect">
            <a:avLst/>
          </a:prstGeom>
          <a:solidFill>
            <a:srgbClr val="DC2C3E">
              <a:alpha val="2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46" name="Rectangle 45">
            <a:extLst>
              <a:ext uri="{FF2B5EF4-FFF2-40B4-BE49-F238E27FC236}">
                <a16:creationId xmlns:a16="http://schemas.microsoft.com/office/drawing/2014/main" id="{14BC724F-CB62-4048-A226-5BEC69905E1D}"/>
              </a:ext>
            </a:extLst>
          </p:cNvPr>
          <p:cNvSpPr/>
          <p:nvPr/>
        </p:nvSpPr>
        <p:spPr>
          <a:xfrm>
            <a:off x="7273855" y="2303573"/>
            <a:ext cx="2517095" cy="661253"/>
          </a:xfrm>
          <a:prstGeom prst="rect">
            <a:avLst/>
          </a:prstGeom>
          <a:solidFill>
            <a:srgbClr val="4D6C75">
              <a:alpha val="2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cxnSp>
        <p:nvCxnSpPr>
          <p:cNvPr id="50" name="Straight Connector 49">
            <a:extLst>
              <a:ext uri="{FF2B5EF4-FFF2-40B4-BE49-F238E27FC236}">
                <a16:creationId xmlns:a16="http://schemas.microsoft.com/office/drawing/2014/main" id="{63F7D118-B4E0-19B1-1874-6251D39844D2}"/>
              </a:ext>
            </a:extLst>
          </p:cNvPr>
          <p:cNvCxnSpPr>
            <a:cxnSpLocks/>
          </p:cNvCxnSpPr>
          <p:nvPr/>
        </p:nvCxnSpPr>
        <p:spPr>
          <a:xfrm>
            <a:off x="9352963" y="1915266"/>
            <a:ext cx="888481" cy="0"/>
          </a:xfrm>
          <a:prstGeom prst="line">
            <a:avLst/>
          </a:prstGeom>
          <a:ln>
            <a:prstDash val="sysDot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2" name="Straight Connector 51">
            <a:extLst>
              <a:ext uri="{FF2B5EF4-FFF2-40B4-BE49-F238E27FC236}">
                <a16:creationId xmlns:a16="http://schemas.microsoft.com/office/drawing/2014/main" id="{46C06F1A-B15E-F540-CAEF-6B0800FE3B3A}"/>
              </a:ext>
            </a:extLst>
          </p:cNvPr>
          <p:cNvCxnSpPr>
            <a:cxnSpLocks/>
          </p:cNvCxnSpPr>
          <p:nvPr/>
        </p:nvCxnSpPr>
        <p:spPr>
          <a:xfrm>
            <a:off x="9812443" y="2634198"/>
            <a:ext cx="426365" cy="1"/>
          </a:xfrm>
          <a:prstGeom prst="line">
            <a:avLst/>
          </a:prstGeom>
          <a:ln>
            <a:prstDash val="sysDot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4" name="TextBox 53">
            <a:extLst>
              <a:ext uri="{FF2B5EF4-FFF2-40B4-BE49-F238E27FC236}">
                <a16:creationId xmlns:a16="http://schemas.microsoft.com/office/drawing/2014/main" id="{6A3AB7EF-5C2C-DA11-4500-86F2F118CE0F}"/>
              </a:ext>
            </a:extLst>
          </p:cNvPr>
          <p:cNvSpPr txBox="1"/>
          <p:nvPr/>
        </p:nvSpPr>
        <p:spPr>
          <a:xfrm>
            <a:off x="10292901" y="1780364"/>
            <a:ext cx="1024725" cy="258128"/>
          </a:xfrm>
          <a:prstGeom prst="roundRect">
            <a:avLst>
              <a:gd name="adj" fmla="val 9000"/>
            </a:avLst>
          </a:prstGeom>
          <a:solidFill>
            <a:schemeClr val="bg1"/>
          </a:solidFill>
          <a:ln w="12700">
            <a:noFill/>
          </a:ln>
          <a:effectLst>
            <a:outerShdw blurRad="50800" dist="38100" dir="2700000" algn="tl" rotWithShape="0">
              <a:prstClr val="black">
                <a:alpha val="12000"/>
              </a:prstClr>
            </a:outerShdw>
          </a:effectLst>
        </p:spPr>
        <p:txBody>
          <a:bodyPr wrap="square" rtlCol="0">
            <a:spAutoFit/>
          </a:bodyPr>
          <a:lstStyle/>
          <a:p>
            <a:r>
              <a:rPr lang="en-GB" sz="1000" i="1" dirty="0" err="1">
                <a:latin typeface="Montserrat" panose="00000500000000000000" pitchFamily="2" charset="0"/>
              </a:rPr>
              <a:t>CoCo’s</a:t>
            </a:r>
            <a:r>
              <a:rPr lang="en-GB" sz="1000" i="1" dirty="0">
                <a:latin typeface="Montserrat" panose="00000500000000000000" pitchFamily="2" charset="0"/>
              </a:rPr>
              <a:t> code.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AF51687C-4953-B973-18C5-761FFAAC5752}"/>
              </a:ext>
            </a:extLst>
          </p:cNvPr>
          <p:cNvSpPr txBox="1"/>
          <p:nvPr/>
        </p:nvSpPr>
        <p:spPr>
          <a:xfrm>
            <a:off x="10287164" y="2343805"/>
            <a:ext cx="1351580" cy="580787"/>
          </a:xfrm>
          <a:prstGeom prst="roundRect">
            <a:avLst>
              <a:gd name="adj" fmla="val 9000"/>
            </a:avLst>
          </a:prstGeom>
          <a:solidFill>
            <a:schemeClr val="bg1"/>
          </a:solidFill>
          <a:ln w="12700">
            <a:noFill/>
          </a:ln>
          <a:effectLst>
            <a:outerShdw blurRad="50800" dist="38100" dir="2700000" algn="tl" rotWithShape="0">
              <a:prstClr val="black">
                <a:alpha val="12000"/>
              </a:prstClr>
            </a:outerShdw>
          </a:effectLst>
        </p:spPr>
        <p:txBody>
          <a:bodyPr wrap="square" rtlCol="0">
            <a:spAutoFit/>
          </a:bodyPr>
          <a:lstStyle/>
          <a:p>
            <a:r>
              <a:rPr lang="en-GB" sz="1000" i="1" dirty="0">
                <a:latin typeface="Montserrat" panose="00000500000000000000" pitchFamily="2" charset="0"/>
              </a:rPr>
              <a:t>My code based on </a:t>
            </a:r>
            <a:r>
              <a:rPr lang="en-GB" sz="1000" i="1" dirty="0" err="1">
                <a:latin typeface="Montserrat" panose="00000500000000000000" pitchFamily="2" charset="0"/>
              </a:rPr>
              <a:t>CoCo’s</a:t>
            </a:r>
            <a:r>
              <a:rPr lang="en-GB" sz="1000" i="1" dirty="0">
                <a:latin typeface="Montserrat" panose="00000500000000000000" pitchFamily="2" charset="0"/>
              </a:rPr>
              <a:t> implementation.</a:t>
            </a:r>
          </a:p>
        </p:txBody>
      </p:sp>
      <p:grpSp>
        <p:nvGrpSpPr>
          <p:cNvPr id="60" name="Group 59">
            <a:extLst>
              <a:ext uri="{FF2B5EF4-FFF2-40B4-BE49-F238E27FC236}">
                <a16:creationId xmlns:a16="http://schemas.microsoft.com/office/drawing/2014/main" id="{F9D561A1-01F9-A97B-8FD2-4500E7D61693}"/>
              </a:ext>
            </a:extLst>
          </p:cNvPr>
          <p:cNvGrpSpPr>
            <a:grpSpLocks noChangeAspect="1"/>
          </p:cNvGrpSpPr>
          <p:nvPr/>
        </p:nvGrpSpPr>
        <p:grpSpPr>
          <a:xfrm>
            <a:off x="7204099" y="3396844"/>
            <a:ext cx="1886360" cy="1409612"/>
            <a:chOff x="7131685" y="3789559"/>
            <a:chExt cx="2221278" cy="1659885"/>
          </a:xfrm>
        </p:grpSpPr>
        <p:sp>
          <p:nvSpPr>
            <p:cNvPr id="59" name="Code Card">
              <a:extLst>
                <a:ext uri="{FF2B5EF4-FFF2-40B4-BE49-F238E27FC236}">
                  <a16:creationId xmlns:a16="http://schemas.microsoft.com/office/drawing/2014/main" id="{B7D397EA-CF97-8CE9-EC3E-BD4F8EA85CDE}"/>
                </a:ext>
              </a:extLst>
            </p:cNvPr>
            <p:cNvSpPr/>
            <p:nvPr/>
          </p:nvSpPr>
          <p:spPr>
            <a:xfrm>
              <a:off x="7131685" y="3789559"/>
              <a:ext cx="2221278" cy="1659885"/>
            </a:xfrm>
            <a:prstGeom prst="roundRect">
              <a:avLst>
                <a:gd name="adj" fmla="val 3500"/>
              </a:avLst>
            </a:prstGeom>
            <a:solidFill>
              <a:schemeClr val="bg1"/>
            </a:solidFill>
            <a:ln w="9525">
              <a:noFill/>
            </a:ln>
            <a:effectLst>
              <a:outerShdw blurRad="80000" dist="30000" dir="5400000" rotWithShape="0">
                <a:srgbClr val="000000">
                  <a:alpha val="28000"/>
                </a:srgbClr>
              </a:outerShdw>
            </a:effectLst>
          </p:spPr>
          <p:txBody>
            <a:bodyPr rtlCol="0" anchor="ctr"/>
            <a:lstStyle/>
            <a:p>
              <a:pPr algn="ctr"/>
              <a:endParaRPr lang="en-GB" dirty="0"/>
            </a:p>
          </p:txBody>
        </p:sp>
        <p:pic>
          <p:nvPicPr>
            <p:cNvPr id="58" name="Picture 57">
              <a:extLst>
                <a:ext uri="{FF2B5EF4-FFF2-40B4-BE49-F238E27FC236}">
                  <a16:creationId xmlns:a16="http://schemas.microsoft.com/office/drawing/2014/main" id="{BEF757D5-8AEF-AE83-8D75-A9E47C9E4ADA}"/>
                </a:ext>
              </a:extLst>
            </p:cNvPr>
            <p:cNvPicPr>
              <a:picLocks noChangeAspect="1"/>
            </p:cNvPicPr>
            <p:nvPr/>
          </p:nvPicPr>
          <p:blipFill>
            <a:blip r:embed="rId8"/>
            <a:stretch>
              <a:fillRect/>
            </a:stretch>
          </p:blipFill>
          <p:spPr>
            <a:xfrm>
              <a:off x="7166331" y="3811788"/>
              <a:ext cx="2153298" cy="1611464"/>
            </a:xfrm>
            <a:prstGeom prst="rect">
              <a:avLst/>
            </a:prstGeom>
          </p:spPr>
        </p:pic>
      </p:grpSp>
      <p:sp>
        <p:nvSpPr>
          <p:cNvPr id="61" name="TextBox 60">
            <a:extLst>
              <a:ext uri="{FF2B5EF4-FFF2-40B4-BE49-F238E27FC236}">
                <a16:creationId xmlns:a16="http://schemas.microsoft.com/office/drawing/2014/main" id="{1041F5D4-FDF5-C3F5-4711-9E23CCCE1811}"/>
              </a:ext>
            </a:extLst>
          </p:cNvPr>
          <p:cNvSpPr txBox="1"/>
          <p:nvPr/>
        </p:nvSpPr>
        <p:spPr>
          <a:xfrm>
            <a:off x="9282757" y="3483199"/>
            <a:ext cx="1485736" cy="1226106"/>
          </a:xfrm>
          <a:prstGeom prst="roundRect">
            <a:avLst>
              <a:gd name="adj" fmla="val 9000"/>
            </a:avLst>
          </a:prstGeom>
          <a:solidFill>
            <a:schemeClr val="bg1"/>
          </a:solidFill>
          <a:ln w="12700">
            <a:noFill/>
          </a:ln>
          <a:effectLst>
            <a:outerShdw blurRad="50800" dist="38100" dir="2700000" algn="tl" rotWithShape="0">
              <a:prstClr val="black">
                <a:alpha val="12000"/>
              </a:prstClr>
            </a:outerShdw>
          </a:effectLst>
        </p:spPr>
        <p:txBody>
          <a:bodyPr wrap="square" rtlCol="0">
            <a:spAutoFit/>
          </a:bodyPr>
          <a:lstStyle/>
          <a:p>
            <a:pPr algn="ctr"/>
            <a:r>
              <a:rPr lang="en-GB" sz="1000" dirty="0">
                <a:latin typeface="Montserrat" panose="00000500000000000000" pitchFamily="2" charset="0"/>
              </a:rPr>
              <a:t>Response when informing me about Snowflake’s Time Travel when proposing to create a master copy database.</a:t>
            </a:r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6348D326-D303-AE79-47FC-917D89F02BA6}"/>
              </a:ext>
            </a:extLst>
          </p:cNvPr>
          <p:cNvSpPr txBox="1"/>
          <p:nvPr/>
        </p:nvSpPr>
        <p:spPr>
          <a:xfrm>
            <a:off x="7201241" y="5946678"/>
            <a:ext cx="4303444" cy="419457"/>
          </a:xfrm>
          <a:prstGeom prst="roundRect">
            <a:avLst>
              <a:gd name="adj" fmla="val 9000"/>
            </a:avLst>
          </a:prstGeom>
          <a:solidFill>
            <a:schemeClr val="bg1"/>
          </a:solidFill>
          <a:ln w="12700">
            <a:noFill/>
          </a:ln>
          <a:effectLst>
            <a:outerShdw blurRad="50800" dist="38100" dir="2700000" algn="tl" rotWithShape="0">
              <a:prstClr val="black">
                <a:alpha val="12000"/>
              </a:prstClr>
            </a:outerShdw>
          </a:effectLst>
        </p:spPr>
        <p:txBody>
          <a:bodyPr wrap="square" rtlCol="0">
            <a:spAutoFit/>
          </a:bodyPr>
          <a:lstStyle/>
          <a:p>
            <a:pPr algn="ctr"/>
            <a:r>
              <a:rPr lang="en-GB" sz="1000" i="1" dirty="0">
                <a:latin typeface="Montserrat" panose="00000500000000000000" pitchFamily="2" charset="0"/>
              </a:rPr>
              <a:t>Transforming to annotations w/ pins, to maintain consistent quality with other presentation slides.</a:t>
            </a:r>
          </a:p>
        </p:txBody>
      </p:sp>
      <p:grpSp>
        <p:nvGrpSpPr>
          <p:cNvPr id="82" name="Group 81">
            <a:extLst>
              <a:ext uri="{FF2B5EF4-FFF2-40B4-BE49-F238E27FC236}">
                <a16:creationId xmlns:a16="http://schemas.microsoft.com/office/drawing/2014/main" id="{CE4D9A7B-9161-7A1B-A989-E16414C23F63}"/>
              </a:ext>
            </a:extLst>
          </p:cNvPr>
          <p:cNvGrpSpPr>
            <a:grpSpLocks noChangeAspect="1"/>
          </p:cNvGrpSpPr>
          <p:nvPr/>
        </p:nvGrpSpPr>
        <p:grpSpPr>
          <a:xfrm>
            <a:off x="7204100" y="5168378"/>
            <a:ext cx="4303444" cy="708023"/>
            <a:chOff x="7204099" y="5076938"/>
            <a:chExt cx="5346425" cy="879619"/>
          </a:xfrm>
        </p:grpSpPr>
        <p:grpSp>
          <p:nvGrpSpPr>
            <p:cNvPr id="69" name="Group 68">
              <a:extLst>
                <a:ext uri="{FF2B5EF4-FFF2-40B4-BE49-F238E27FC236}">
                  <a16:creationId xmlns:a16="http://schemas.microsoft.com/office/drawing/2014/main" id="{5D7CFD74-93F7-F2EB-4149-CEA87ED73954}"/>
                </a:ext>
              </a:extLst>
            </p:cNvPr>
            <p:cNvGrpSpPr/>
            <p:nvPr/>
          </p:nvGrpSpPr>
          <p:grpSpPr>
            <a:xfrm>
              <a:off x="9009859" y="5082705"/>
              <a:ext cx="1734905" cy="873852"/>
              <a:chOff x="9114507" y="5337016"/>
              <a:chExt cx="1734905" cy="873852"/>
            </a:xfrm>
          </p:grpSpPr>
          <p:sp>
            <p:nvSpPr>
              <p:cNvPr id="68" name="Code Card">
                <a:extLst>
                  <a:ext uri="{FF2B5EF4-FFF2-40B4-BE49-F238E27FC236}">
                    <a16:creationId xmlns:a16="http://schemas.microsoft.com/office/drawing/2014/main" id="{F6291C07-CDC8-99E1-DF10-BA0115F9844E}"/>
                  </a:ext>
                </a:extLst>
              </p:cNvPr>
              <p:cNvSpPr/>
              <p:nvPr/>
            </p:nvSpPr>
            <p:spPr>
              <a:xfrm>
                <a:off x="9114507" y="5337016"/>
                <a:ext cx="1734905" cy="873852"/>
              </a:xfrm>
              <a:prstGeom prst="roundRect">
                <a:avLst>
                  <a:gd name="adj" fmla="val 3500"/>
                </a:avLst>
              </a:prstGeom>
              <a:solidFill>
                <a:schemeClr val="bg1"/>
              </a:solidFill>
              <a:ln w="9525">
                <a:noFill/>
              </a:ln>
              <a:effectLst>
                <a:outerShdw blurRad="80000" dist="30000" dir="5400000" rotWithShape="0">
                  <a:srgbClr val="000000">
                    <a:alpha val="28000"/>
                  </a:srgbClr>
                </a:outerShdw>
              </a:effectLst>
            </p:spPr>
            <p:txBody>
              <a:bodyPr rtlCol="0" anchor="ctr"/>
              <a:lstStyle/>
              <a:p>
                <a:pPr algn="ctr"/>
                <a:endParaRPr lang="en-GB" dirty="0"/>
              </a:p>
            </p:txBody>
          </p:sp>
          <p:pic>
            <p:nvPicPr>
              <p:cNvPr id="63" name="Picture 62">
                <a:extLst>
                  <a:ext uri="{FF2B5EF4-FFF2-40B4-BE49-F238E27FC236}">
                    <a16:creationId xmlns:a16="http://schemas.microsoft.com/office/drawing/2014/main" id="{3D3CC559-176D-789A-9F3F-D4FBF8CC80AC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9"/>
              <a:srcRect t="6570" b="11442"/>
              <a:stretch>
                <a:fillRect/>
              </a:stretch>
            </p:blipFill>
            <p:spPr>
              <a:xfrm>
                <a:off x="9152210" y="5360117"/>
                <a:ext cx="1682729" cy="766841"/>
              </a:xfrm>
              <a:prstGeom prst="rect">
                <a:avLst/>
              </a:prstGeom>
            </p:spPr>
          </p:pic>
        </p:grpSp>
        <p:grpSp>
          <p:nvGrpSpPr>
            <p:cNvPr id="70" name="Group 69">
              <a:extLst>
                <a:ext uri="{FF2B5EF4-FFF2-40B4-BE49-F238E27FC236}">
                  <a16:creationId xmlns:a16="http://schemas.microsoft.com/office/drawing/2014/main" id="{A59828C9-589D-AA8C-6509-15A8DDA98F20}"/>
                </a:ext>
              </a:extLst>
            </p:cNvPr>
            <p:cNvGrpSpPr/>
            <p:nvPr/>
          </p:nvGrpSpPr>
          <p:grpSpPr>
            <a:xfrm>
              <a:off x="7204099" y="5079865"/>
              <a:ext cx="1734905" cy="873852"/>
              <a:chOff x="7204099" y="5329304"/>
              <a:chExt cx="1734905" cy="873852"/>
            </a:xfrm>
          </p:grpSpPr>
          <p:sp>
            <p:nvSpPr>
              <p:cNvPr id="67" name="Code Card">
                <a:extLst>
                  <a:ext uri="{FF2B5EF4-FFF2-40B4-BE49-F238E27FC236}">
                    <a16:creationId xmlns:a16="http://schemas.microsoft.com/office/drawing/2014/main" id="{55126446-D02B-4BE5-4813-2B25401058EC}"/>
                  </a:ext>
                </a:extLst>
              </p:cNvPr>
              <p:cNvSpPr/>
              <p:nvPr/>
            </p:nvSpPr>
            <p:spPr>
              <a:xfrm>
                <a:off x="7204099" y="5329304"/>
                <a:ext cx="1734905" cy="873852"/>
              </a:xfrm>
              <a:prstGeom prst="roundRect">
                <a:avLst>
                  <a:gd name="adj" fmla="val 3500"/>
                </a:avLst>
              </a:prstGeom>
              <a:solidFill>
                <a:schemeClr val="bg1"/>
              </a:solidFill>
              <a:ln w="9525">
                <a:noFill/>
              </a:ln>
              <a:effectLst>
                <a:outerShdw blurRad="80000" dist="30000" dir="5400000" rotWithShape="0">
                  <a:srgbClr val="000000">
                    <a:alpha val="28000"/>
                  </a:srgbClr>
                </a:outerShdw>
              </a:effectLst>
            </p:spPr>
            <p:txBody>
              <a:bodyPr rtlCol="0" anchor="ctr"/>
              <a:lstStyle/>
              <a:p>
                <a:pPr algn="ctr"/>
                <a:endParaRPr lang="en-GB" dirty="0"/>
              </a:p>
            </p:txBody>
          </p:sp>
          <p:pic>
            <p:nvPicPr>
              <p:cNvPr id="65" name="Picture 64">
                <a:extLst>
                  <a:ext uri="{FF2B5EF4-FFF2-40B4-BE49-F238E27FC236}">
                    <a16:creationId xmlns:a16="http://schemas.microsoft.com/office/drawing/2014/main" id="{B317341F-D432-D6EB-5663-68129FCD6D79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0"/>
              <a:srcRect t="5301" b="4184"/>
              <a:stretch>
                <a:fillRect/>
              </a:stretch>
            </p:blipFill>
            <p:spPr>
              <a:xfrm>
                <a:off x="7231139" y="5348284"/>
                <a:ext cx="1682729" cy="842962"/>
              </a:xfrm>
              <a:prstGeom prst="rect">
                <a:avLst/>
              </a:prstGeom>
            </p:spPr>
          </p:pic>
        </p:grpSp>
        <p:sp>
          <p:nvSpPr>
            <p:cNvPr id="72" name="Freeform 15">
              <a:extLst>
                <a:ext uri="{FF2B5EF4-FFF2-40B4-BE49-F238E27FC236}">
                  <a16:creationId xmlns:a16="http://schemas.microsoft.com/office/drawing/2014/main" id="{95F3360A-8177-8342-6D78-7ED666F12E8E}"/>
                </a:ext>
              </a:extLst>
            </p:cNvPr>
            <p:cNvSpPr/>
            <p:nvPr/>
          </p:nvSpPr>
          <p:spPr>
            <a:xfrm rot="5400000">
              <a:off x="8861851" y="5501643"/>
              <a:ext cx="200025" cy="45719"/>
            </a:xfrm>
            <a:custGeom>
              <a:avLst/>
              <a:gdLst/>
              <a:ahLst/>
              <a:cxnLst/>
              <a:rect l="l" t="t" r="r" b="b"/>
              <a:pathLst>
                <a:path w="301878" h="96473">
                  <a:moveTo>
                    <a:pt x="186448" y="9783"/>
                  </a:moveTo>
                  <a:lnTo>
                    <a:pt x="296320" y="75299"/>
                  </a:lnTo>
                  <a:cubicBezTo>
                    <a:pt x="300722" y="77924"/>
                    <a:pt x="302829" y="83166"/>
                    <a:pt x="301468" y="88108"/>
                  </a:cubicBezTo>
                  <a:cubicBezTo>
                    <a:pt x="300106" y="93049"/>
                    <a:pt x="295612" y="96473"/>
                    <a:pt x="290486" y="96473"/>
                  </a:cubicBezTo>
                  <a:lnTo>
                    <a:pt x="11392" y="96473"/>
                  </a:lnTo>
                  <a:cubicBezTo>
                    <a:pt x="6266" y="96473"/>
                    <a:pt x="1772" y="93049"/>
                    <a:pt x="411" y="88108"/>
                  </a:cubicBezTo>
                  <a:cubicBezTo>
                    <a:pt x="-951" y="83166"/>
                    <a:pt x="1156" y="77924"/>
                    <a:pt x="5558" y="75299"/>
                  </a:cubicBezTo>
                  <a:lnTo>
                    <a:pt x="115430" y="9783"/>
                  </a:lnTo>
                  <a:cubicBezTo>
                    <a:pt x="137306" y="-3262"/>
                    <a:pt x="164573" y="-3262"/>
                    <a:pt x="186448" y="9783"/>
                  </a:cubicBezTo>
                  <a:close/>
                </a:path>
              </a:pathLst>
            </a:custGeom>
            <a:solidFill>
              <a:srgbClr val="DC2C3E"/>
            </a:solidFill>
          </p:spPr>
          <p:txBody>
            <a:bodyPr/>
            <a:lstStyle/>
            <a:p>
              <a:endParaRPr lang="en-GB" dirty="0"/>
            </a:p>
          </p:txBody>
        </p:sp>
        <p:grpSp>
          <p:nvGrpSpPr>
            <p:cNvPr id="80" name="Group 79">
              <a:extLst>
                <a:ext uri="{FF2B5EF4-FFF2-40B4-BE49-F238E27FC236}">
                  <a16:creationId xmlns:a16="http://schemas.microsoft.com/office/drawing/2014/main" id="{01C172BC-59FA-7BE6-E42B-5E7F3AB5777F}"/>
                </a:ext>
              </a:extLst>
            </p:cNvPr>
            <p:cNvGrpSpPr/>
            <p:nvPr/>
          </p:nvGrpSpPr>
          <p:grpSpPr>
            <a:xfrm>
              <a:off x="10815619" y="5076938"/>
              <a:ext cx="1734905" cy="873852"/>
              <a:chOff x="6517777" y="4966790"/>
              <a:chExt cx="1734905" cy="873852"/>
            </a:xfrm>
          </p:grpSpPr>
          <p:sp>
            <p:nvSpPr>
              <p:cNvPr id="79" name="Code Card">
                <a:extLst>
                  <a:ext uri="{FF2B5EF4-FFF2-40B4-BE49-F238E27FC236}">
                    <a16:creationId xmlns:a16="http://schemas.microsoft.com/office/drawing/2014/main" id="{1D961686-A927-FBF5-FD39-C97AB7EC9B9C}"/>
                  </a:ext>
                </a:extLst>
              </p:cNvPr>
              <p:cNvSpPr/>
              <p:nvPr/>
            </p:nvSpPr>
            <p:spPr>
              <a:xfrm>
                <a:off x="6517777" y="4966790"/>
                <a:ext cx="1734905" cy="873852"/>
              </a:xfrm>
              <a:prstGeom prst="roundRect">
                <a:avLst>
                  <a:gd name="adj" fmla="val 3500"/>
                </a:avLst>
              </a:prstGeom>
              <a:solidFill>
                <a:schemeClr val="bg1"/>
              </a:solidFill>
              <a:ln w="9525">
                <a:noFill/>
              </a:ln>
              <a:effectLst>
                <a:outerShdw blurRad="80000" dist="30000" dir="5400000" rotWithShape="0">
                  <a:srgbClr val="000000">
                    <a:alpha val="28000"/>
                  </a:srgbClr>
                </a:outerShdw>
              </a:effectLst>
            </p:spPr>
            <p:txBody>
              <a:bodyPr rtlCol="0" anchor="ctr"/>
              <a:lstStyle/>
              <a:p>
                <a:pPr algn="ctr"/>
                <a:endParaRPr lang="en-GB" dirty="0"/>
              </a:p>
            </p:txBody>
          </p:sp>
          <p:pic>
            <p:nvPicPr>
              <p:cNvPr id="74" name="Picture 73">
                <a:extLst>
                  <a:ext uri="{FF2B5EF4-FFF2-40B4-BE49-F238E27FC236}">
                    <a16:creationId xmlns:a16="http://schemas.microsoft.com/office/drawing/2014/main" id="{DA752ADD-823E-C210-4931-85781E392A23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6529682" y="4987603"/>
                <a:ext cx="1711823" cy="837218"/>
              </a:xfrm>
              <a:prstGeom prst="rect">
                <a:avLst/>
              </a:prstGeom>
            </p:spPr>
          </p:pic>
        </p:grpSp>
        <p:sp>
          <p:nvSpPr>
            <p:cNvPr id="81" name="Freeform 15">
              <a:extLst>
                <a:ext uri="{FF2B5EF4-FFF2-40B4-BE49-F238E27FC236}">
                  <a16:creationId xmlns:a16="http://schemas.microsoft.com/office/drawing/2014/main" id="{5598A744-86A9-F0E6-9650-0AA774BCCCE0}"/>
                </a:ext>
              </a:extLst>
            </p:cNvPr>
            <p:cNvSpPr/>
            <p:nvPr/>
          </p:nvSpPr>
          <p:spPr>
            <a:xfrm rot="5400000">
              <a:off x="10667981" y="5501099"/>
              <a:ext cx="200025" cy="45719"/>
            </a:xfrm>
            <a:custGeom>
              <a:avLst/>
              <a:gdLst/>
              <a:ahLst/>
              <a:cxnLst/>
              <a:rect l="l" t="t" r="r" b="b"/>
              <a:pathLst>
                <a:path w="301878" h="96473">
                  <a:moveTo>
                    <a:pt x="186448" y="9783"/>
                  </a:moveTo>
                  <a:lnTo>
                    <a:pt x="296320" y="75299"/>
                  </a:lnTo>
                  <a:cubicBezTo>
                    <a:pt x="300722" y="77924"/>
                    <a:pt x="302829" y="83166"/>
                    <a:pt x="301468" y="88108"/>
                  </a:cubicBezTo>
                  <a:cubicBezTo>
                    <a:pt x="300106" y="93049"/>
                    <a:pt x="295612" y="96473"/>
                    <a:pt x="290486" y="96473"/>
                  </a:cubicBezTo>
                  <a:lnTo>
                    <a:pt x="11392" y="96473"/>
                  </a:lnTo>
                  <a:cubicBezTo>
                    <a:pt x="6266" y="96473"/>
                    <a:pt x="1772" y="93049"/>
                    <a:pt x="411" y="88108"/>
                  </a:cubicBezTo>
                  <a:cubicBezTo>
                    <a:pt x="-951" y="83166"/>
                    <a:pt x="1156" y="77924"/>
                    <a:pt x="5558" y="75299"/>
                  </a:cubicBezTo>
                  <a:lnTo>
                    <a:pt x="115430" y="9783"/>
                  </a:lnTo>
                  <a:cubicBezTo>
                    <a:pt x="137306" y="-3262"/>
                    <a:pt x="164573" y="-3262"/>
                    <a:pt x="186448" y="9783"/>
                  </a:cubicBezTo>
                  <a:close/>
                </a:path>
              </a:pathLst>
            </a:custGeom>
            <a:solidFill>
              <a:srgbClr val="DC2C3E"/>
            </a:solidFill>
          </p:spPr>
          <p:txBody>
            <a:bodyPr/>
            <a:lstStyle/>
            <a:p>
              <a:endParaRPr lang="en-GB" dirty="0"/>
            </a:p>
          </p:txBody>
        </p:sp>
      </p:grpSp>
    </p:spTree>
    <p:extLst>
      <p:ext uri="{BB962C8B-B14F-4D97-AF65-F5344CB8AC3E}">
        <p14:creationId xmlns:p14="http://schemas.microsoft.com/office/powerpoint/2010/main" val="87850521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7A6253D-4351-D436-F7F7-FE084F5526F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242C5780-C56B-BAD1-9DF5-5BEE5EC0AA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en-GB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Montserrat SemiBold" panose="00000700000000000000" pitchFamily="2" charset="0"/>
              </a:rPr>
              <a:t>THANK</a:t>
            </a:r>
          </a:p>
        </p:txBody>
      </p:sp>
      <p:sp>
        <p:nvSpPr>
          <p:cNvPr id="3" name="Checklist">
            <a:extLst>
              <a:ext uri="{FF2B5EF4-FFF2-40B4-BE49-F238E27FC236}">
                <a16:creationId xmlns:a16="http://schemas.microsoft.com/office/drawing/2014/main" id="{BC4FB6BF-E4BA-8BA6-0712-FB17761CD789}"/>
              </a:ext>
            </a:extLst>
          </p:cNvPr>
          <p:cNvSpPr txBox="1"/>
          <p:nvPr/>
        </p:nvSpPr>
        <p:spPr>
          <a:xfrm>
            <a:off x="838200" y="2808477"/>
            <a:ext cx="7581666" cy="141249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>
              <a:spcAft>
                <a:spcPts val="500"/>
              </a:spcAft>
            </a:pPr>
            <a:r>
              <a:rPr lang="en-GB" dirty="0">
                <a:latin typeface="Montserrat" panose="00000500000000000000" pitchFamily="2" charset="0"/>
              </a:rPr>
              <a:t>My presentation only contains an overview of what I’ve done and may not accurately reflect the technical implementation.</a:t>
            </a:r>
            <a:br>
              <a:rPr lang="en-GB" dirty="0">
                <a:latin typeface="Montserrat" panose="00000500000000000000" pitchFamily="2" charset="0"/>
              </a:rPr>
            </a:br>
            <a:endParaRPr lang="en-GB" dirty="0">
              <a:latin typeface="Montserrat" panose="00000500000000000000" pitchFamily="2" charset="0"/>
            </a:endParaRPr>
          </a:p>
          <a:p>
            <a:pPr>
              <a:spcAft>
                <a:spcPts val="500"/>
              </a:spcAft>
            </a:pPr>
            <a:r>
              <a:rPr lang="en-GB" dirty="0">
                <a:latin typeface="Montserrat" panose="00000500000000000000" pitchFamily="2" charset="0"/>
              </a:rPr>
              <a:t>It’s </a:t>
            </a:r>
            <a:r>
              <a:rPr lang="en-GB" b="1" dirty="0">
                <a:solidFill>
                  <a:srgbClr val="DC2C3E"/>
                </a:solidFill>
                <a:latin typeface="Montserrat" panose="00000500000000000000" pitchFamily="2" charset="0"/>
              </a:rPr>
              <a:t>recommended</a:t>
            </a:r>
            <a:r>
              <a:rPr lang="en-GB" dirty="0">
                <a:latin typeface="Montserrat" panose="00000500000000000000" pitchFamily="2" charset="0"/>
              </a:rPr>
              <a:t> to look at </a:t>
            </a:r>
            <a:r>
              <a:rPr lang="en-GB" b="1" dirty="0" err="1">
                <a:solidFill>
                  <a:srgbClr val="DC2C3E"/>
                </a:solidFill>
                <a:latin typeface="Montserrat" panose="00000500000000000000" pitchFamily="2" charset="0"/>
              </a:rPr>
              <a:t>Notebook.inpyb</a:t>
            </a:r>
            <a:r>
              <a:rPr lang="en-GB" b="1" dirty="0">
                <a:solidFill>
                  <a:srgbClr val="DC2C3E"/>
                </a:solidFill>
                <a:latin typeface="Montserrat" panose="00000500000000000000" pitchFamily="2" charset="0"/>
              </a:rPr>
              <a:t> </a:t>
            </a:r>
            <a:r>
              <a:rPr lang="en-GB" dirty="0">
                <a:latin typeface="Montserrat" panose="00000500000000000000" pitchFamily="2" charset="0"/>
              </a:rPr>
              <a:t>which documents most of the logic and decision making processes.</a:t>
            </a:r>
          </a:p>
          <a:p>
            <a:pPr>
              <a:spcAft>
                <a:spcPts val="500"/>
              </a:spcAft>
            </a:pPr>
            <a:endParaRPr lang="en-GB" dirty="0">
              <a:latin typeface="Montserrat" panose="00000500000000000000" pitchFamily="2" charset="0"/>
            </a:endParaRPr>
          </a:p>
          <a:p>
            <a:pPr>
              <a:spcAft>
                <a:spcPts val="500"/>
              </a:spcAft>
            </a:pPr>
            <a:r>
              <a:rPr lang="en-GB" dirty="0">
                <a:latin typeface="Montserrat" panose="00000500000000000000" pitchFamily="2" charset="0"/>
              </a:rPr>
              <a:t>For any questions:</a:t>
            </a:r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0C2D36DB-2B17-849E-2FC1-6BEC9CA644D5}"/>
              </a:ext>
            </a:extLst>
          </p:cNvPr>
          <p:cNvSpPr txBox="1">
            <a:spLocks/>
          </p:cNvSpPr>
          <p:nvPr/>
        </p:nvSpPr>
        <p:spPr>
          <a:xfrm>
            <a:off x="1676400" y="1084262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GB" sz="8800" dirty="0">
                <a:solidFill>
                  <a:srgbClr val="DC2C3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Montserrat SemiBold" panose="00000700000000000000" pitchFamily="2" charset="0"/>
              </a:rPr>
              <a:t>YOU!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2952B0E9-9D0D-A06C-92DC-4750C09DFD1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42975" y="5272086"/>
            <a:ext cx="476250" cy="476250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825E5BE6-4006-5D91-48BC-28924A39107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3430" y="5776911"/>
            <a:ext cx="778669" cy="778669"/>
          </a:xfrm>
          <a:prstGeom prst="rect">
            <a:avLst/>
          </a:prstGeom>
        </p:spPr>
      </p:pic>
      <p:sp>
        <p:nvSpPr>
          <p:cNvPr id="10" name="Checklist">
            <a:extLst>
              <a:ext uri="{FF2B5EF4-FFF2-40B4-BE49-F238E27FC236}">
                <a16:creationId xmlns:a16="http://schemas.microsoft.com/office/drawing/2014/main" id="{92C1746A-F7E4-B86E-33F9-38D38BAD7626}"/>
              </a:ext>
            </a:extLst>
          </p:cNvPr>
          <p:cNvSpPr txBox="1"/>
          <p:nvPr/>
        </p:nvSpPr>
        <p:spPr>
          <a:xfrm>
            <a:off x="1533524" y="5312566"/>
            <a:ext cx="3762376" cy="319089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>
              <a:spcAft>
                <a:spcPts val="500"/>
              </a:spcAft>
            </a:pPr>
            <a:r>
              <a:rPr lang="en-GB" b="1" dirty="0">
                <a:solidFill>
                  <a:srgbClr val="DC2C3E"/>
                </a:solidFill>
                <a:latin typeface="Montserrat SemiBold" panose="00000700000000000000" pitchFamily="2" charset="0"/>
              </a:rPr>
              <a:t>chungjvariance@gmail.com</a:t>
            </a:r>
          </a:p>
        </p:txBody>
      </p:sp>
      <p:sp>
        <p:nvSpPr>
          <p:cNvPr id="11" name="Checklist">
            <a:extLst>
              <a:ext uri="{FF2B5EF4-FFF2-40B4-BE49-F238E27FC236}">
                <a16:creationId xmlns:a16="http://schemas.microsoft.com/office/drawing/2014/main" id="{1D8418F5-03FC-4431-5539-79E7A45EFA53}"/>
              </a:ext>
            </a:extLst>
          </p:cNvPr>
          <p:cNvSpPr txBox="1"/>
          <p:nvPr/>
        </p:nvSpPr>
        <p:spPr>
          <a:xfrm>
            <a:off x="1533523" y="6007891"/>
            <a:ext cx="6086477" cy="319089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>
              <a:spcAft>
                <a:spcPts val="500"/>
              </a:spcAft>
            </a:pPr>
            <a:r>
              <a:rPr lang="en-GB" b="1" dirty="0">
                <a:solidFill>
                  <a:srgbClr val="DC2C3E"/>
                </a:solidFill>
                <a:latin typeface="Montserrat SemiBold" panose="00000700000000000000" pitchFamily="2" charset="0"/>
              </a:rPr>
              <a:t>www.linkedin.com/in/jimmy-chung-3bb430414</a:t>
            </a:r>
          </a:p>
        </p:txBody>
      </p:sp>
    </p:spTree>
    <p:extLst>
      <p:ext uri="{BB962C8B-B14F-4D97-AF65-F5344CB8AC3E}">
        <p14:creationId xmlns:p14="http://schemas.microsoft.com/office/powerpoint/2010/main" val="427369719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1745</TotalTime>
  <Words>1958</Words>
  <Application>Microsoft Office PowerPoint</Application>
  <PresentationFormat>Widescreen</PresentationFormat>
  <Paragraphs>363</Paragraphs>
  <Slides>19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9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9" baseType="lpstr">
      <vt:lpstr>Aptos</vt:lpstr>
      <vt:lpstr>Aptos Display</vt:lpstr>
      <vt:lpstr>Arial</vt:lpstr>
      <vt:lpstr>Consolas</vt:lpstr>
      <vt:lpstr>Courier New</vt:lpstr>
      <vt:lpstr>Montserrat</vt:lpstr>
      <vt:lpstr>Montserrat SemiBold</vt:lpstr>
      <vt:lpstr>Rubik</vt:lpstr>
      <vt:lpstr>Wingdings</vt:lpstr>
      <vt:lpstr>Office Theme</vt:lpstr>
      <vt:lpstr>PowerPoint Presentation</vt:lpstr>
      <vt:lpstr>DELIVERABLE ALIGNMENT</vt:lpstr>
      <vt:lpstr>UNDERSTANDING THE TASK</vt:lpstr>
      <vt:lpstr>AIMS &amp; OBJECTIVES</vt:lpstr>
      <vt:lpstr>THE DATA</vt:lpstr>
      <vt:lpstr>THE DATA</vt:lpstr>
      <vt:lpstr>THE DATA</vt:lpstr>
      <vt:lpstr>LOADING INTO SNOWFLAKE</vt:lpstr>
      <vt:lpstr>LOADING INTO SNOWFLAKE</vt:lpstr>
      <vt:lpstr>DATABASE STRUCTURE</vt:lpstr>
      <vt:lpstr>VERSION CONTROL</vt:lpstr>
      <vt:lpstr>UNIFIED VIEW</vt:lpstr>
      <vt:lpstr>DATA PROFILING</vt:lpstr>
      <vt:lpstr>DATA PROFILING: OUTLIERS</vt:lpstr>
      <vt:lpstr>CLEANSING</vt:lpstr>
      <vt:lpstr>CLEANSING: MISALIGNMENT</vt:lpstr>
      <vt:lpstr>CLEANSING: UNKNOWNS</vt:lpstr>
      <vt:lpstr>AI USAGE</vt:lpstr>
      <vt:lpstr>THANK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Jimmy Chung</dc:creator>
  <cp:lastModifiedBy>Jimmy Chung</cp:lastModifiedBy>
  <cp:revision>49</cp:revision>
  <dcterms:created xsi:type="dcterms:W3CDTF">2026-06-16T19:57:14Z</dcterms:created>
  <dcterms:modified xsi:type="dcterms:W3CDTF">2026-09-07T16:21:37Z</dcterms:modified>
</cp:coreProperties>
</file>