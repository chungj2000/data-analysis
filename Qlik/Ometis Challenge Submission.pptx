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8" r:id="rId2"/>
    <p:sldId id="259" r:id="rId3"/>
    <p:sldId id="261" r:id="rId4"/>
    <p:sldId id="262" r:id="rId5"/>
    <p:sldId id="270" r:id="rId6"/>
    <p:sldId id="263" r:id="rId7"/>
    <p:sldId id="264" r:id="rId8"/>
    <p:sldId id="265" r:id="rId9"/>
    <p:sldId id="266" r:id="rId10"/>
    <p:sldId id="267" r:id="rId11"/>
    <p:sldId id="268" r:id="rId12"/>
    <p:sldId id="269" r:id="rId13"/>
    <p:sldId id="271" r:id="rId14"/>
    <p:sldId id="272" r:id="rId15"/>
    <p:sldId id="273" r:id="rId16"/>
    <p:sldId id="274" r:id="rId17"/>
    <p:sldId id="275" r:id="rId18"/>
    <p:sldId id="277" r:id="rId19"/>
    <p:sldId id="276" r:id="rId20"/>
    <p:sldId id="278" r:id="rId21"/>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597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706BBB-4FB0-E9AD-DC44-07004A1BA3CD}" v="20407" dt="2024-11-21T00:17:05.754"/>
    <p1510:client id="{5C69223C-A698-01CE-6776-E343A5852C16}" v="7142" dt="2024-11-21T02:07:26.744"/>
    <p1510:client id="{67A659B1-2732-FDDA-6442-30C63C29C7E9}" v="3183" dt="2024-11-20T00:19:40.942"/>
    <p1510:client id="{FFB869FC-E7C3-0247-A645-466278780E5A}" v="3052" dt="2024-11-21T15:05:52.5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21/11/2024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21/11/2024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21/11/2024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p:cNvSpPr>
            <a:spLocks noGrp="1"/>
          </p:cNvSpPr>
          <p:nvPr>
            <p:ph type="dt" sz="half" idx="10"/>
          </p:nvPr>
        </p:nvSpPr>
        <p:spPr/>
        <p:txBody>
          <a:bodyPr/>
          <a:lstStyle/>
          <a:p>
            <a:fld id="{846CE7D5-CF57-46EF-B807-FDD0502418D4}" type="datetimeFigureOut">
              <a:rPr lang="en-GB" smtClean="0"/>
              <a:t>21/11/2024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p:cNvSpPr>
            <a:spLocks noGrp="1"/>
          </p:cNvSpPr>
          <p:nvPr>
            <p:ph type="dt" sz="half" idx="10"/>
          </p:nvPr>
        </p:nvSpPr>
        <p:spPr/>
        <p:txBody>
          <a:bodyPr/>
          <a:lstStyle/>
          <a:p>
            <a:fld id="{846CE7D5-CF57-46EF-B807-FDD0502418D4}" type="datetimeFigureOut">
              <a:rPr lang="en-GB" smtClean="0"/>
              <a:t>21/11/2024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GB" smtClean="0"/>
              <a:t>21/11/2024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21/11/2024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21/11/2024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21/11/2024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21/11/2024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21/11/2024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GB" smtClean="0"/>
              <a:t>21/11/2024</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A12778-649E-7516-E26C-82341E020CAC}"/>
              </a:ext>
            </a:extLst>
          </p:cNvPr>
          <p:cNvSpPr>
            <a:spLocks noGrp="1"/>
          </p:cNvSpPr>
          <p:nvPr>
            <p:ph type="title"/>
          </p:nvPr>
        </p:nvSpPr>
        <p:spPr>
          <a:xfrm>
            <a:off x="466722" y="586855"/>
            <a:ext cx="3201366" cy="3232889"/>
          </a:xfrm>
        </p:spPr>
        <p:txBody>
          <a:bodyPr anchor="b">
            <a:normAutofit/>
          </a:bodyPr>
          <a:lstStyle/>
          <a:p>
            <a:r>
              <a:rPr lang="en-GB" sz="4000">
                <a:solidFill>
                  <a:srgbClr val="FFFFFF"/>
                </a:solidFill>
              </a:rPr>
              <a:t>Q1)</a:t>
            </a:r>
            <a:br>
              <a:rPr lang="en-GB" sz="4000">
                <a:solidFill>
                  <a:srgbClr val="FFFFFF"/>
                </a:solidFill>
              </a:rPr>
            </a:br>
            <a:br>
              <a:rPr lang="en-GB" sz="4000"/>
            </a:br>
            <a:r>
              <a:rPr lang="en-GB" sz="3200">
                <a:solidFill>
                  <a:srgbClr val="FFFFFF"/>
                </a:solidFill>
              </a:rPr>
              <a:t>Which Region had the highest (Gross) sales?</a:t>
            </a:r>
          </a:p>
        </p:txBody>
      </p:sp>
      <p:pic>
        <p:nvPicPr>
          <p:cNvPr id="5" name="Picture 4" descr="A screenshot of a computer screen&#10;&#10;Description automatically generated">
            <a:extLst>
              <a:ext uri="{FF2B5EF4-FFF2-40B4-BE49-F238E27FC236}">
                <a16:creationId xmlns:a16="http://schemas.microsoft.com/office/drawing/2014/main" id="{B410F283-EDA3-114D-1329-AD32611DE8D4}"/>
              </a:ext>
            </a:extLst>
          </p:cNvPr>
          <p:cNvPicPr>
            <a:picLocks noChangeAspect="1"/>
          </p:cNvPicPr>
          <p:nvPr/>
        </p:nvPicPr>
        <p:blipFill>
          <a:blip r:embed="rId2"/>
          <a:stretch>
            <a:fillRect/>
          </a:stretch>
        </p:blipFill>
        <p:spPr>
          <a:xfrm>
            <a:off x="4324120" y="1151653"/>
            <a:ext cx="7399663" cy="3186766"/>
          </a:xfrm>
          <a:prstGeom prst="rect">
            <a:avLst/>
          </a:prstGeom>
        </p:spPr>
      </p:pic>
      <p:sp>
        <p:nvSpPr>
          <p:cNvPr id="6" name="Rectangle 5">
            <a:extLst>
              <a:ext uri="{FF2B5EF4-FFF2-40B4-BE49-F238E27FC236}">
                <a16:creationId xmlns:a16="http://schemas.microsoft.com/office/drawing/2014/main" id="{E54706B8-68C9-D3D4-CC40-3140465962EC}"/>
              </a:ext>
            </a:extLst>
          </p:cNvPr>
          <p:cNvSpPr/>
          <p:nvPr/>
        </p:nvSpPr>
        <p:spPr>
          <a:xfrm>
            <a:off x="5547285" y="1345573"/>
            <a:ext cx="3870938" cy="151681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DBD93015-F113-04EF-2C67-3A878C514B31}"/>
              </a:ext>
            </a:extLst>
          </p:cNvPr>
          <p:cNvSpPr txBox="1"/>
          <p:nvPr/>
        </p:nvSpPr>
        <p:spPr>
          <a:xfrm>
            <a:off x="4327203" y="4573379"/>
            <a:ext cx="7399128" cy="20621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a:t>There are 6 key regions with recorded data for gross sales.</a:t>
            </a:r>
            <a:br>
              <a:rPr lang="en-GB" sz="1600"/>
            </a:br>
            <a:r>
              <a:rPr lang="en-GB" sz="1600"/>
              <a:t>The region with the highest sum of </a:t>
            </a:r>
            <a:r>
              <a:rPr lang="en-GB" sz="1600" i="1"/>
              <a:t>(gross) sales</a:t>
            </a:r>
            <a:r>
              <a:rPr lang="en-GB" sz="1600"/>
              <a:t> is the </a:t>
            </a:r>
            <a:r>
              <a:rPr lang="en-GB" sz="1600" b="1"/>
              <a:t>USA</a:t>
            </a:r>
            <a:r>
              <a:rPr lang="en-GB" sz="1600"/>
              <a:t>, followed by UK, and Japan.</a:t>
            </a:r>
            <a:br>
              <a:rPr lang="en-GB" sz="1600"/>
            </a:br>
            <a:br>
              <a:rPr lang="en-GB" sz="1600"/>
            </a:br>
            <a:r>
              <a:rPr lang="en-GB" sz="1600"/>
              <a:t>The left side contains a list box of regions ranked by sales, whilst the map contains a heat map showing the rough distribution (for comparison) of total gross sales globally. The specific amount can be found by clicking said region and it will be displayed on the KPI for 'Total Gross Sales', or hovering on the map.</a:t>
            </a:r>
            <a:endParaRPr lang="en-GB"/>
          </a:p>
        </p:txBody>
      </p:sp>
    </p:spTree>
    <p:extLst>
      <p:ext uri="{BB962C8B-B14F-4D97-AF65-F5344CB8AC3E}">
        <p14:creationId xmlns:p14="http://schemas.microsoft.com/office/powerpoint/2010/main" val="34234051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A12778-649E-7516-E26C-82341E020CAC}"/>
              </a:ext>
            </a:extLst>
          </p:cNvPr>
          <p:cNvSpPr>
            <a:spLocks noGrp="1"/>
          </p:cNvSpPr>
          <p:nvPr>
            <p:ph type="title"/>
          </p:nvPr>
        </p:nvSpPr>
        <p:spPr>
          <a:xfrm>
            <a:off x="466722" y="586855"/>
            <a:ext cx="3201366" cy="3232889"/>
          </a:xfrm>
        </p:spPr>
        <p:txBody>
          <a:bodyPr anchor="b">
            <a:normAutofit/>
          </a:bodyPr>
          <a:lstStyle/>
          <a:p>
            <a:r>
              <a:rPr lang="en-GB" sz="4000">
                <a:solidFill>
                  <a:srgbClr val="FFFFFF"/>
                </a:solidFill>
              </a:rPr>
              <a:t>Q2)</a:t>
            </a:r>
            <a:br>
              <a:rPr lang="en-GB" sz="4000">
                <a:solidFill>
                  <a:srgbClr val="FFFFFF"/>
                </a:solidFill>
              </a:rPr>
            </a:br>
            <a:br>
              <a:rPr lang="en-GB" sz="4000"/>
            </a:br>
            <a:r>
              <a:rPr lang="en-GB" sz="3200">
                <a:solidFill>
                  <a:srgbClr val="FFFFFF"/>
                </a:solidFill>
              </a:rPr>
              <a:t>Which was the best-selling product line in that region?</a:t>
            </a:r>
          </a:p>
        </p:txBody>
      </p:sp>
      <p:pic>
        <p:nvPicPr>
          <p:cNvPr id="5" name="Picture 4" descr="A screenshot of a computer&#10;&#10;Description automatically generated">
            <a:extLst>
              <a:ext uri="{FF2B5EF4-FFF2-40B4-BE49-F238E27FC236}">
                <a16:creationId xmlns:a16="http://schemas.microsoft.com/office/drawing/2014/main" id="{E1EAE3A5-DE67-C00F-66A3-A8F6FBCDA25A}"/>
              </a:ext>
            </a:extLst>
          </p:cNvPr>
          <p:cNvPicPr>
            <a:picLocks noChangeAspect="1"/>
          </p:cNvPicPr>
          <p:nvPr/>
        </p:nvPicPr>
        <p:blipFill>
          <a:blip r:embed="rId2"/>
          <a:stretch>
            <a:fillRect/>
          </a:stretch>
        </p:blipFill>
        <p:spPr>
          <a:xfrm>
            <a:off x="4324121" y="1169136"/>
            <a:ext cx="7399663" cy="3170163"/>
          </a:xfrm>
          <a:prstGeom prst="rect">
            <a:avLst/>
          </a:prstGeom>
        </p:spPr>
      </p:pic>
      <p:sp>
        <p:nvSpPr>
          <p:cNvPr id="6" name="Rectangle 5">
            <a:extLst>
              <a:ext uri="{FF2B5EF4-FFF2-40B4-BE49-F238E27FC236}">
                <a16:creationId xmlns:a16="http://schemas.microsoft.com/office/drawing/2014/main" id="{E54706B8-68C9-D3D4-CC40-3140465962EC}"/>
              </a:ext>
            </a:extLst>
          </p:cNvPr>
          <p:cNvSpPr/>
          <p:nvPr/>
        </p:nvSpPr>
        <p:spPr>
          <a:xfrm>
            <a:off x="9430730" y="1556731"/>
            <a:ext cx="2291854" cy="132402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DBD93015-F113-04EF-2C67-3A878C514B31}"/>
              </a:ext>
            </a:extLst>
          </p:cNvPr>
          <p:cNvSpPr txBox="1"/>
          <p:nvPr/>
        </p:nvSpPr>
        <p:spPr>
          <a:xfrm>
            <a:off x="4327203" y="4573379"/>
            <a:ext cx="7399128" cy="20621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a:t>Only 2 </a:t>
            </a:r>
            <a:r>
              <a:rPr lang="en-GB" sz="1600" i="1"/>
              <a:t>product lines</a:t>
            </a:r>
            <a:r>
              <a:rPr lang="en-GB" sz="1600"/>
              <a:t> exist for each region, 'Food' and 'Drink'.</a:t>
            </a:r>
            <a:br>
              <a:rPr lang="en-GB" sz="1600"/>
            </a:br>
            <a:r>
              <a:rPr lang="en-GB" sz="1600" b="1"/>
              <a:t>Food</a:t>
            </a:r>
            <a:r>
              <a:rPr lang="en-GB" sz="1600"/>
              <a:t> is the best-selling product line in the USA, having around 9 times more the amount of sales. This is roughly the same for all regions, not just the USA, excluding Japan which is around 5 times.</a:t>
            </a:r>
            <a:br>
              <a:rPr lang="en-GB" sz="1600"/>
            </a:br>
            <a:br>
              <a:rPr lang="en-GB" sz="1600"/>
            </a:br>
            <a:r>
              <a:rPr lang="en-GB" sz="1600"/>
              <a:t>The product line sales is displayed on the donut chart. By default, sales of product lines are displayed for all regions, however region selections can be made via list box or map.</a:t>
            </a:r>
          </a:p>
        </p:txBody>
      </p:sp>
    </p:spTree>
    <p:extLst>
      <p:ext uri="{BB962C8B-B14F-4D97-AF65-F5344CB8AC3E}">
        <p14:creationId xmlns:p14="http://schemas.microsoft.com/office/powerpoint/2010/main" val="32149580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A12778-649E-7516-E26C-82341E020CAC}"/>
              </a:ext>
            </a:extLst>
          </p:cNvPr>
          <p:cNvSpPr>
            <a:spLocks noGrp="1"/>
          </p:cNvSpPr>
          <p:nvPr>
            <p:ph type="title"/>
          </p:nvPr>
        </p:nvSpPr>
        <p:spPr>
          <a:xfrm>
            <a:off x="466722" y="586855"/>
            <a:ext cx="3201366" cy="3232889"/>
          </a:xfrm>
        </p:spPr>
        <p:txBody>
          <a:bodyPr anchor="b">
            <a:normAutofit/>
          </a:bodyPr>
          <a:lstStyle/>
          <a:p>
            <a:r>
              <a:rPr lang="en-GB" sz="4000">
                <a:solidFill>
                  <a:srgbClr val="FFFFFF"/>
                </a:solidFill>
              </a:rPr>
              <a:t>Q3)</a:t>
            </a:r>
            <a:br>
              <a:rPr lang="en-GB" sz="4000">
                <a:solidFill>
                  <a:srgbClr val="FFFFFF"/>
                </a:solidFill>
              </a:rPr>
            </a:br>
            <a:br>
              <a:rPr lang="en-GB" sz="4000">
                <a:solidFill>
                  <a:srgbClr val="FFFFFF"/>
                </a:solidFill>
              </a:rPr>
            </a:br>
            <a:r>
              <a:rPr lang="en-GB" sz="3200">
                <a:solidFill>
                  <a:srgbClr val="FFFFFF"/>
                </a:solidFill>
              </a:rPr>
              <a:t>Who are the top 10 sales reps globally?</a:t>
            </a:r>
          </a:p>
        </p:txBody>
      </p:sp>
      <p:pic>
        <p:nvPicPr>
          <p:cNvPr id="11" name="Picture 10" descr="A screenshot of a computer screen&#10;&#10;Description automatically generated">
            <a:extLst>
              <a:ext uri="{FF2B5EF4-FFF2-40B4-BE49-F238E27FC236}">
                <a16:creationId xmlns:a16="http://schemas.microsoft.com/office/drawing/2014/main" id="{E1A94637-3285-5EF3-EBFA-409EDB804839}"/>
              </a:ext>
            </a:extLst>
          </p:cNvPr>
          <p:cNvPicPr>
            <a:picLocks noChangeAspect="1"/>
          </p:cNvPicPr>
          <p:nvPr/>
        </p:nvPicPr>
        <p:blipFill>
          <a:blip r:embed="rId2"/>
          <a:stretch>
            <a:fillRect/>
          </a:stretch>
        </p:blipFill>
        <p:spPr>
          <a:xfrm>
            <a:off x="4324120" y="1151653"/>
            <a:ext cx="7399663" cy="3186766"/>
          </a:xfrm>
          <a:prstGeom prst="rect">
            <a:avLst/>
          </a:prstGeom>
        </p:spPr>
      </p:pic>
      <p:sp>
        <p:nvSpPr>
          <p:cNvPr id="6" name="Rectangle 5">
            <a:extLst>
              <a:ext uri="{FF2B5EF4-FFF2-40B4-BE49-F238E27FC236}">
                <a16:creationId xmlns:a16="http://schemas.microsoft.com/office/drawing/2014/main" id="{E54706B8-68C9-D3D4-CC40-3140465962EC}"/>
              </a:ext>
            </a:extLst>
          </p:cNvPr>
          <p:cNvSpPr/>
          <p:nvPr/>
        </p:nvSpPr>
        <p:spPr>
          <a:xfrm>
            <a:off x="4326249" y="2915478"/>
            <a:ext cx="2190865" cy="136992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DBD93015-F113-04EF-2C67-3A878C514B31}"/>
              </a:ext>
            </a:extLst>
          </p:cNvPr>
          <p:cNvSpPr txBox="1"/>
          <p:nvPr/>
        </p:nvSpPr>
        <p:spPr>
          <a:xfrm>
            <a:off x="4327203" y="4454030"/>
            <a:ext cx="7399128"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a:t>The table shows that </a:t>
            </a:r>
            <a:r>
              <a:rPr lang="en-GB" sz="1600" b="1"/>
              <a:t>Judy Thurman</a:t>
            </a:r>
            <a:r>
              <a:rPr lang="en-GB" sz="1600"/>
              <a:t> has the best performance in terms of </a:t>
            </a:r>
            <a:r>
              <a:rPr lang="en-GB" sz="1600" i="1"/>
              <a:t>gross sales</a:t>
            </a:r>
            <a:r>
              <a:rPr lang="en-GB" sz="1600"/>
              <a:t> with around £13.7M, followed shortly by Stewart Wind. However, in terms of sales quantity, Stewart Wind a better performance.</a:t>
            </a:r>
            <a:br>
              <a:rPr lang="en-GB" sz="1600"/>
            </a:br>
            <a:br>
              <a:rPr lang="en-GB" sz="1600"/>
            </a:br>
            <a:r>
              <a:rPr lang="en-GB" sz="1600"/>
              <a:t>By default the table displays the top 10 sales reps of all regions, however filters can be applied whether for region, product line, something else, or a mix.</a:t>
            </a:r>
          </a:p>
          <a:p>
            <a:endParaRPr lang="en-GB" sz="1600"/>
          </a:p>
          <a:p>
            <a:r>
              <a:rPr lang="en-GB" sz="1600" i="1"/>
              <a:t>Note: 'Others' was excluded due to it being too vague in terms of who the sales rep is. It could be multiple people for all we know.</a:t>
            </a:r>
          </a:p>
        </p:txBody>
      </p:sp>
    </p:spTree>
    <p:extLst>
      <p:ext uri="{BB962C8B-B14F-4D97-AF65-F5344CB8AC3E}">
        <p14:creationId xmlns:p14="http://schemas.microsoft.com/office/powerpoint/2010/main" val="13696028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A12778-649E-7516-E26C-82341E020CAC}"/>
              </a:ext>
            </a:extLst>
          </p:cNvPr>
          <p:cNvSpPr>
            <a:spLocks noGrp="1"/>
          </p:cNvSpPr>
          <p:nvPr>
            <p:ph type="title"/>
          </p:nvPr>
        </p:nvSpPr>
        <p:spPr>
          <a:xfrm>
            <a:off x="466722" y="586855"/>
            <a:ext cx="3201366" cy="3232889"/>
          </a:xfrm>
        </p:spPr>
        <p:txBody>
          <a:bodyPr anchor="b">
            <a:normAutofit/>
          </a:bodyPr>
          <a:lstStyle/>
          <a:p>
            <a:r>
              <a:rPr lang="en-GB" sz="4000">
                <a:solidFill>
                  <a:srgbClr val="FFFFFF"/>
                </a:solidFill>
              </a:rPr>
              <a:t>Q4)</a:t>
            </a:r>
            <a:br>
              <a:rPr lang="en-GB" sz="4000">
                <a:solidFill>
                  <a:srgbClr val="FFFFFF"/>
                </a:solidFill>
              </a:rPr>
            </a:br>
            <a:br>
              <a:rPr lang="en-GB" sz="4000">
                <a:solidFill>
                  <a:srgbClr val="FFFFFF"/>
                </a:solidFill>
              </a:rPr>
            </a:br>
            <a:r>
              <a:rPr lang="en-GB" sz="3200">
                <a:solidFill>
                  <a:srgbClr val="FFFFFF"/>
                </a:solidFill>
              </a:rPr>
              <a:t>Who was the biggest  customer globally?</a:t>
            </a:r>
          </a:p>
        </p:txBody>
      </p:sp>
      <p:pic>
        <p:nvPicPr>
          <p:cNvPr id="11" name="Picture 10" descr="A screenshot of a computer screen&#10;&#10;Description automatically generated">
            <a:extLst>
              <a:ext uri="{FF2B5EF4-FFF2-40B4-BE49-F238E27FC236}">
                <a16:creationId xmlns:a16="http://schemas.microsoft.com/office/drawing/2014/main" id="{576F30E2-3D72-81F4-9199-5EDA078638F6}"/>
              </a:ext>
            </a:extLst>
          </p:cNvPr>
          <p:cNvPicPr>
            <a:picLocks noChangeAspect="1"/>
          </p:cNvPicPr>
          <p:nvPr/>
        </p:nvPicPr>
        <p:blipFill>
          <a:blip r:embed="rId2"/>
          <a:stretch>
            <a:fillRect/>
          </a:stretch>
        </p:blipFill>
        <p:spPr>
          <a:xfrm>
            <a:off x="4324120" y="1151653"/>
            <a:ext cx="7399663" cy="3186766"/>
          </a:xfrm>
          <a:prstGeom prst="rect">
            <a:avLst/>
          </a:prstGeom>
        </p:spPr>
      </p:pic>
      <p:sp>
        <p:nvSpPr>
          <p:cNvPr id="6" name="Rectangle 5">
            <a:extLst>
              <a:ext uri="{FF2B5EF4-FFF2-40B4-BE49-F238E27FC236}">
                <a16:creationId xmlns:a16="http://schemas.microsoft.com/office/drawing/2014/main" id="{E54706B8-68C9-D3D4-CC40-3140465962EC}"/>
              </a:ext>
            </a:extLst>
          </p:cNvPr>
          <p:cNvSpPr/>
          <p:nvPr/>
        </p:nvSpPr>
        <p:spPr>
          <a:xfrm>
            <a:off x="6520440" y="2897116"/>
            <a:ext cx="2447926" cy="138828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DBD93015-F113-04EF-2C67-3A878C514B31}"/>
              </a:ext>
            </a:extLst>
          </p:cNvPr>
          <p:cNvSpPr txBox="1"/>
          <p:nvPr/>
        </p:nvSpPr>
        <p:spPr>
          <a:xfrm>
            <a:off x="4327203" y="4573379"/>
            <a:ext cx="7399128"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b="1" err="1"/>
              <a:t>PageWave</a:t>
            </a:r>
            <a:r>
              <a:rPr lang="en-GB" sz="1600"/>
              <a:t> has the highest sum of </a:t>
            </a:r>
            <a:r>
              <a:rPr lang="en-GB" sz="1600" i="1"/>
              <a:t>gross sales</a:t>
            </a:r>
            <a:r>
              <a:rPr lang="en-GB" sz="1600"/>
              <a:t>, and therefore the </a:t>
            </a:r>
            <a:r>
              <a:rPr lang="en-GB" sz="1600" i="1"/>
              <a:t>biggest customer</a:t>
            </a:r>
            <a:r>
              <a:rPr lang="en-GB" sz="1600"/>
              <a:t> of all regions, and they are shortly followed by Paracel.</a:t>
            </a:r>
            <a:br>
              <a:rPr lang="en-GB" sz="1600"/>
            </a:br>
            <a:br>
              <a:rPr lang="en-GB" sz="1600"/>
            </a:br>
            <a:r>
              <a:rPr lang="en-GB" sz="1600"/>
              <a:t>The bar chart displays top 5 customers, with the biggest customer being highlighted (this also works with filters).</a:t>
            </a:r>
          </a:p>
        </p:txBody>
      </p:sp>
    </p:spTree>
    <p:extLst>
      <p:ext uri="{BB962C8B-B14F-4D97-AF65-F5344CB8AC3E}">
        <p14:creationId xmlns:p14="http://schemas.microsoft.com/office/powerpoint/2010/main" val="25796459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A0B5B8-07DE-03C6-7820-DF1274A611A1}"/>
              </a:ext>
            </a:extLst>
          </p:cNvPr>
          <p:cNvSpPr>
            <a:spLocks noGrp="1"/>
          </p:cNvSpPr>
          <p:nvPr>
            <p:ph type="title"/>
          </p:nvPr>
        </p:nvSpPr>
        <p:spPr>
          <a:xfrm>
            <a:off x="1371599" y="294538"/>
            <a:ext cx="9895951" cy="1033669"/>
          </a:xfrm>
        </p:spPr>
        <p:txBody>
          <a:bodyPr>
            <a:normAutofit/>
          </a:bodyPr>
          <a:lstStyle/>
          <a:p>
            <a:r>
              <a:rPr lang="en-GB" sz="4000">
                <a:solidFill>
                  <a:srgbClr val="FFFFFF"/>
                </a:solidFill>
              </a:rPr>
              <a:t>Does this dashboard follow the guidelines?</a:t>
            </a:r>
          </a:p>
        </p:txBody>
      </p:sp>
      <p:sp>
        <p:nvSpPr>
          <p:cNvPr id="5" name="TextBox 4">
            <a:extLst>
              <a:ext uri="{FF2B5EF4-FFF2-40B4-BE49-F238E27FC236}">
                <a16:creationId xmlns:a16="http://schemas.microsoft.com/office/drawing/2014/main" id="{CD9F48DF-9A9E-37D3-7A2B-44345410703B}"/>
              </a:ext>
            </a:extLst>
          </p:cNvPr>
          <p:cNvSpPr txBox="1"/>
          <p:nvPr/>
        </p:nvSpPr>
        <p:spPr>
          <a:xfrm>
            <a:off x="1371010" y="1718175"/>
            <a:ext cx="4727538"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a:solidFill>
                  <a:srgbClr val="005971"/>
                </a:solidFill>
              </a:rPr>
              <a:t>Executive Style Dashboard</a:t>
            </a:r>
            <a:endParaRPr lang="en-US">
              <a:solidFill>
                <a:srgbClr val="000000"/>
              </a:solidFill>
            </a:endParaRPr>
          </a:p>
          <a:p>
            <a:br>
              <a:rPr lang="en-GB" sz="1200"/>
            </a:br>
            <a:r>
              <a:rPr lang="en-GB" sz="1200"/>
              <a:t>A single sheet dashboard designed to be easy to understand and quick to read. </a:t>
            </a:r>
            <a:r>
              <a:rPr lang="en-GB" sz="1200" b="1"/>
              <a:t>KPIs </a:t>
            </a:r>
            <a:r>
              <a:rPr lang="en-GB" sz="1200"/>
              <a:t>are highlighted for progress tracking of </a:t>
            </a:r>
            <a:r>
              <a:rPr lang="en-GB" sz="1200" b="1"/>
              <a:t>key goals</a:t>
            </a:r>
            <a:r>
              <a:rPr lang="en-GB" sz="1200"/>
              <a:t> that can be referenced for executive level decision making. </a:t>
            </a:r>
            <a:br>
              <a:rPr lang="en-GB" sz="1200"/>
            </a:br>
            <a:br>
              <a:rPr lang="en-GB" sz="1200"/>
            </a:br>
            <a:r>
              <a:rPr lang="en-GB" sz="1200"/>
              <a:t>The data set provided suggests a commercial  business, therefore the main focal points will be profit related. As previous dates are provided for sales , the best comparators will be sales/profit of previous months/year to the current year to indicate growth or regression.</a:t>
            </a:r>
            <a:endParaRPr lang="en-US"/>
          </a:p>
          <a:p>
            <a:r>
              <a:rPr lang="en-GB" sz="1200" b="1"/>
              <a:t>Forecasts</a:t>
            </a:r>
            <a:r>
              <a:rPr lang="en-GB" sz="1200"/>
              <a:t>, </a:t>
            </a:r>
            <a:r>
              <a:rPr lang="en-GB" sz="1200" b="1"/>
              <a:t>trendlines</a:t>
            </a:r>
            <a:r>
              <a:rPr lang="en-GB" sz="1200"/>
              <a:t>, and </a:t>
            </a:r>
            <a:r>
              <a:rPr lang="en-GB" sz="1200" b="1"/>
              <a:t>reference lines</a:t>
            </a:r>
            <a:r>
              <a:rPr lang="en-GB" sz="1200"/>
              <a:t> for goal and performance tracking.</a:t>
            </a:r>
          </a:p>
        </p:txBody>
      </p:sp>
      <p:sp>
        <p:nvSpPr>
          <p:cNvPr id="6" name="TextBox 5">
            <a:extLst>
              <a:ext uri="{FF2B5EF4-FFF2-40B4-BE49-F238E27FC236}">
                <a16:creationId xmlns:a16="http://schemas.microsoft.com/office/drawing/2014/main" id="{3A93D014-3293-1BBB-B74B-B1278E17C496}"/>
              </a:ext>
            </a:extLst>
          </p:cNvPr>
          <p:cNvSpPr txBox="1"/>
          <p:nvPr/>
        </p:nvSpPr>
        <p:spPr>
          <a:xfrm>
            <a:off x="1371009" y="4224512"/>
            <a:ext cx="4727538"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a:solidFill>
                  <a:srgbClr val="005971"/>
                </a:solidFill>
              </a:rPr>
              <a:t>Branding</a:t>
            </a:r>
          </a:p>
          <a:p>
            <a:br>
              <a:rPr lang="en-GB" sz="1200"/>
            </a:br>
            <a:r>
              <a:rPr lang="en-GB" sz="1200"/>
              <a:t>Analytics challenge stated the employer was </a:t>
            </a:r>
            <a:r>
              <a:rPr lang="en-GB" sz="1200" b="1"/>
              <a:t>not Digital Native</a:t>
            </a:r>
            <a:r>
              <a:rPr lang="en-GB" sz="1200"/>
              <a:t>, and that branding should be taken into account in the design. </a:t>
            </a:r>
            <a:br>
              <a:rPr lang="en-GB" sz="1200"/>
            </a:br>
            <a:br>
              <a:rPr lang="en-US"/>
            </a:br>
            <a:r>
              <a:rPr lang="en-GB" sz="1200"/>
              <a:t>The employer is </a:t>
            </a:r>
            <a:r>
              <a:rPr lang="en-GB" sz="1200" b="1" err="1"/>
              <a:t>Ometis</a:t>
            </a:r>
            <a:r>
              <a:rPr lang="en-GB" sz="1200"/>
              <a:t>, who is partnered with </a:t>
            </a:r>
            <a:r>
              <a:rPr lang="en-GB" sz="1200" b="1"/>
              <a:t>Qlik</a:t>
            </a:r>
            <a:r>
              <a:rPr lang="en-GB" sz="1200"/>
              <a:t>.</a:t>
            </a:r>
            <a:br>
              <a:rPr lang="en-GB" sz="1200"/>
            </a:br>
            <a:r>
              <a:rPr lang="en-GB" sz="1200"/>
              <a:t>With this taken into account the logo of </a:t>
            </a:r>
            <a:r>
              <a:rPr lang="en-GB" sz="1200" err="1"/>
              <a:t>Ometis</a:t>
            </a:r>
            <a:r>
              <a:rPr lang="en-GB" sz="1200"/>
              <a:t> was used in the top right of the dashboard as branding, along with a rough colour scheme of orange and dark turquoise that is commonly used on their website.</a:t>
            </a:r>
            <a:endParaRPr lang="en-GB"/>
          </a:p>
        </p:txBody>
      </p:sp>
      <p:pic>
        <p:nvPicPr>
          <p:cNvPr id="9" name="Picture 8" descr="A screenshot of a phone&#10;&#10;Description automatically generated">
            <a:extLst>
              <a:ext uri="{FF2B5EF4-FFF2-40B4-BE49-F238E27FC236}">
                <a16:creationId xmlns:a16="http://schemas.microsoft.com/office/drawing/2014/main" id="{F39553BE-4CE4-8827-8F4F-6B8CF2AE02DC}"/>
              </a:ext>
            </a:extLst>
          </p:cNvPr>
          <p:cNvPicPr>
            <a:picLocks noChangeAspect="1"/>
          </p:cNvPicPr>
          <p:nvPr/>
        </p:nvPicPr>
        <p:blipFill>
          <a:blip r:embed="rId2"/>
          <a:stretch>
            <a:fillRect/>
          </a:stretch>
        </p:blipFill>
        <p:spPr>
          <a:xfrm>
            <a:off x="6330278" y="2059177"/>
            <a:ext cx="1459393" cy="1904199"/>
          </a:xfrm>
          <a:prstGeom prst="rect">
            <a:avLst/>
          </a:prstGeom>
        </p:spPr>
      </p:pic>
      <p:pic>
        <p:nvPicPr>
          <p:cNvPr id="11" name="Picture 10">
            <a:extLst>
              <a:ext uri="{FF2B5EF4-FFF2-40B4-BE49-F238E27FC236}">
                <a16:creationId xmlns:a16="http://schemas.microsoft.com/office/drawing/2014/main" id="{68B0B406-DF2B-4A00-681B-556A2C41AC3F}"/>
              </a:ext>
            </a:extLst>
          </p:cNvPr>
          <p:cNvPicPr>
            <a:picLocks noChangeAspect="1"/>
          </p:cNvPicPr>
          <p:nvPr/>
        </p:nvPicPr>
        <p:blipFill>
          <a:blip r:embed="rId3"/>
          <a:stretch>
            <a:fillRect/>
          </a:stretch>
        </p:blipFill>
        <p:spPr>
          <a:xfrm>
            <a:off x="7890887" y="2054872"/>
            <a:ext cx="3636860" cy="1912805"/>
          </a:xfrm>
          <a:prstGeom prst="rect">
            <a:avLst/>
          </a:prstGeom>
        </p:spPr>
      </p:pic>
      <p:sp>
        <p:nvSpPr>
          <p:cNvPr id="13" name="TextBox 12">
            <a:extLst>
              <a:ext uri="{FF2B5EF4-FFF2-40B4-BE49-F238E27FC236}">
                <a16:creationId xmlns:a16="http://schemas.microsoft.com/office/drawing/2014/main" id="{F9921429-5D5E-08C7-24D7-86B39F17AF48}"/>
              </a:ext>
            </a:extLst>
          </p:cNvPr>
          <p:cNvSpPr txBox="1"/>
          <p:nvPr/>
        </p:nvSpPr>
        <p:spPr>
          <a:xfrm>
            <a:off x="6328599" y="4187789"/>
            <a:ext cx="4727538" cy="166199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a:solidFill>
                  <a:srgbClr val="005971"/>
                </a:solidFill>
              </a:rPr>
              <a:t>Requirements</a:t>
            </a:r>
          </a:p>
          <a:p>
            <a:br>
              <a:rPr lang="en-GB" sz="1200"/>
            </a:br>
            <a:r>
              <a:rPr lang="en-GB" sz="1200"/>
              <a:t>A list of activities were included in the PDF which serve as a minimal list of requirements for </a:t>
            </a:r>
            <a:r>
              <a:rPr lang="en-GB" sz="1200" i="1"/>
              <a:t>'things that the employer expects to be included'</a:t>
            </a:r>
            <a:r>
              <a:rPr lang="en-GB" sz="1200"/>
              <a:t>.</a:t>
            </a:r>
          </a:p>
          <a:p>
            <a:endParaRPr lang="en-GB" sz="1200"/>
          </a:p>
          <a:p>
            <a:r>
              <a:rPr lang="en-GB" sz="1200"/>
              <a:t>The slides above and below show evidence of these activities being completed.</a:t>
            </a:r>
            <a:endParaRPr lang="en-GB"/>
          </a:p>
        </p:txBody>
      </p:sp>
    </p:spTree>
    <p:extLst>
      <p:ext uri="{BB962C8B-B14F-4D97-AF65-F5344CB8AC3E}">
        <p14:creationId xmlns:p14="http://schemas.microsoft.com/office/powerpoint/2010/main" val="29252012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A12778-649E-7516-E26C-82341E020CAC}"/>
              </a:ext>
            </a:extLst>
          </p:cNvPr>
          <p:cNvSpPr>
            <a:spLocks noGrp="1"/>
          </p:cNvSpPr>
          <p:nvPr>
            <p:ph type="title"/>
          </p:nvPr>
        </p:nvSpPr>
        <p:spPr>
          <a:xfrm>
            <a:off x="466722" y="586855"/>
            <a:ext cx="3201366" cy="3232889"/>
          </a:xfrm>
        </p:spPr>
        <p:txBody>
          <a:bodyPr anchor="b">
            <a:normAutofit/>
          </a:bodyPr>
          <a:lstStyle/>
          <a:p>
            <a:r>
              <a:rPr lang="en-GB" sz="4000">
                <a:solidFill>
                  <a:srgbClr val="FFFFFF"/>
                </a:solidFill>
              </a:rPr>
              <a:t>SC1)</a:t>
            </a:r>
            <a:br>
              <a:rPr lang="en-GB" sz="4000">
                <a:solidFill>
                  <a:srgbClr val="FFFFFF"/>
                </a:solidFill>
              </a:rPr>
            </a:br>
            <a:br>
              <a:rPr lang="en-GB" sz="4000">
                <a:solidFill>
                  <a:srgbClr val="FFFFFF"/>
                </a:solidFill>
              </a:rPr>
            </a:br>
            <a:r>
              <a:rPr lang="en-GB" sz="3200">
                <a:solidFill>
                  <a:srgbClr val="FFFFFF"/>
                </a:solidFill>
              </a:rPr>
              <a:t>Can you project next year's sales?</a:t>
            </a:r>
          </a:p>
        </p:txBody>
      </p:sp>
      <p:pic>
        <p:nvPicPr>
          <p:cNvPr id="13" name="Picture 12" descr="A screenshot of a computer screen&#10;&#10;Description automatically generated">
            <a:extLst>
              <a:ext uri="{FF2B5EF4-FFF2-40B4-BE49-F238E27FC236}">
                <a16:creationId xmlns:a16="http://schemas.microsoft.com/office/drawing/2014/main" id="{7DF80644-A3F8-21D6-83AB-84D2EE0D7887}"/>
              </a:ext>
            </a:extLst>
          </p:cNvPr>
          <p:cNvPicPr>
            <a:picLocks noChangeAspect="1"/>
          </p:cNvPicPr>
          <p:nvPr/>
        </p:nvPicPr>
        <p:blipFill>
          <a:blip r:embed="rId2"/>
          <a:stretch>
            <a:fillRect/>
          </a:stretch>
        </p:blipFill>
        <p:spPr>
          <a:xfrm>
            <a:off x="4434289" y="1151653"/>
            <a:ext cx="7399663" cy="3186766"/>
          </a:xfrm>
          <a:prstGeom prst="rect">
            <a:avLst/>
          </a:prstGeom>
        </p:spPr>
      </p:pic>
      <p:sp>
        <p:nvSpPr>
          <p:cNvPr id="6" name="Rectangle 5">
            <a:extLst>
              <a:ext uri="{FF2B5EF4-FFF2-40B4-BE49-F238E27FC236}">
                <a16:creationId xmlns:a16="http://schemas.microsoft.com/office/drawing/2014/main" id="{E54706B8-68C9-D3D4-CC40-3140465962EC}"/>
              </a:ext>
            </a:extLst>
          </p:cNvPr>
          <p:cNvSpPr/>
          <p:nvPr/>
        </p:nvSpPr>
        <p:spPr>
          <a:xfrm>
            <a:off x="9100223" y="2924658"/>
            <a:ext cx="2732527" cy="136073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DBD93015-F113-04EF-2C67-3A878C514B31}"/>
              </a:ext>
            </a:extLst>
          </p:cNvPr>
          <p:cNvSpPr txBox="1"/>
          <p:nvPr/>
        </p:nvSpPr>
        <p:spPr>
          <a:xfrm>
            <a:off x="4327203" y="4573379"/>
            <a:ext cx="7399128" cy="20621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a:t>The line graph displays the fluctuations of </a:t>
            </a:r>
            <a:r>
              <a:rPr lang="en-GB" sz="1600" i="1"/>
              <a:t>gross sales</a:t>
            </a:r>
            <a:r>
              <a:rPr lang="en-GB" sz="1600"/>
              <a:t> by recorded dates. The provided data displays gross sales up to the year 2020, with (the next 12 months) </a:t>
            </a:r>
            <a:r>
              <a:rPr lang="en-GB" sz="1600" b="1"/>
              <a:t>2021</a:t>
            </a:r>
            <a:r>
              <a:rPr lang="en-GB" sz="1600"/>
              <a:t> being </a:t>
            </a:r>
            <a:r>
              <a:rPr lang="en-GB" sz="1600" i="1"/>
              <a:t>forecasted</a:t>
            </a:r>
            <a:r>
              <a:rPr lang="en-GB" sz="1600"/>
              <a:t> to being around </a:t>
            </a:r>
            <a:r>
              <a:rPr lang="en-GB" sz="1600" b="1"/>
              <a:t>£185K</a:t>
            </a:r>
            <a:r>
              <a:rPr lang="en-GB" sz="1600"/>
              <a:t> on average in terms of sales. </a:t>
            </a:r>
            <a:br>
              <a:rPr lang="en-GB" sz="1600"/>
            </a:br>
            <a:r>
              <a:rPr lang="en-GB" sz="1600"/>
              <a:t>At a 0.9 confidence level, this average range can vary between approximately </a:t>
            </a:r>
            <a:br>
              <a:rPr lang="en-GB" sz="1600"/>
            </a:br>
            <a:r>
              <a:rPr lang="en-GB" sz="1600"/>
              <a:t>-£50K to £450K.</a:t>
            </a:r>
          </a:p>
          <a:p>
            <a:endParaRPr lang="en-GB" sz="1600"/>
          </a:p>
          <a:p>
            <a:r>
              <a:rPr lang="en-GB" sz="1600" i="1"/>
              <a:t>Note: The sample data was only up to the year 2020, so I based the context of 'next year' around the data available (2021), instead of 2025.</a:t>
            </a:r>
          </a:p>
        </p:txBody>
      </p:sp>
      <p:cxnSp>
        <p:nvCxnSpPr>
          <p:cNvPr id="5" name="Straight Arrow Connector 4">
            <a:extLst>
              <a:ext uri="{FF2B5EF4-FFF2-40B4-BE49-F238E27FC236}">
                <a16:creationId xmlns:a16="http://schemas.microsoft.com/office/drawing/2014/main" id="{E7E9AD39-0F81-A2BC-9615-D8AB5A980F55}"/>
              </a:ext>
            </a:extLst>
          </p:cNvPr>
          <p:cNvCxnSpPr/>
          <p:nvPr/>
        </p:nvCxnSpPr>
        <p:spPr>
          <a:xfrm>
            <a:off x="10972800" y="3311485"/>
            <a:ext cx="198303" cy="271748"/>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541250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A12778-649E-7516-E26C-82341E020CAC}"/>
              </a:ext>
            </a:extLst>
          </p:cNvPr>
          <p:cNvSpPr>
            <a:spLocks noGrp="1"/>
          </p:cNvSpPr>
          <p:nvPr>
            <p:ph type="title"/>
          </p:nvPr>
        </p:nvSpPr>
        <p:spPr>
          <a:xfrm>
            <a:off x="466722" y="586855"/>
            <a:ext cx="3201366" cy="3232889"/>
          </a:xfrm>
        </p:spPr>
        <p:txBody>
          <a:bodyPr anchor="b">
            <a:normAutofit/>
          </a:bodyPr>
          <a:lstStyle/>
          <a:p>
            <a:r>
              <a:rPr lang="en-GB" sz="4000">
                <a:solidFill>
                  <a:srgbClr val="FFFFFF"/>
                </a:solidFill>
              </a:rPr>
              <a:t>SC2)</a:t>
            </a:r>
            <a:br>
              <a:rPr lang="en-GB" sz="4000">
                <a:solidFill>
                  <a:srgbClr val="FFFFFF"/>
                </a:solidFill>
              </a:rPr>
            </a:br>
            <a:br>
              <a:rPr lang="en-GB" sz="4000">
                <a:solidFill>
                  <a:srgbClr val="FFFFFF"/>
                </a:solidFill>
              </a:rPr>
            </a:br>
            <a:r>
              <a:rPr lang="en-GB" sz="3200">
                <a:solidFill>
                  <a:srgbClr val="FFFFFF"/>
                </a:solidFill>
              </a:rPr>
              <a:t>Can you answer the previous questions but for profit?</a:t>
            </a:r>
          </a:p>
        </p:txBody>
      </p:sp>
      <p:sp>
        <p:nvSpPr>
          <p:cNvPr id="7" name="TextBox 6">
            <a:extLst>
              <a:ext uri="{FF2B5EF4-FFF2-40B4-BE49-F238E27FC236}">
                <a16:creationId xmlns:a16="http://schemas.microsoft.com/office/drawing/2014/main" id="{DBD93015-F113-04EF-2C67-3A878C514B31}"/>
              </a:ext>
            </a:extLst>
          </p:cNvPr>
          <p:cNvSpPr txBox="1"/>
          <p:nvPr/>
        </p:nvSpPr>
        <p:spPr>
          <a:xfrm>
            <a:off x="4327203" y="4573379"/>
            <a:ext cx="7399128" cy="20621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a:t>I've added toggleable buttons that can switch the state of the dashboard between </a:t>
            </a:r>
            <a:r>
              <a:rPr lang="en-GB" sz="1600" i="1"/>
              <a:t>'Gross Sales'</a:t>
            </a:r>
            <a:r>
              <a:rPr lang="en-GB" sz="1600"/>
              <a:t>, and </a:t>
            </a:r>
            <a:r>
              <a:rPr lang="en-GB" sz="1600" i="1"/>
              <a:t>'Profit'</a:t>
            </a:r>
            <a:r>
              <a:rPr lang="en-GB" sz="1600"/>
              <a:t> (Gross Sales – Cost). </a:t>
            </a:r>
            <a:endParaRPr lang="en-US"/>
          </a:p>
          <a:p>
            <a:r>
              <a:rPr lang="en-GB" sz="1600"/>
              <a:t>When profit is toggled on, the gross sales button is greyed out to indicate a switch in state, and all relevant visuals on the dashboard will be changed accordingly to the new master measure that is </a:t>
            </a:r>
            <a:r>
              <a:rPr lang="en-GB" sz="1600" i="1"/>
              <a:t>'</a:t>
            </a:r>
            <a:r>
              <a:rPr lang="en-GB" sz="1600" i="1" err="1"/>
              <a:t>mProfit</a:t>
            </a:r>
            <a:r>
              <a:rPr lang="en-GB" sz="1600" i="1"/>
              <a:t>'</a:t>
            </a:r>
            <a:r>
              <a:rPr lang="en-GB" sz="1600"/>
              <a:t>.</a:t>
            </a:r>
            <a:endParaRPr lang="en-US"/>
          </a:p>
          <a:p>
            <a:br>
              <a:rPr lang="en-GB" sz="1600"/>
            </a:br>
            <a:r>
              <a:rPr lang="en-GB" sz="1600" i="1"/>
              <a:t>Note: This is all done on the same sheet, so it still qualifies as an executive style dashboard.</a:t>
            </a:r>
          </a:p>
        </p:txBody>
      </p:sp>
      <p:pic>
        <p:nvPicPr>
          <p:cNvPr id="3" name="Picture 2" descr="A screenshot of a computer&#10;&#10;Description automatically generated">
            <a:extLst>
              <a:ext uri="{FF2B5EF4-FFF2-40B4-BE49-F238E27FC236}">
                <a16:creationId xmlns:a16="http://schemas.microsoft.com/office/drawing/2014/main" id="{D03919F5-E242-CF7D-81A4-8563CF5D0255}"/>
              </a:ext>
            </a:extLst>
          </p:cNvPr>
          <p:cNvPicPr>
            <a:picLocks noChangeAspect="1"/>
          </p:cNvPicPr>
          <p:nvPr/>
        </p:nvPicPr>
        <p:blipFill>
          <a:blip r:embed="rId2"/>
          <a:stretch>
            <a:fillRect/>
          </a:stretch>
        </p:blipFill>
        <p:spPr>
          <a:xfrm>
            <a:off x="4324120" y="1186929"/>
            <a:ext cx="7399664" cy="3134576"/>
          </a:xfrm>
          <a:prstGeom prst="rect">
            <a:avLst/>
          </a:prstGeom>
        </p:spPr>
      </p:pic>
      <p:sp>
        <p:nvSpPr>
          <p:cNvPr id="6" name="Rectangle 5">
            <a:extLst>
              <a:ext uri="{FF2B5EF4-FFF2-40B4-BE49-F238E27FC236}">
                <a16:creationId xmlns:a16="http://schemas.microsoft.com/office/drawing/2014/main" id="{E54706B8-68C9-D3D4-CC40-3140465962EC}"/>
              </a:ext>
            </a:extLst>
          </p:cNvPr>
          <p:cNvSpPr/>
          <p:nvPr/>
        </p:nvSpPr>
        <p:spPr>
          <a:xfrm>
            <a:off x="9605163" y="1345575"/>
            <a:ext cx="2117419" cy="21315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9" name="Straight Arrow Connector 8">
            <a:extLst>
              <a:ext uri="{FF2B5EF4-FFF2-40B4-BE49-F238E27FC236}">
                <a16:creationId xmlns:a16="http://schemas.microsoft.com/office/drawing/2014/main" id="{4CA76B84-B004-AE4F-4C75-AFAFC1AA436B}"/>
              </a:ext>
            </a:extLst>
          </p:cNvPr>
          <p:cNvCxnSpPr/>
          <p:nvPr/>
        </p:nvCxnSpPr>
        <p:spPr>
          <a:xfrm flipH="1">
            <a:off x="5231175" y="1227460"/>
            <a:ext cx="214830" cy="235026"/>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799241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A12778-649E-7516-E26C-82341E020CAC}"/>
              </a:ext>
            </a:extLst>
          </p:cNvPr>
          <p:cNvSpPr>
            <a:spLocks noGrp="1"/>
          </p:cNvSpPr>
          <p:nvPr>
            <p:ph type="title"/>
          </p:nvPr>
        </p:nvSpPr>
        <p:spPr>
          <a:xfrm>
            <a:off x="466722" y="586855"/>
            <a:ext cx="3201366" cy="3232889"/>
          </a:xfrm>
        </p:spPr>
        <p:txBody>
          <a:bodyPr anchor="b">
            <a:normAutofit/>
          </a:bodyPr>
          <a:lstStyle/>
          <a:p>
            <a:r>
              <a:rPr lang="en-GB" sz="4000">
                <a:solidFill>
                  <a:srgbClr val="FFFFFF"/>
                </a:solidFill>
              </a:rPr>
              <a:t>SC2.1)</a:t>
            </a:r>
            <a:br>
              <a:rPr lang="en-GB" sz="4000">
                <a:solidFill>
                  <a:srgbClr val="FFFFFF"/>
                </a:solidFill>
              </a:rPr>
            </a:br>
            <a:br>
              <a:rPr lang="en-GB" sz="4000">
                <a:solidFill>
                  <a:srgbClr val="FFFFFF"/>
                </a:solidFill>
              </a:rPr>
            </a:br>
            <a:r>
              <a:rPr lang="en-GB" sz="3200">
                <a:solidFill>
                  <a:srgbClr val="FFFFFF"/>
                </a:solidFill>
              </a:rPr>
              <a:t>Which Region had the highest profit?</a:t>
            </a:r>
          </a:p>
        </p:txBody>
      </p:sp>
      <p:sp>
        <p:nvSpPr>
          <p:cNvPr id="7" name="TextBox 6">
            <a:extLst>
              <a:ext uri="{FF2B5EF4-FFF2-40B4-BE49-F238E27FC236}">
                <a16:creationId xmlns:a16="http://schemas.microsoft.com/office/drawing/2014/main" id="{DBD93015-F113-04EF-2C67-3A878C514B31}"/>
              </a:ext>
            </a:extLst>
          </p:cNvPr>
          <p:cNvSpPr txBox="1"/>
          <p:nvPr/>
        </p:nvSpPr>
        <p:spPr>
          <a:xfrm>
            <a:off x="4327203" y="4573379"/>
            <a:ext cx="7399128"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a:t>As with </a:t>
            </a:r>
            <a:r>
              <a:rPr lang="en-GB" sz="1600" i="1"/>
              <a:t>gross sales</a:t>
            </a:r>
            <a:r>
              <a:rPr lang="en-GB" sz="1600"/>
              <a:t>, </a:t>
            </a:r>
            <a:r>
              <a:rPr lang="en-GB" sz="1600" b="1"/>
              <a:t>USA</a:t>
            </a:r>
            <a:r>
              <a:rPr lang="en-GB" sz="1600"/>
              <a:t> occupies the top position for the most profit made (with </a:t>
            </a:r>
            <a:r>
              <a:rPr lang="en-GB" sz="1600" b="1"/>
              <a:t>£19M</a:t>
            </a:r>
            <a:r>
              <a:rPr lang="en-GB" sz="1600"/>
              <a:t>) between </a:t>
            </a:r>
            <a:r>
              <a:rPr lang="en-GB" sz="1600" i="1"/>
              <a:t>all regions</a:t>
            </a:r>
            <a:r>
              <a:rPr lang="en-GB" sz="1600"/>
              <a:t>. </a:t>
            </a:r>
            <a:br>
              <a:rPr lang="en-GB" sz="1600"/>
            </a:br>
            <a:br>
              <a:rPr lang="en-GB" sz="1600"/>
            </a:br>
            <a:r>
              <a:rPr lang="en-GB" sz="1600"/>
              <a:t>The other regions also retain their same positions. The only difference being a smaller number due to deductions from costs.</a:t>
            </a:r>
            <a:endParaRPr lang="en-US"/>
          </a:p>
        </p:txBody>
      </p:sp>
      <p:pic>
        <p:nvPicPr>
          <p:cNvPr id="5" name="Picture 4" descr="A screenshot of a computer&#10;&#10;Description automatically generated">
            <a:extLst>
              <a:ext uri="{FF2B5EF4-FFF2-40B4-BE49-F238E27FC236}">
                <a16:creationId xmlns:a16="http://schemas.microsoft.com/office/drawing/2014/main" id="{71C3DBD5-4E03-0FEF-DA61-79E0D9369C54}"/>
              </a:ext>
            </a:extLst>
          </p:cNvPr>
          <p:cNvPicPr>
            <a:picLocks noChangeAspect="1"/>
          </p:cNvPicPr>
          <p:nvPr/>
        </p:nvPicPr>
        <p:blipFill>
          <a:blip r:embed="rId2"/>
          <a:stretch>
            <a:fillRect/>
          </a:stretch>
        </p:blipFill>
        <p:spPr>
          <a:xfrm>
            <a:off x="4324120" y="1186929"/>
            <a:ext cx="7399664" cy="3134576"/>
          </a:xfrm>
          <a:prstGeom prst="rect">
            <a:avLst/>
          </a:prstGeom>
        </p:spPr>
      </p:pic>
      <p:sp>
        <p:nvSpPr>
          <p:cNvPr id="6" name="Rectangle 5">
            <a:extLst>
              <a:ext uri="{FF2B5EF4-FFF2-40B4-BE49-F238E27FC236}">
                <a16:creationId xmlns:a16="http://schemas.microsoft.com/office/drawing/2014/main" id="{E54706B8-68C9-D3D4-CC40-3140465962EC}"/>
              </a:ext>
            </a:extLst>
          </p:cNvPr>
          <p:cNvSpPr/>
          <p:nvPr/>
        </p:nvSpPr>
        <p:spPr>
          <a:xfrm>
            <a:off x="5547283" y="1345576"/>
            <a:ext cx="3852575" cy="156271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5533199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A12778-649E-7516-E26C-82341E020CAC}"/>
              </a:ext>
            </a:extLst>
          </p:cNvPr>
          <p:cNvSpPr>
            <a:spLocks noGrp="1"/>
          </p:cNvSpPr>
          <p:nvPr>
            <p:ph type="title"/>
          </p:nvPr>
        </p:nvSpPr>
        <p:spPr>
          <a:xfrm>
            <a:off x="466722" y="586855"/>
            <a:ext cx="3201366" cy="3232889"/>
          </a:xfrm>
        </p:spPr>
        <p:txBody>
          <a:bodyPr anchor="b">
            <a:normAutofit/>
          </a:bodyPr>
          <a:lstStyle/>
          <a:p>
            <a:r>
              <a:rPr lang="en-GB" sz="4000">
                <a:solidFill>
                  <a:srgbClr val="FFFFFF"/>
                </a:solidFill>
              </a:rPr>
              <a:t>SC2.2)</a:t>
            </a:r>
            <a:br>
              <a:rPr lang="en-GB" sz="4000">
                <a:solidFill>
                  <a:srgbClr val="FFFFFF"/>
                </a:solidFill>
              </a:rPr>
            </a:br>
            <a:br>
              <a:rPr lang="en-GB" sz="4000">
                <a:solidFill>
                  <a:srgbClr val="FFFFFF"/>
                </a:solidFill>
              </a:rPr>
            </a:br>
            <a:r>
              <a:rPr lang="en-GB" sz="3200">
                <a:solidFill>
                  <a:srgbClr val="FFFFFF"/>
                </a:solidFill>
              </a:rPr>
              <a:t>Which was the best-selling (profit) product line in that region?</a:t>
            </a:r>
            <a:endParaRPr lang="en-GB" sz="3200">
              <a:solidFill>
                <a:srgbClr val="000000"/>
              </a:solidFill>
            </a:endParaRPr>
          </a:p>
        </p:txBody>
      </p:sp>
      <p:sp>
        <p:nvSpPr>
          <p:cNvPr id="7" name="TextBox 6">
            <a:extLst>
              <a:ext uri="{FF2B5EF4-FFF2-40B4-BE49-F238E27FC236}">
                <a16:creationId xmlns:a16="http://schemas.microsoft.com/office/drawing/2014/main" id="{DBD93015-F113-04EF-2C67-3A878C514B31}"/>
              </a:ext>
            </a:extLst>
          </p:cNvPr>
          <p:cNvSpPr txBox="1"/>
          <p:nvPr/>
        </p:nvSpPr>
        <p:spPr>
          <a:xfrm>
            <a:off x="4327203" y="4573379"/>
            <a:ext cx="7399128"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b="1"/>
              <a:t>'Food'</a:t>
            </a:r>
            <a:r>
              <a:rPr lang="en-GB" sz="1600"/>
              <a:t> is the most profitable </a:t>
            </a:r>
            <a:r>
              <a:rPr lang="en-GB" sz="1600" i="1"/>
              <a:t>product line</a:t>
            </a:r>
            <a:r>
              <a:rPr lang="en-GB" sz="1600"/>
              <a:t> in the </a:t>
            </a:r>
            <a:r>
              <a:rPr lang="en-GB" sz="1600" i="1"/>
              <a:t>USA</a:t>
            </a:r>
            <a:r>
              <a:rPr lang="en-GB" sz="1600"/>
              <a:t>. The percentages are roughly the same for profit and gross sales (with no change in quantity), indicating the overall profit margins should be around the same between the two product lines.</a:t>
            </a:r>
          </a:p>
        </p:txBody>
      </p:sp>
      <p:pic>
        <p:nvPicPr>
          <p:cNvPr id="4" name="Picture 3" descr="A screenshot of a computer&#10;&#10;Description automatically generated">
            <a:extLst>
              <a:ext uri="{FF2B5EF4-FFF2-40B4-BE49-F238E27FC236}">
                <a16:creationId xmlns:a16="http://schemas.microsoft.com/office/drawing/2014/main" id="{C6369003-82F6-B0C5-BD00-E5D6EB3D99BE}"/>
              </a:ext>
            </a:extLst>
          </p:cNvPr>
          <p:cNvPicPr>
            <a:picLocks noChangeAspect="1"/>
          </p:cNvPicPr>
          <p:nvPr/>
        </p:nvPicPr>
        <p:blipFill>
          <a:blip r:embed="rId2"/>
          <a:stretch>
            <a:fillRect/>
          </a:stretch>
        </p:blipFill>
        <p:spPr>
          <a:xfrm>
            <a:off x="4324120" y="1080948"/>
            <a:ext cx="7574096" cy="3273093"/>
          </a:xfrm>
          <a:prstGeom prst="rect">
            <a:avLst/>
          </a:prstGeom>
        </p:spPr>
      </p:pic>
      <p:sp>
        <p:nvSpPr>
          <p:cNvPr id="6" name="Rectangle 5">
            <a:extLst>
              <a:ext uri="{FF2B5EF4-FFF2-40B4-BE49-F238E27FC236}">
                <a16:creationId xmlns:a16="http://schemas.microsoft.com/office/drawing/2014/main" id="{E54706B8-68C9-D3D4-CC40-3140465962EC}"/>
              </a:ext>
            </a:extLst>
          </p:cNvPr>
          <p:cNvSpPr/>
          <p:nvPr/>
        </p:nvSpPr>
        <p:spPr>
          <a:xfrm>
            <a:off x="9540897" y="1501649"/>
            <a:ext cx="2356118" cy="138828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1860710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A12778-649E-7516-E26C-82341E020CAC}"/>
              </a:ext>
            </a:extLst>
          </p:cNvPr>
          <p:cNvSpPr>
            <a:spLocks noGrp="1"/>
          </p:cNvSpPr>
          <p:nvPr>
            <p:ph type="title"/>
          </p:nvPr>
        </p:nvSpPr>
        <p:spPr>
          <a:xfrm>
            <a:off x="466722" y="586855"/>
            <a:ext cx="3201366" cy="3232889"/>
          </a:xfrm>
        </p:spPr>
        <p:txBody>
          <a:bodyPr anchor="b">
            <a:normAutofit/>
          </a:bodyPr>
          <a:lstStyle/>
          <a:p>
            <a:r>
              <a:rPr lang="en-GB" sz="4000">
                <a:solidFill>
                  <a:srgbClr val="FFFFFF"/>
                </a:solidFill>
              </a:rPr>
              <a:t>SC2.3)</a:t>
            </a:r>
            <a:br>
              <a:rPr lang="en-GB" sz="4000">
                <a:solidFill>
                  <a:srgbClr val="FFFFFF"/>
                </a:solidFill>
              </a:rPr>
            </a:br>
            <a:br>
              <a:rPr lang="en-GB" sz="4000">
                <a:solidFill>
                  <a:srgbClr val="FFFFFF"/>
                </a:solidFill>
              </a:rPr>
            </a:br>
            <a:r>
              <a:rPr lang="en-GB" sz="3200">
                <a:solidFill>
                  <a:srgbClr val="FFFFFF"/>
                </a:solidFill>
              </a:rPr>
              <a:t>Who are the top 10 sales reps for profit globally?</a:t>
            </a:r>
          </a:p>
        </p:txBody>
      </p:sp>
      <p:sp>
        <p:nvSpPr>
          <p:cNvPr id="7" name="TextBox 6">
            <a:extLst>
              <a:ext uri="{FF2B5EF4-FFF2-40B4-BE49-F238E27FC236}">
                <a16:creationId xmlns:a16="http://schemas.microsoft.com/office/drawing/2014/main" id="{DBD93015-F113-04EF-2C67-3A878C514B31}"/>
              </a:ext>
            </a:extLst>
          </p:cNvPr>
          <p:cNvSpPr txBox="1"/>
          <p:nvPr/>
        </p:nvSpPr>
        <p:spPr>
          <a:xfrm>
            <a:off x="4327203" y="4573379"/>
            <a:ext cx="7399128"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b="1"/>
              <a:t>Judy Thurman</a:t>
            </a:r>
            <a:r>
              <a:rPr lang="en-GB" sz="1600"/>
              <a:t> is also the </a:t>
            </a:r>
            <a:r>
              <a:rPr lang="en-GB" sz="1600" i="1"/>
              <a:t>sales rep</a:t>
            </a:r>
            <a:r>
              <a:rPr lang="en-GB" sz="1600"/>
              <a:t> who generates the most profit followed by Stewart Wind.</a:t>
            </a:r>
          </a:p>
          <a:p>
            <a:endParaRPr lang="en-GB" sz="1600"/>
          </a:p>
          <a:p>
            <a:r>
              <a:rPr lang="en-GB" sz="1600"/>
              <a:t>The top 4 positions for total profit made by sales reps remain the same, however the subsequent 6 seems to change when compared with gross sales.</a:t>
            </a:r>
            <a:br>
              <a:rPr lang="en-GB" sz="1600"/>
            </a:br>
            <a:endParaRPr lang="en-GB" sz="1600"/>
          </a:p>
        </p:txBody>
      </p:sp>
      <p:pic>
        <p:nvPicPr>
          <p:cNvPr id="5" name="Picture 4" descr="A screenshot of a computer&#10;&#10;Description automatically generated">
            <a:extLst>
              <a:ext uri="{FF2B5EF4-FFF2-40B4-BE49-F238E27FC236}">
                <a16:creationId xmlns:a16="http://schemas.microsoft.com/office/drawing/2014/main" id="{B66DBF2E-0407-8752-5E1E-3F68E25D9952}"/>
              </a:ext>
            </a:extLst>
          </p:cNvPr>
          <p:cNvPicPr>
            <a:picLocks noChangeAspect="1"/>
          </p:cNvPicPr>
          <p:nvPr/>
        </p:nvPicPr>
        <p:blipFill>
          <a:blip r:embed="rId2"/>
          <a:stretch>
            <a:fillRect/>
          </a:stretch>
        </p:blipFill>
        <p:spPr>
          <a:xfrm>
            <a:off x="4324120" y="1214471"/>
            <a:ext cx="7399664" cy="3134576"/>
          </a:xfrm>
          <a:prstGeom prst="rect">
            <a:avLst/>
          </a:prstGeom>
        </p:spPr>
      </p:pic>
      <p:sp>
        <p:nvSpPr>
          <p:cNvPr id="6" name="Rectangle 5">
            <a:extLst>
              <a:ext uri="{FF2B5EF4-FFF2-40B4-BE49-F238E27FC236}">
                <a16:creationId xmlns:a16="http://schemas.microsoft.com/office/drawing/2014/main" id="{E54706B8-68C9-D3D4-CC40-3140465962EC}"/>
              </a:ext>
            </a:extLst>
          </p:cNvPr>
          <p:cNvSpPr/>
          <p:nvPr/>
        </p:nvSpPr>
        <p:spPr>
          <a:xfrm>
            <a:off x="4326248" y="2952202"/>
            <a:ext cx="2181684" cy="132401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8488482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A12778-649E-7516-E26C-82341E020CAC}"/>
              </a:ext>
            </a:extLst>
          </p:cNvPr>
          <p:cNvSpPr>
            <a:spLocks noGrp="1"/>
          </p:cNvSpPr>
          <p:nvPr>
            <p:ph type="title"/>
          </p:nvPr>
        </p:nvSpPr>
        <p:spPr>
          <a:xfrm>
            <a:off x="466722" y="586855"/>
            <a:ext cx="3201366" cy="3232889"/>
          </a:xfrm>
        </p:spPr>
        <p:txBody>
          <a:bodyPr anchor="b">
            <a:normAutofit/>
          </a:bodyPr>
          <a:lstStyle/>
          <a:p>
            <a:r>
              <a:rPr lang="en-GB" sz="4000">
                <a:solidFill>
                  <a:srgbClr val="FFFFFF"/>
                </a:solidFill>
              </a:rPr>
              <a:t>SC2.4)</a:t>
            </a:r>
            <a:br>
              <a:rPr lang="en-GB" sz="4000">
                <a:solidFill>
                  <a:srgbClr val="FFFFFF"/>
                </a:solidFill>
              </a:rPr>
            </a:br>
            <a:br>
              <a:rPr lang="en-GB" sz="4000">
                <a:solidFill>
                  <a:srgbClr val="FFFFFF"/>
                </a:solidFill>
              </a:rPr>
            </a:br>
            <a:r>
              <a:rPr lang="en-GB" sz="3200">
                <a:solidFill>
                  <a:srgbClr val="FFFFFF"/>
                </a:solidFill>
              </a:rPr>
              <a:t>Who was the biggest customer for profit globally?</a:t>
            </a:r>
          </a:p>
        </p:txBody>
      </p:sp>
      <p:sp>
        <p:nvSpPr>
          <p:cNvPr id="7" name="TextBox 6">
            <a:extLst>
              <a:ext uri="{FF2B5EF4-FFF2-40B4-BE49-F238E27FC236}">
                <a16:creationId xmlns:a16="http://schemas.microsoft.com/office/drawing/2014/main" id="{DBD93015-F113-04EF-2C67-3A878C514B31}"/>
              </a:ext>
            </a:extLst>
          </p:cNvPr>
          <p:cNvSpPr txBox="1"/>
          <p:nvPr/>
        </p:nvSpPr>
        <p:spPr>
          <a:xfrm>
            <a:off x="4327203" y="4573379"/>
            <a:ext cx="7399128"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a:t>The most profitable </a:t>
            </a:r>
            <a:r>
              <a:rPr lang="en-GB" sz="1600" i="1"/>
              <a:t>customer</a:t>
            </a:r>
            <a:r>
              <a:rPr lang="en-GB" sz="1600"/>
              <a:t> is </a:t>
            </a:r>
            <a:r>
              <a:rPr lang="en-GB" sz="1600" b="1"/>
              <a:t>Paracel</a:t>
            </a:r>
            <a:r>
              <a:rPr lang="en-GB" sz="1600"/>
              <a:t> rather than </a:t>
            </a:r>
            <a:r>
              <a:rPr lang="en-GB" sz="1600" err="1"/>
              <a:t>PageWave</a:t>
            </a:r>
            <a:r>
              <a:rPr lang="en-GB" sz="1600"/>
              <a:t>, suggesting that the overall costs for </a:t>
            </a:r>
            <a:r>
              <a:rPr lang="en-GB" sz="1600" err="1"/>
              <a:t>PageWave</a:t>
            </a:r>
            <a:r>
              <a:rPr lang="en-GB" sz="1600"/>
              <a:t> is very high. There could be a number of reasons for this such as transportation costs, or </a:t>
            </a:r>
            <a:r>
              <a:rPr lang="en-GB" sz="1600" err="1"/>
              <a:t>PageWave</a:t>
            </a:r>
            <a:r>
              <a:rPr lang="en-GB" sz="1600"/>
              <a:t> buying in bulk. </a:t>
            </a:r>
          </a:p>
          <a:p>
            <a:endParaRPr lang="en-GB" sz="1600"/>
          </a:p>
          <a:p>
            <a:r>
              <a:rPr lang="en-GB" sz="1600"/>
              <a:t>Further analysis is needed for the context behind this.</a:t>
            </a:r>
          </a:p>
        </p:txBody>
      </p:sp>
      <p:pic>
        <p:nvPicPr>
          <p:cNvPr id="5" name="Picture 4" descr="A screenshot of a computer&#10;&#10;Description automatically generated">
            <a:extLst>
              <a:ext uri="{FF2B5EF4-FFF2-40B4-BE49-F238E27FC236}">
                <a16:creationId xmlns:a16="http://schemas.microsoft.com/office/drawing/2014/main" id="{A001C215-B688-ABE1-7CBB-107AD20F073D}"/>
              </a:ext>
            </a:extLst>
          </p:cNvPr>
          <p:cNvPicPr>
            <a:picLocks noChangeAspect="1"/>
          </p:cNvPicPr>
          <p:nvPr/>
        </p:nvPicPr>
        <p:blipFill>
          <a:blip r:embed="rId2"/>
          <a:stretch>
            <a:fillRect/>
          </a:stretch>
        </p:blipFill>
        <p:spPr>
          <a:xfrm>
            <a:off x="4324120" y="1186929"/>
            <a:ext cx="7399664" cy="3134576"/>
          </a:xfrm>
          <a:prstGeom prst="rect">
            <a:avLst/>
          </a:prstGeom>
        </p:spPr>
      </p:pic>
      <p:sp>
        <p:nvSpPr>
          <p:cNvPr id="6" name="Rectangle 5">
            <a:extLst>
              <a:ext uri="{FF2B5EF4-FFF2-40B4-BE49-F238E27FC236}">
                <a16:creationId xmlns:a16="http://schemas.microsoft.com/office/drawing/2014/main" id="{E54706B8-68C9-D3D4-CC40-3140465962EC}"/>
              </a:ext>
            </a:extLst>
          </p:cNvPr>
          <p:cNvSpPr/>
          <p:nvPr/>
        </p:nvSpPr>
        <p:spPr>
          <a:xfrm>
            <a:off x="6547981" y="2897118"/>
            <a:ext cx="2411203" cy="143418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8720900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A12778-649E-7516-E26C-82341E020CAC}"/>
              </a:ext>
            </a:extLst>
          </p:cNvPr>
          <p:cNvSpPr>
            <a:spLocks noGrp="1"/>
          </p:cNvSpPr>
          <p:nvPr>
            <p:ph type="title"/>
          </p:nvPr>
        </p:nvSpPr>
        <p:spPr>
          <a:xfrm>
            <a:off x="466722" y="586855"/>
            <a:ext cx="3201366" cy="3232889"/>
          </a:xfrm>
        </p:spPr>
        <p:txBody>
          <a:bodyPr anchor="b">
            <a:normAutofit/>
          </a:bodyPr>
          <a:lstStyle/>
          <a:p>
            <a:r>
              <a:rPr lang="en-GB" sz="4000">
                <a:solidFill>
                  <a:srgbClr val="FFFFFF"/>
                </a:solidFill>
              </a:rPr>
              <a:t>SC2.5)</a:t>
            </a:r>
            <a:br>
              <a:rPr lang="en-GB" sz="4000">
                <a:solidFill>
                  <a:srgbClr val="FFFFFF"/>
                </a:solidFill>
              </a:rPr>
            </a:br>
            <a:br>
              <a:rPr lang="en-GB" sz="4000">
                <a:solidFill>
                  <a:srgbClr val="FFFFFF"/>
                </a:solidFill>
              </a:rPr>
            </a:br>
            <a:r>
              <a:rPr lang="en-GB" sz="3200">
                <a:solidFill>
                  <a:srgbClr val="FFFFFF"/>
                </a:solidFill>
              </a:rPr>
              <a:t>Can you project next year's profit?</a:t>
            </a:r>
          </a:p>
        </p:txBody>
      </p:sp>
      <p:sp>
        <p:nvSpPr>
          <p:cNvPr id="7" name="TextBox 6">
            <a:extLst>
              <a:ext uri="{FF2B5EF4-FFF2-40B4-BE49-F238E27FC236}">
                <a16:creationId xmlns:a16="http://schemas.microsoft.com/office/drawing/2014/main" id="{DBD93015-F113-04EF-2C67-3A878C514B31}"/>
              </a:ext>
            </a:extLst>
          </p:cNvPr>
          <p:cNvSpPr txBox="1"/>
          <p:nvPr/>
        </p:nvSpPr>
        <p:spPr>
          <a:xfrm>
            <a:off x="4327203" y="4573379"/>
            <a:ext cx="7399128"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a:t>The </a:t>
            </a:r>
            <a:r>
              <a:rPr lang="en-GB" sz="1600" i="1"/>
              <a:t>forecast</a:t>
            </a:r>
            <a:r>
              <a:rPr lang="en-GB" sz="1600"/>
              <a:t> for </a:t>
            </a:r>
            <a:r>
              <a:rPr lang="en-GB" sz="1600" i="1"/>
              <a:t>profit</a:t>
            </a:r>
            <a:r>
              <a:rPr lang="en-GB" sz="1600"/>
              <a:t> is </a:t>
            </a:r>
            <a:r>
              <a:rPr lang="en-GB" sz="1600" b="1"/>
              <a:t>roughly the same</a:t>
            </a:r>
            <a:r>
              <a:rPr lang="en-GB" sz="1600"/>
              <a:t> as with gross sales except smaller numbers.</a:t>
            </a:r>
            <a:br>
              <a:rPr lang="en-GB" sz="1600"/>
            </a:br>
            <a:endParaRPr lang="en-GB" sz="1600"/>
          </a:p>
        </p:txBody>
      </p:sp>
      <p:pic>
        <p:nvPicPr>
          <p:cNvPr id="9" name="Picture 8" descr="A screenshot of a computer&#10;&#10;Description automatically generated">
            <a:extLst>
              <a:ext uri="{FF2B5EF4-FFF2-40B4-BE49-F238E27FC236}">
                <a16:creationId xmlns:a16="http://schemas.microsoft.com/office/drawing/2014/main" id="{4710CF81-D761-006B-1A1F-C15073B37547}"/>
              </a:ext>
            </a:extLst>
          </p:cNvPr>
          <p:cNvPicPr>
            <a:picLocks noChangeAspect="1"/>
          </p:cNvPicPr>
          <p:nvPr/>
        </p:nvPicPr>
        <p:blipFill>
          <a:blip r:embed="rId2"/>
          <a:stretch>
            <a:fillRect/>
          </a:stretch>
        </p:blipFill>
        <p:spPr>
          <a:xfrm>
            <a:off x="4324120" y="1186929"/>
            <a:ext cx="7399664" cy="3134576"/>
          </a:xfrm>
          <a:prstGeom prst="rect">
            <a:avLst/>
          </a:prstGeom>
        </p:spPr>
      </p:pic>
      <p:sp>
        <p:nvSpPr>
          <p:cNvPr id="6" name="Rectangle 5">
            <a:extLst>
              <a:ext uri="{FF2B5EF4-FFF2-40B4-BE49-F238E27FC236}">
                <a16:creationId xmlns:a16="http://schemas.microsoft.com/office/drawing/2014/main" id="{E54706B8-68C9-D3D4-CC40-3140465962EC}"/>
              </a:ext>
            </a:extLst>
          </p:cNvPr>
          <p:cNvSpPr/>
          <p:nvPr/>
        </p:nvSpPr>
        <p:spPr>
          <a:xfrm>
            <a:off x="8980873" y="2906299"/>
            <a:ext cx="2741707" cy="136073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5" name="Straight Arrow Connector 4">
            <a:extLst>
              <a:ext uri="{FF2B5EF4-FFF2-40B4-BE49-F238E27FC236}">
                <a16:creationId xmlns:a16="http://schemas.microsoft.com/office/drawing/2014/main" id="{DF9E55DE-3638-04C5-58FA-625488600BC7}"/>
              </a:ext>
            </a:extLst>
          </p:cNvPr>
          <p:cNvCxnSpPr/>
          <p:nvPr/>
        </p:nvCxnSpPr>
        <p:spPr>
          <a:xfrm>
            <a:off x="10972800" y="3311485"/>
            <a:ext cx="198303" cy="271748"/>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346343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A0B5B8-07DE-03C6-7820-DF1274A611A1}"/>
              </a:ext>
            </a:extLst>
          </p:cNvPr>
          <p:cNvSpPr>
            <a:spLocks noGrp="1"/>
          </p:cNvSpPr>
          <p:nvPr>
            <p:ph type="title"/>
          </p:nvPr>
        </p:nvSpPr>
        <p:spPr>
          <a:xfrm>
            <a:off x="1371599" y="294538"/>
            <a:ext cx="9895951" cy="1033669"/>
          </a:xfrm>
        </p:spPr>
        <p:txBody>
          <a:bodyPr>
            <a:normAutofit/>
          </a:bodyPr>
          <a:lstStyle/>
          <a:p>
            <a:r>
              <a:rPr lang="en-GB" sz="4000">
                <a:solidFill>
                  <a:srgbClr val="FFFFFF"/>
                </a:solidFill>
              </a:rPr>
              <a:t>Reflection</a:t>
            </a:r>
          </a:p>
        </p:txBody>
      </p:sp>
      <p:sp>
        <p:nvSpPr>
          <p:cNvPr id="5" name="TextBox 4">
            <a:extLst>
              <a:ext uri="{FF2B5EF4-FFF2-40B4-BE49-F238E27FC236}">
                <a16:creationId xmlns:a16="http://schemas.microsoft.com/office/drawing/2014/main" id="{CD9F48DF-9A9E-37D3-7A2B-44345410703B}"/>
              </a:ext>
            </a:extLst>
          </p:cNvPr>
          <p:cNvSpPr txBox="1"/>
          <p:nvPr/>
        </p:nvSpPr>
        <p:spPr>
          <a:xfrm>
            <a:off x="702956" y="1718175"/>
            <a:ext cx="10865919" cy="29546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a:solidFill>
                  <a:srgbClr val="005971"/>
                </a:solidFill>
              </a:rPr>
              <a:t>Impressions</a:t>
            </a:r>
          </a:p>
          <a:p>
            <a:br>
              <a:rPr lang="en-GB" sz="1200"/>
            </a:br>
            <a:r>
              <a:rPr lang="en-GB" sz="1200"/>
              <a:t>The process of developing the dashboard had its ups and downs. As someone who has </a:t>
            </a:r>
            <a:r>
              <a:rPr lang="en-GB" sz="1200" b="1"/>
              <a:t>never</a:t>
            </a:r>
            <a:r>
              <a:rPr lang="en-GB" sz="1200"/>
              <a:t> used Qlik prior to this challenge, my initial impressions on the software was a toned down version of Power BI, and to some extent it is, visuals are easier to construct, the UI (for the most part) is easier to understand,  and it feels very rewarding to use. However, as I delved deeper I realised the software has a lot more depth to it than I thought, whether it's creating expressions for conditional formatting, using CSS, or the extensions I haven't even explored yet. I admittedly spent more time experimenting with the various features than creating the dashboard.</a:t>
            </a:r>
          </a:p>
          <a:p>
            <a:endParaRPr lang="en-GB" sz="1200"/>
          </a:p>
          <a:p>
            <a:r>
              <a:rPr lang="en-GB" sz="1200"/>
              <a:t>As for the design; although I've created a dashboard I'm satisfied with, it felt deceptively more challenging than it should have been. Often times or not, the visuals I create give me the impression that they're better off in an operational rather than an executive style dashboard, this is probably because of the overlap in terms of design. As a result I ended up iterating over the dashboard on several occasions to ensure that it meets the criteria of being an executive style dashboard.</a:t>
            </a:r>
          </a:p>
          <a:p>
            <a:endParaRPr lang="en-GB" sz="1200"/>
          </a:p>
          <a:p>
            <a:r>
              <a:rPr lang="en-GB" sz="1200"/>
              <a:t>Despite all this, I found the challenge very rewarding after seeing a complete and functional dashboard that meets the expected requirements. </a:t>
            </a:r>
            <a:br>
              <a:rPr lang="en-GB" sz="1200"/>
            </a:br>
            <a:r>
              <a:rPr lang="en-GB" sz="1200"/>
              <a:t>My expectations of a data analyst still remain the same, and I would like to explore further if possible, such as data architecture which was not explicitly used for this challenge.</a:t>
            </a:r>
          </a:p>
        </p:txBody>
      </p:sp>
      <p:sp>
        <p:nvSpPr>
          <p:cNvPr id="6" name="TextBox 5">
            <a:extLst>
              <a:ext uri="{FF2B5EF4-FFF2-40B4-BE49-F238E27FC236}">
                <a16:creationId xmlns:a16="http://schemas.microsoft.com/office/drawing/2014/main" id="{3A93D014-3293-1BBB-B74B-B1278E17C496}"/>
              </a:ext>
            </a:extLst>
          </p:cNvPr>
          <p:cNvSpPr txBox="1"/>
          <p:nvPr/>
        </p:nvSpPr>
        <p:spPr>
          <a:xfrm>
            <a:off x="702954" y="4857981"/>
            <a:ext cx="5019811"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a:solidFill>
                  <a:srgbClr val="005971"/>
                </a:solidFill>
              </a:rPr>
              <a:t>Challenges</a:t>
            </a:r>
          </a:p>
          <a:p>
            <a:br>
              <a:rPr lang="en-GB" sz="1200"/>
            </a:br>
            <a:r>
              <a:rPr lang="en-GB" sz="1200"/>
              <a:t>Asides from the design that I've mentioned in my impressions. The other challenge I've encountered was a lack of experience in operating Qlik, which often limited what I could create. Although I have some experience with Power BI and programming, some expressions took a lot longer to create than necessary due to a gap in knowledge.</a:t>
            </a:r>
          </a:p>
        </p:txBody>
      </p:sp>
      <p:sp>
        <p:nvSpPr>
          <p:cNvPr id="13" name="TextBox 12">
            <a:extLst>
              <a:ext uri="{FF2B5EF4-FFF2-40B4-BE49-F238E27FC236}">
                <a16:creationId xmlns:a16="http://schemas.microsoft.com/office/drawing/2014/main" id="{F9921429-5D5E-08C7-24D7-86B39F17AF48}"/>
              </a:ext>
            </a:extLst>
          </p:cNvPr>
          <p:cNvSpPr txBox="1"/>
          <p:nvPr/>
        </p:nvSpPr>
        <p:spPr>
          <a:xfrm>
            <a:off x="6098954" y="4857981"/>
            <a:ext cx="5406031" cy="166199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a:solidFill>
                  <a:srgbClr val="005971"/>
                </a:solidFill>
              </a:rPr>
              <a:t>What can I do to improve next time?</a:t>
            </a:r>
          </a:p>
          <a:p>
            <a:br>
              <a:rPr lang="en-GB" sz="1200"/>
            </a:br>
            <a:r>
              <a:rPr lang="en-GB" sz="1200"/>
              <a:t>Spending more time learning Qlik would be the most obvious answer. Although I went through the tutorials, this only covered the surface level knowledge. The problem becomes abundantly clear for more complex measures, which could have been simplified or resolved more elegantly if I had a better understanding of variables and master measures (see KPI card expressions). If I want to develop a more complex dashboard, further reading is mandatory..</a:t>
            </a:r>
            <a:endParaRPr lang="en-GB"/>
          </a:p>
        </p:txBody>
      </p:sp>
    </p:spTree>
    <p:extLst>
      <p:ext uri="{BB962C8B-B14F-4D97-AF65-F5344CB8AC3E}">
        <p14:creationId xmlns:p14="http://schemas.microsoft.com/office/powerpoint/2010/main" val="33420483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A0B5B8-07DE-03C6-7820-DF1274A611A1}"/>
              </a:ext>
            </a:extLst>
          </p:cNvPr>
          <p:cNvSpPr>
            <a:spLocks noGrp="1"/>
          </p:cNvSpPr>
          <p:nvPr>
            <p:ph type="title"/>
          </p:nvPr>
        </p:nvSpPr>
        <p:spPr>
          <a:xfrm>
            <a:off x="1371599" y="294538"/>
            <a:ext cx="9895951" cy="1033669"/>
          </a:xfrm>
        </p:spPr>
        <p:txBody>
          <a:bodyPr>
            <a:normAutofit/>
          </a:bodyPr>
          <a:lstStyle/>
          <a:p>
            <a:r>
              <a:rPr lang="en-GB" sz="4000">
                <a:solidFill>
                  <a:srgbClr val="FFFFFF"/>
                </a:solidFill>
              </a:rPr>
              <a:t>Development Process</a:t>
            </a:r>
          </a:p>
        </p:txBody>
      </p:sp>
      <p:sp>
        <p:nvSpPr>
          <p:cNvPr id="5" name="TextBox 4">
            <a:extLst>
              <a:ext uri="{FF2B5EF4-FFF2-40B4-BE49-F238E27FC236}">
                <a16:creationId xmlns:a16="http://schemas.microsoft.com/office/drawing/2014/main" id="{CD9F48DF-9A9E-37D3-7A2B-44345410703B}"/>
              </a:ext>
            </a:extLst>
          </p:cNvPr>
          <p:cNvSpPr txBox="1"/>
          <p:nvPr/>
        </p:nvSpPr>
        <p:spPr>
          <a:xfrm>
            <a:off x="4363925" y="1791621"/>
            <a:ext cx="7509298" cy="4801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a:solidFill>
                  <a:srgbClr val="005971"/>
                </a:solidFill>
              </a:rPr>
              <a:t>Steps Taken:</a:t>
            </a:r>
          </a:p>
          <a:p>
            <a:pPr marL="171450" indent="-171450">
              <a:buFont typeface="Arial"/>
              <a:buChar char="•"/>
            </a:pPr>
            <a:r>
              <a:rPr lang="en-GB" sz="1200" b="1"/>
              <a:t>Breaking Down the Problem Statement.</a:t>
            </a:r>
          </a:p>
          <a:p>
            <a:pPr marL="628650" lvl="1" indent="-171450">
              <a:buFont typeface="Courier New"/>
              <a:buChar char="o"/>
            </a:pPr>
            <a:r>
              <a:rPr lang="en-GB" sz="1200"/>
              <a:t>Identifying the aims and objectives.</a:t>
            </a:r>
          </a:p>
          <a:p>
            <a:pPr marL="628650" lvl="1" indent="-171450">
              <a:buFont typeface="Courier New"/>
              <a:buChar char="o"/>
            </a:pPr>
            <a:r>
              <a:rPr lang="en-GB" sz="1200"/>
              <a:t>Drafting a list of basic requirements.</a:t>
            </a:r>
          </a:p>
          <a:p>
            <a:pPr marL="628650" lvl="1" indent="-171450">
              <a:buFont typeface="Courier New"/>
              <a:buChar char="o"/>
            </a:pPr>
            <a:endParaRPr lang="en-GB" sz="1200"/>
          </a:p>
          <a:p>
            <a:pPr marL="171450" indent="-171450">
              <a:buFont typeface="Arial"/>
              <a:buChar char="•"/>
            </a:pPr>
            <a:r>
              <a:rPr lang="en-GB" sz="1200" b="1"/>
              <a:t>Planning.</a:t>
            </a:r>
          </a:p>
          <a:p>
            <a:pPr marL="628650" lvl="1" indent="-171450">
              <a:buFont typeface="Courier New"/>
              <a:buChar char="o"/>
            </a:pPr>
            <a:r>
              <a:rPr lang="en-GB" sz="1200"/>
              <a:t>Learning how to operate Qlik via provided tutorials.</a:t>
            </a:r>
          </a:p>
          <a:p>
            <a:pPr marL="628650" lvl="1" indent="-171450">
              <a:buFont typeface="Courier New"/>
              <a:buChar char="o"/>
            </a:pPr>
            <a:r>
              <a:rPr lang="en-GB" sz="1200"/>
              <a:t>Research case studies of executive style dashboards.</a:t>
            </a:r>
          </a:p>
          <a:p>
            <a:pPr marL="628650" lvl="1" indent="-171450">
              <a:buFont typeface="Courier New"/>
              <a:buChar char="o"/>
            </a:pPr>
            <a:r>
              <a:rPr lang="en-GB" sz="1200"/>
              <a:t>Determining what types of graphs should be used according to requirements.</a:t>
            </a:r>
            <a:endParaRPr lang="en-GB"/>
          </a:p>
          <a:p>
            <a:pPr marL="628650" lvl="1" indent="-171450">
              <a:buFont typeface="Courier New"/>
              <a:buChar char="o"/>
            </a:pPr>
            <a:r>
              <a:rPr lang="en-GB" sz="1200"/>
              <a:t>Consider the viability of the plan and any risks involved.</a:t>
            </a:r>
          </a:p>
          <a:p>
            <a:pPr marL="628650" lvl="1" indent="-171450">
              <a:buFont typeface="Courier New"/>
              <a:buChar char="o"/>
            </a:pPr>
            <a:endParaRPr lang="en-GB" sz="1200"/>
          </a:p>
          <a:p>
            <a:pPr marL="171450" indent="-171450">
              <a:buFont typeface="Arial"/>
              <a:buChar char="•"/>
            </a:pPr>
            <a:r>
              <a:rPr lang="en-GB" sz="1200" b="1"/>
              <a:t>Implementation.</a:t>
            </a:r>
          </a:p>
          <a:p>
            <a:pPr marL="628650" lvl="1" indent="-171450">
              <a:buFont typeface="Courier New"/>
              <a:buChar char="o"/>
            </a:pPr>
            <a:r>
              <a:rPr lang="en-GB" sz="1200"/>
              <a:t>Create base visuals that cover the basic requirements and plan.</a:t>
            </a:r>
          </a:p>
          <a:p>
            <a:pPr marL="628650" lvl="1" indent="-171450">
              <a:buFont typeface="Courier New"/>
              <a:buChar char="o"/>
            </a:pPr>
            <a:r>
              <a:rPr lang="en-GB" sz="1200"/>
              <a:t>Arranging the visuals in a way that can convey a story whilst adhering to basic UI principles.</a:t>
            </a:r>
          </a:p>
          <a:p>
            <a:pPr marL="628650" lvl="1" indent="-171450">
              <a:buFont typeface="Courier New"/>
              <a:buChar char="o"/>
            </a:pPr>
            <a:endParaRPr lang="en-GB" sz="1200"/>
          </a:p>
          <a:p>
            <a:pPr marL="171450" indent="-171450">
              <a:buFont typeface="Arial"/>
              <a:buChar char="•"/>
            </a:pPr>
            <a:r>
              <a:rPr lang="en-GB" sz="1200" b="1"/>
              <a:t>Polish.</a:t>
            </a:r>
          </a:p>
          <a:p>
            <a:pPr marL="628650" lvl="1" indent="-171450">
              <a:buFont typeface="Courier New"/>
              <a:buChar char="o"/>
            </a:pPr>
            <a:r>
              <a:rPr lang="en-GB" sz="1200"/>
              <a:t>Edit the sheet according to the specified branding – e.g. Colour, visualisations, etc.</a:t>
            </a:r>
          </a:p>
          <a:p>
            <a:pPr marL="628650" lvl="1" indent="-171450">
              <a:buFont typeface="Courier New"/>
              <a:buChar char="o"/>
            </a:pPr>
            <a:r>
              <a:rPr lang="en-GB" sz="1200"/>
              <a:t>Edit visuals where appropriate whilst adhering to design principles – e.g. White space, consistency, conditional formatting.</a:t>
            </a:r>
          </a:p>
          <a:p>
            <a:pPr marL="628650" lvl="1" indent="-171450">
              <a:buFont typeface="Courier New"/>
              <a:buChar char="o"/>
            </a:pPr>
            <a:r>
              <a:rPr lang="en-GB" sz="1200"/>
              <a:t>Any additional adjustments that can improve user experience.</a:t>
            </a:r>
          </a:p>
          <a:p>
            <a:pPr marL="171450" indent="-171450">
              <a:buFont typeface="Arial"/>
              <a:buChar char="•"/>
            </a:pPr>
            <a:endParaRPr lang="en-GB" sz="1200"/>
          </a:p>
          <a:p>
            <a:pPr marL="171450" indent="-171450">
              <a:buFont typeface="Arial"/>
              <a:buChar char="•"/>
            </a:pPr>
            <a:r>
              <a:rPr lang="en-GB" sz="1200" b="1"/>
              <a:t>Test/Debugging.</a:t>
            </a:r>
          </a:p>
          <a:p>
            <a:pPr marL="628650" lvl="1" indent="-171450">
              <a:buFont typeface="Courier New"/>
              <a:buChar char="o"/>
            </a:pPr>
            <a:r>
              <a:rPr lang="en-GB" sz="1200"/>
              <a:t>Test the dashboard for a wide range of use case scenarios.</a:t>
            </a:r>
          </a:p>
          <a:p>
            <a:pPr marL="628650" lvl="1" indent="-171450">
              <a:buFont typeface="Courier New"/>
              <a:buChar char="o"/>
            </a:pPr>
            <a:r>
              <a:rPr lang="en-GB" sz="1200"/>
              <a:t>Ask someone to test the dashboard.</a:t>
            </a:r>
          </a:p>
          <a:p>
            <a:pPr marL="628650" lvl="1" indent="-171450">
              <a:buFont typeface="Courier New"/>
              <a:buChar char="o"/>
            </a:pPr>
            <a:r>
              <a:rPr lang="en-GB" sz="1200"/>
              <a:t>Fix any issues that were encountered during testing.</a:t>
            </a:r>
          </a:p>
        </p:txBody>
      </p:sp>
      <p:sp>
        <p:nvSpPr>
          <p:cNvPr id="3" name="TextBox 2">
            <a:extLst>
              <a:ext uri="{FF2B5EF4-FFF2-40B4-BE49-F238E27FC236}">
                <a16:creationId xmlns:a16="http://schemas.microsoft.com/office/drawing/2014/main" id="{D61C4ACB-0059-FBFC-10E1-97787597DD7C}"/>
              </a:ext>
            </a:extLst>
          </p:cNvPr>
          <p:cNvSpPr txBox="1"/>
          <p:nvPr/>
        </p:nvSpPr>
        <p:spPr>
          <a:xfrm>
            <a:off x="1068045" y="1791620"/>
            <a:ext cx="2992383" cy="33239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a:solidFill>
                  <a:srgbClr val="005971"/>
                </a:solidFill>
              </a:rPr>
              <a:t>Tackling the Problem</a:t>
            </a:r>
            <a:endParaRPr lang="en-GB" sz="1200">
              <a:solidFill>
                <a:srgbClr val="000000"/>
              </a:solidFill>
            </a:endParaRPr>
          </a:p>
          <a:p>
            <a:endParaRPr lang="en-GB" sz="1200" b="1">
              <a:solidFill>
                <a:srgbClr val="005971"/>
              </a:solidFill>
            </a:endParaRPr>
          </a:p>
          <a:p>
            <a:r>
              <a:rPr lang="en-GB" sz="1200"/>
              <a:t>I'm not familiar with the development process of data analytics, I so I adapted the software development lifecycle into steps (that seemed applicable) which I would need to take in developing the dashboard, based on my personal experiences with Power BI.</a:t>
            </a:r>
          </a:p>
          <a:p>
            <a:endParaRPr lang="en-GB" sz="1200"/>
          </a:p>
          <a:p>
            <a:r>
              <a:rPr lang="en-GB" sz="1200"/>
              <a:t>Since the data set was already cleaned, this already eliminated a step I needed to take, and I could focus entirely on the design of the dashboard.</a:t>
            </a:r>
          </a:p>
          <a:p>
            <a:endParaRPr lang="en-GB" sz="1200"/>
          </a:p>
          <a:p>
            <a:r>
              <a:rPr lang="en-GB" sz="1200" i="1"/>
              <a:t>There's a lot to cover, so the Steps Taken can be treated as a TL:DR.</a:t>
            </a:r>
          </a:p>
        </p:txBody>
      </p:sp>
    </p:spTree>
    <p:extLst>
      <p:ext uri="{BB962C8B-B14F-4D97-AF65-F5344CB8AC3E}">
        <p14:creationId xmlns:p14="http://schemas.microsoft.com/office/powerpoint/2010/main" val="11531455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A0B5B8-07DE-03C6-7820-DF1274A611A1}"/>
              </a:ext>
            </a:extLst>
          </p:cNvPr>
          <p:cNvSpPr>
            <a:spLocks noGrp="1"/>
          </p:cNvSpPr>
          <p:nvPr>
            <p:ph type="title"/>
          </p:nvPr>
        </p:nvSpPr>
        <p:spPr>
          <a:xfrm>
            <a:off x="1371599" y="294538"/>
            <a:ext cx="9895951" cy="1033669"/>
          </a:xfrm>
        </p:spPr>
        <p:txBody>
          <a:bodyPr>
            <a:normAutofit/>
          </a:bodyPr>
          <a:lstStyle/>
          <a:p>
            <a:r>
              <a:rPr lang="en-GB" sz="4000">
                <a:solidFill>
                  <a:srgbClr val="FFFFFF"/>
                </a:solidFill>
              </a:rPr>
              <a:t>Breaking Down the Problem Statement</a:t>
            </a:r>
          </a:p>
        </p:txBody>
      </p:sp>
      <p:sp>
        <p:nvSpPr>
          <p:cNvPr id="5" name="TextBox 4">
            <a:extLst>
              <a:ext uri="{FF2B5EF4-FFF2-40B4-BE49-F238E27FC236}">
                <a16:creationId xmlns:a16="http://schemas.microsoft.com/office/drawing/2014/main" id="{CD9F48DF-9A9E-37D3-7A2B-44345410703B}"/>
              </a:ext>
            </a:extLst>
          </p:cNvPr>
          <p:cNvSpPr txBox="1"/>
          <p:nvPr/>
        </p:nvSpPr>
        <p:spPr>
          <a:xfrm>
            <a:off x="1371010" y="1718175"/>
            <a:ext cx="967594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a:t>The problem statement can be interpreted as the PDF provided that provides instructions on what needs to be done.</a:t>
            </a:r>
          </a:p>
          <a:p>
            <a:endParaRPr lang="en-GB" sz="1200"/>
          </a:p>
          <a:p>
            <a:r>
              <a:rPr lang="en-GB" sz="1200"/>
              <a:t>I spent some time identifying and highlighting the key points that I would need to take note of when planning.</a:t>
            </a:r>
          </a:p>
        </p:txBody>
      </p:sp>
      <p:pic>
        <p:nvPicPr>
          <p:cNvPr id="3" name="Picture 2" descr="A screenshot of a white and green text&#10;&#10;Description automatically generated">
            <a:extLst>
              <a:ext uri="{FF2B5EF4-FFF2-40B4-BE49-F238E27FC236}">
                <a16:creationId xmlns:a16="http://schemas.microsoft.com/office/drawing/2014/main" id="{3B6F3E58-1C2C-A4D0-8092-68E20E2F017C}"/>
              </a:ext>
            </a:extLst>
          </p:cNvPr>
          <p:cNvPicPr>
            <a:picLocks noChangeAspect="1"/>
          </p:cNvPicPr>
          <p:nvPr/>
        </p:nvPicPr>
        <p:blipFill>
          <a:blip r:embed="rId2"/>
          <a:srcRect t="1544" r="152" b="-193"/>
          <a:stretch/>
        </p:blipFill>
        <p:spPr>
          <a:xfrm>
            <a:off x="1015331" y="3030786"/>
            <a:ext cx="3496141" cy="2715110"/>
          </a:xfrm>
          <a:prstGeom prst="rect">
            <a:avLst/>
          </a:prstGeom>
        </p:spPr>
      </p:pic>
      <p:pic>
        <p:nvPicPr>
          <p:cNvPr id="4" name="Picture 3" descr="A screenshot of a computer&#10;&#10;Description automatically generated">
            <a:extLst>
              <a:ext uri="{FF2B5EF4-FFF2-40B4-BE49-F238E27FC236}">
                <a16:creationId xmlns:a16="http://schemas.microsoft.com/office/drawing/2014/main" id="{8F084A71-DBFC-22AD-F8D7-7142C3B4B04D}"/>
              </a:ext>
            </a:extLst>
          </p:cNvPr>
          <p:cNvPicPr>
            <a:picLocks noChangeAspect="1"/>
          </p:cNvPicPr>
          <p:nvPr/>
        </p:nvPicPr>
        <p:blipFill>
          <a:blip r:embed="rId3"/>
          <a:stretch>
            <a:fillRect/>
          </a:stretch>
        </p:blipFill>
        <p:spPr>
          <a:xfrm>
            <a:off x="4621690" y="2641179"/>
            <a:ext cx="3361751" cy="3393425"/>
          </a:xfrm>
          <a:prstGeom prst="rect">
            <a:avLst/>
          </a:prstGeom>
        </p:spPr>
      </p:pic>
      <p:sp>
        <p:nvSpPr>
          <p:cNvPr id="9" name="Rectangle 8">
            <a:extLst>
              <a:ext uri="{FF2B5EF4-FFF2-40B4-BE49-F238E27FC236}">
                <a16:creationId xmlns:a16="http://schemas.microsoft.com/office/drawing/2014/main" id="{757C6120-98ED-40FC-A31F-7682720099F3}"/>
              </a:ext>
            </a:extLst>
          </p:cNvPr>
          <p:cNvSpPr/>
          <p:nvPr/>
        </p:nvSpPr>
        <p:spPr>
          <a:xfrm>
            <a:off x="6015500" y="3154177"/>
            <a:ext cx="923925" cy="14888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435890B9-2320-61CA-99A5-A173DD4F7127}"/>
              </a:ext>
            </a:extLst>
          </p:cNvPr>
          <p:cNvSpPr/>
          <p:nvPr/>
        </p:nvSpPr>
        <p:spPr>
          <a:xfrm>
            <a:off x="1039548" y="4108971"/>
            <a:ext cx="3384358" cy="23151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7298DECF-FC29-37FD-0EB2-3C97E4AD511F}"/>
              </a:ext>
            </a:extLst>
          </p:cNvPr>
          <p:cNvSpPr/>
          <p:nvPr/>
        </p:nvSpPr>
        <p:spPr>
          <a:xfrm>
            <a:off x="1012005" y="5430994"/>
            <a:ext cx="2980407" cy="13052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7" name="Picture 16" descr="A screenshot of a computer&#10;&#10;Description automatically generated">
            <a:extLst>
              <a:ext uri="{FF2B5EF4-FFF2-40B4-BE49-F238E27FC236}">
                <a16:creationId xmlns:a16="http://schemas.microsoft.com/office/drawing/2014/main" id="{C69F817A-3B74-81E0-6051-68F00E850067}"/>
              </a:ext>
            </a:extLst>
          </p:cNvPr>
          <p:cNvPicPr>
            <a:picLocks noChangeAspect="1"/>
          </p:cNvPicPr>
          <p:nvPr/>
        </p:nvPicPr>
        <p:blipFill>
          <a:blip r:embed="rId4"/>
          <a:stretch>
            <a:fillRect/>
          </a:stretch>
        </p:blipFill>
        <p:spPr>
          <a:xfrm>
            <a:off x="8112373" y="3241828"/>
            <a:ext cx="3238386" cy="1962610"/>
          </a:xfrm>
          <a:prstGeom prst="rect">
            <a:avLst/>
          </a:prstGeom>
        </p:spPr>
      </p:pic>
      <p:sp>
        <p:nvSpPr>
          <p:cNvPr id="18" name="Rectangle 17">
            <a:extLst>
              <a:ext uri="{FF2B5EF4-FFF2-40B4-BE49-F238E27FC236}">
                <a16:creationId xmlns:a16="http://schemas.microsoft.com/office/drawing/2014/main" id="{6975A18B-D76B-02DB-3F9B-E682446EAB29}"/>
              </a:ext>
            </a:extLst>
          </p:cNvPr>
          <p:cNvSpPr/>
          <p:nvPr/>
        </p:nvSpPr>
        <p:spPr>
          <a:xfrm>
            <a:off x="9651066" y="3567309"/>
            <a:ext cx="620962" cy="12134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18">
            <a:extLst>
              <a:ext uri="{FF2B5EF4-FFF2-40B4-BE49-F238E27FC236}">
                <a16:creationId xmlns:a16="http://schemas.microsoft.com/office/drawing/2014/main" id="{2A3B81DD-4A38-C789-45F2-C218C8A17818}"/>
              </a:ext>
            </a:extLst>
          </p:cNvPr>
          <p:cNvSpPr/>
          <p:nvPr/>
        </p:nvSpPr>
        <p:spPr>
          <a:xfrm>
            <a:off x="4620030" y="4852611"/>
            <a:ext cx="2787611" cy="117712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TextBox 20">
            <a:extLst>
              <a:ext uri="{FF2B5EF4-FFF2-40B4-BE49-F238E27FC236}">
                <a16:creationId xmlns:a16="http://schemas.microsoft.com/office/drawing/2014/main" id="{E89B0080-A9CE-8E27-03D9-ED529A0775B1}"/>
              </a:ext>
            </a:extLst>
          </p:cNvPr>
          <p:cNvSpPr txBox="1"/>
          <p:nvPr/>
        </p:nvSpPr>
        <p:spPr>
          <a:xfrm>
            <a:off x="67348" y="3627765"/>
            <a:ext cx="118378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a:t>Didn't use any. </a:t>
            </a:r>
            <a:br>
              <a:rPr lang="en-GB" sz="900"/>
            </a:br>
            <a:r>
              <a:rPr lang="en-GB" sz="900"/>
              <a:t>But good to know.</a:t>
            </a:r>
            <a:endParaRPr lang="en-US" sz="900"/>
          </a:p>
        </p:txBody>
      </p:sp>
      <p:sp>
        <p:nvSpPr>
          <p:cNvPr id="22" name="TextBox 21">
            <a:extLst>
              <a:ext uri="{FF2B5EF4-FFF2-40B4-BE49-F238E27FC236}">
                <a16:creationId xmlns:a16="http://schemas.microsoft.com/office/drawing/2014/main" id="{DF292D6A-8B4D-5567-2CA6-F0166BDB7216}"/>
              </a:ext>
            </a:extLst>
          </p:cNvPr>
          <p:cNvSpPr txBox="1"/>
          <p:nvPr/>
        </p:nvSpPr>
        <p:spPr>
          <a:xfrm>
            <a:off x="186697" y="5849500"/>
            <a:ext cx="1183781"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a:t>Employer is </a:t>
            </a:r>
            <a:r>
              <a:rPr lang="en-GB" sz="900" err="1"/>
              <a:t>Ometis</a:t>
            </a:r>
            <a:r>
              <a:rPr lang="en-GB" sz="900"/>
              <a:t>. </a:t>
            </a:r>
          </a:p>
        </p:txBody>
      </p:sp>
      <p:sp>
        <p:nvSpPr>
          <p:cNvPr id="23" name="TextBox 22">
            <a:extLst>
              <a:ext uri="{FF2B5EF4-FFF2-40B4-BE49-F238E27FC236}">
                <a16:creationId xmlns:a16="http://schemas.microsoft.com/office/drawing/2014/main" id="{7BD5CAFD-C029-31EF-A41E-C101B419C393}"/>
              </a:ext>
            </a:extLst>
          </p:cNvPr>
          <p:cNvSpPr txBox="1"/>
          <p:nvPr/>
        </p:nvSpPr>
        <p:spPr>
          <a:xfrm>
            <a:off x="4979034" y="6372801"/>
            <a:ext cx="1596913"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a:t>Activities/requirements.</a:t>
            </a:r>
            <a:endParaRPr lang="en-US"/>
          </a:p>
        </p:txBody>
      </p:sp>
      <p:sp>
        <p:nvSpPr>
          <p:cNvPr id="24" name="TextBox 23">
            <a:extLst>
              <a:ext uri="{FF2B5EF4-FFF2-40B4-BE49-F238E27FC236}">
                <a16:creationId xmlns:a16="http://schemas.microsoft.com/office/drawing/2014/main" id="{680D1BA3-1077-FF1F-2246-FBABB3A68ED1}"/>
              </a:ext>
            </a:extLst>
          </p:cNvPr>
          <p:cNvSpPr txBox="1"/>
          <p:nvPr/>
        </p:nvSpPr>
        <p:spPr>
          <a:xfrm>
            <a:off x="7191587" y="2884125"/>
            <a:ext cx="1128697"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a:t>Type of dashboard.</a:t>
            </a:r>
            <a:endParaRPr lang="en-US"/>
          </a:p>
        </p:txBody>
      </p:sp>
      <p:sp>
        <p:nvSpPr>
          <p:cNvPr id="25" name="TextBox 24">
            <a:extLst>
              <a:ext uri="{FF2B5EF4-FFF2-40B4-BE49-F238E27FC236}">
                <a16:creationId xmlns:a16="http://schemas.microsoft.com/office/drawing/2014/main" id="{8A72B3C5-93B9-B2D0-0026-81B041036680}"/>
              </a:ext>
            </a:extLst>
          </p:cNvPr>
          <p:cNvSpPr txBox="1"/>
          <p:nvPr/>
        </p:nvSpPr>
        <p:spPr>
          <a:xfrm>
            <a:off x="9964165" y="2645425"/>
            <a:ext cx="1128697"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a:t>Data set.</a:t>
            </a:r>
            <a:endParaRPr lang="en-US"/>
          </a:p>
        </p:txBody>
      </p:sp>
      <p:cxnSp>
        <p:nvCxnSpPr>
          <p:cNvPr id="27" name="Straight Arrow Connector 26">
            <a:extLst>
              <a:ext uri="{FF2B5EF4-FFF2-40B4-BE49-F238E27FC236}">
                <a16:creationId xmlns:a16="http://schemas.microsoft.com/office/drawing/2014/main" id="{8451A26C-2B39-39AF-FE5B-ABFB9A96A585}"/>
              </a:ext>
            </a:extLst>
          </p:cNvPr>
          <p:cNvCxnSpPr/>
          <p:nvPr/>
        </p:nvCxnSpPr>
        <p:spPr>
          <a:xfrm flipH="1">
            <a:off x="10005153" y="2935075"/>
            <a:ext cx="233190" cy="48290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FF0F6070-5769-CFF9-5C29-8D7C073586B3}"/>
              </a:ext>
            </a:extLst>
          </p:cNvPr>
          <p:cNvCxnSpPr>
            <a:cxnSpLocks/>
          </p:cNvCxnSpPr>
          <p:nvPr/>
        </p:nvCxnSpPr>
        <p:spPr>
          <a:xfrm flipV="1">
            <a:off x="5730608" y="6098749"/>
            <a:ext cx="88135" cy="251553"/>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D3BE2FA2-B813-40FD-7D3D-B8C9B84F9DA9}"/>
              </a:ext>
            </a:extLst>
          </p:cNvPr>
          <p:cNvCxnSpPr>
            <a:cxnSpLocks/>
          </p:cNvCxnSpPr>
          <p:nvPr/>
        </p:nvCxnSpPr>
        <p:spPr>
          <a:xfrm flipV="1">
            <a:off x="699571" y="5520364"/>
            <a:ext cx="271749" cy="361719"/>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D0E7C2D5-8E83-D8EF-FAF1-3198D8F553ED}"/>
              </a:ext>
            </a:extLst>
          </p:cNvPr>
          <p:cNvCxnSpPr>
            <a:cxnSpLocks/>
          </p:cNvCxnSpPr>
          <p:nvPr/>
        </p:nvCxnSpPr>
        <p:spPr>
          <a:xfrm flipH="1">
            <a:off x="6966334" y="3008520"/>
            <a:ext cx="269912" cy="198301"/>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DD8D26D2-BBF1-75A7-5EAB-772790CC2D0C}"/>
              </a:ext>
            </a:extLst>
          </p:cNvPr>
          <p:cNvCxnSpPr>
            <a:cxnSpLocks/>
          </p:cNvCxnSpPr>
          <p:nvPr/>
        </p:nvCxnSpPr>
        <p:spPr>
          <a:xfrm>
            <a:off x="626126" y="4036761"/>
            <a:ext cx="363556" cy="15240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2" name="Rectangle 31">
            <a:extLst>
              <a:ext uri="{FF2B5EF4-FFF2-40B4-BE49-F238E27FC236}">
                <a16:creationId xmlns:a16="http://schemas.microsoft.com/office/drawing/2014/main" id="{FCEDC3D8-5121-D8E7-0CEC-3822291BE5DE}"/>
              </a:ext>
            </a:extLst>
          </p:cNvPr>
          <p:cNvSpPr/>
          <p:nvPr/>
        </p:nvSpPr>
        <p:spPr>
          <a:xfrm>
            <a:off x="2508462" y="4678175"/>
            <a:ext cx="1263612" cy="938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4" name="Straight Arrow Connector 33">
            <a:extLst>
              <a:ext uri="{FF2B5EF4-FFF2-40B4-BE49-F238E27FC236}">
                <a16:creationId xmlns:a16="http://schemas.microsoft.com/office/drawing/2014/main" id="{E6BD81F8-0F12-4F98-A025-BC4C243D59B8}"/>
              </a:ext>
            </a:extLst>
          </p:cNvPr>
          <p:cNvCxnSpPr>
            <a:cxnSpLocks/>
          </p:cNvCxnSpPr>
          <p:nvPr/>
        </p:nvCxnSpPr>
        <p:spPr>
          <a:xfrm flipV="1">
            <a:off x="662848" y="4767545"/>
            <a:ext cx="1713122" cy="159743"/>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5E5193C8-CE32-70DE-1183-208B7EA28CE7}"/>
              </a:ext>
            </a:extLst>
          </p:cNvPr>
          <p:cNvSpPr txBox="1"/>
          <p:nvPr/>
        </p:nvSpPr>
        <p:spPr>
          <a:xfrm>
            <a:off x="241781" y="4848801"/>
            <a:ext cx="1183781"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a:t>Qlik. </a:t>
            </a:r>
          </a:p>
        </p:txBody>
      </p:sp>
    </p:spTree>
    <p:extLst>
      <p:ext uri="{BB962C8B-B14F-4D97-AF65-F5344CB8AC3E}">
        <p14:creationId xmlns:p14="http://schemas.microsoft.com/office/powerpoint/2010/main" val="40818730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A0B5B8-07DE-03C6-7820-DF1274A611A1}"/>
              </a:ext>
            </a:extLst>
          </p:cNvPr>
          <p:cNvSpPr>
            <a:spLocks noGrp="1"/>
          </p:cNvSpPr>
          <p:nvPr>
            <p:ph type="title"/>
          </p:nvPr>
        </p:nvSpPr>
        <p:spPr>
          <a:xfrm>
            <a:off x="1371599" y="294538"/>
            <a:ext cx="9895951" cy="1033669"/>
          </a:xfrm>
        </p:spPr>
        <p:txBody>
          <a:bodyPr>
            <a:normAutofit/>
          </a:bodyPr>
          <a:lstStyle/>
          <a:p>
            <a:r>
              <a:rPr lang="en-GB" sz="4000">
                <a:solidFill>
                  <a:srgbClr val="FFFFFF"/>
                </a:solidFill>
              </a:rPr>
              <a:t>Planning</a:t>
            </a:r>
          </a:p>
        </p:txBody>
      </p:sp>
      <p:sp>
        <p:nvSpPr>
          <p:cNvPr id="3" name="TextBox 2">
            <a:extLst>
              <a:ext uri="{FF2B5EF4-FFF2-40B4-BE49-F238E27FC236}">
                <a16:creationId xmlns:a16="http://schemas.microsoft.com/office/drawing/2014/main" id="{D61C4ACB-0059-FBFC-10E1-97787597DD7C}"/>
              </a:ext>
            </a:extLst>
          </p:cNvPr>
          <p:cNvSpPr txBox="1"/>
          <p:nvPr/>
        </p:nvSpPr>
        <p:spPr>
          <a:xfrm>
            <a:off x="458219" y="1791620"/>
            <a:ext cx="3341250" cy="443198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a:solidFill>
                  <a:srgbClr val="005971"/>
                </a:solidFill>
              </a:rPr>
              <a:t>Learning Qlik &amp; Research</a:t>
            </a:r>
          </a:p>
          <a:p>
            <a:endParaRPr lang="en-GB" sz="1200" b="1">
              <a:solidFill>
                <a:srgbClr val="005971"/>
              </a:solidFill>
            </a:endParaRPr>
          </a:p>
          <a:p>
            <a:r>
              <a:rPr lang="en-GB" sz="1200"/>
              <a:t>Not much to talk about here. Spent an hour or so going through Qlik tutorials that were linked on the PDF, and read through the dashboard design article.</a:t>
            </a:r>
            <a:br>
              <a:rPr lang="en-GB" sz="1200"/>
            </a:br>
            <a:br>
              <a:rPr lang="en-GB" sz="1200"/>
            </a:br>
            <a:r>
              <a:rPr lang="en-GB" sz="1200"/>
              <a:t>Research was predominantly looking through google images of various executive style dashboards to get a feel for their design, as well as a few online articles on any key principles to be kept in mind.</a:t>
            </a:r>
          </a:p>
          <a:p>
            <a:endParaRPr lang="en-GB" sz="1200" b="1"/>
          </a:p>
          <a:p>
            <a:r>
              <a:rPr lang="en-GB" sz="1200" b="1"/>
              <a:t>A few things to note:</a:t>
            </a:r>
          </a:p>
          <a:p>
            <a:pPr marL="171450" indent="-171450">
              <a:buFont typeface="Arial"/>
              <a:buChar char="•"/>
            </a:pPr>
            <a:r>
              <a:rPr lang="en-GB" sz="1200"/>
              <a:t>End-user is likely a CEO or executive-level management.</a:t>
            </a:r>
          </a:p>
          <a:p>
            <a:pPr marL="628650" lvl="1" indent="-171450">
              <a:buFont typeface="Courier New"/>
              <a:buChar char="o"/>
            </a:pPr>
            <a:r>
              <a:rPr lang="en-GB" sz="1200"/>
              <a:t>KPIs needed for decision making.</a:t>
            </a:r>
          </a:p>
          <a:p>
            <a:pPr marL="628650" lvl="1" indent="-171450">
              <a:buFont typeface="Courier New"/>
              <a:buChar char="o"/>
            </a:pPr>
            <a:r>
              <a:rPr lang="en-GB" sz="1200"/>
              <a:t>Performance tracking for business aims/goals.</a:t>
            </a:r>
          </a:p>
          <a:p>
            <a:pPr marL="171450" indent="-171450">
              <a:buFont typeface="Arial"/>
              <a:buChar char="•"/>
            </a:pPr>
            <a:r>
              <a:rPr lang="en-GB" sz="1200"/>
              <a:t>Visuals should be concise and straight to the point.</a:t>
            </a:r>
          </a:p>
          <a:p>
            <a:pPr marL="171450" indent="-171450">
              <a:buFont typeface="Arial"/>
              <a:buChar char="•"/>
            </a:pPr>
            <a:r>
              <a:rPr lang="en-GB" sz="1200"/>
              <a:t>Adaptable to live data and large growing data sets.</a:t>
            </a:r>
          </a:p>
        </p:txBody>
      </p:sp>
      <p:sp>
        <p:nvSpPr>
          <p:cNvPr id="7" name="TextBox 6">
            <a:extLst>
              <a:ext uri="{FF2B5EF4-FFF2-40B4-BE49-F238E27FC236}">
                <a16:creationId xmlns:a16="http://schemas.microsoft.com/office/drawing/2014/main" id="{9F0C5B39-2733-22E2-31D0-F285719298D8}"/>
              </a:ext>
            </a:extLst>
          </p:cNvPr>
          <p:cNvSpPr txBox="1"/>
          <p:nvPr/>
        </p:nvSpPr>
        <p:spPr>
          <a:xfrm>
            <a:off x="3800002" y="1718552"/>
            <a:ext cx="8180998" cy="48743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a:solidFill>
                  <a:srgbClr val="005971"/>
                </a:solidFill>
              </a:rPr>
              <a:t>Graphs/Charts for Key Visuals</a:t>
            </a:r>
          </a:p>
          <a:p>
            <a:endParaRPr lang="en-GB" sz="1200" b="1">
              <a:solidFill>
                <a:srgbClr val="005971"/>
              </a:solidFill>
            </a:endParaRPr>
          </a:p>
          <a:p>
            <a:r>
              <a:rPr lang="en-GB" sz="1200"/>
              <a:t>We know what the main visuals need to be, as they're listed on the activities, so the main focus will be what visuals should be adapted for which activity.</a:t>
            </a:r>
          </a:p>
          <a:p>
            <a:endParaRPr lang="en-GB" sz="1200"/>
          </a:p>
          <a:p>
            <a:r>
              <a:rPr lang="en-GB" sz="1200" b="1"/>
              <a:t>Things to note:</a:t>
            </a:r>
          </a:p>
          <a:p>
            <a:pPr marL="171450" indent="-171450">
              <a:buFont typeface="Arial"/>
              <a:buChar char="•"/>
            </a:pPr>
            <a:r>
              <a:rPr lang="en-GB" sz="1200"/>
              <a:t>Graphs/charts are preferred over numeric metrics where possible as this improves readability for comparisons, and takes less time to comprehend. </a:t>
            </a:r>
            <a:endParaRPr lang="en-GB"/>
          </a:p>
          <a:p>
            <a:pPr marL="171450" indent="-171450">
              <a:buFont typeface="Arial"/>
              <a:buChar char="•"/>
            </a:pPr>
            <a:r>
              <a:rPr lang="en-GB" sz="1200"/>
              <a:t>Analytical charts (e.g. box/distribution plots) will be ignored since they </a:t>
            </a:r>
            <a:r>
              <a:rPr lang="en-GB" sz="1200" i="1"/>
              <a:t>may</a:t>
            </a:r>
            <a:r>
              <a:rPr lang="en-GB" sz="1200"/>
              <a:t> not be suitable for the end-user due to time and knowledge needed to understand them.</a:t>
            </a:r>
          </a:p>
          <a:p>
            <a:endParaRPr lang="en-GB" sz="1200"/>
          </a:p>
          <a:p>
            <a:r>
              <a:rPr lang="en-GB" sz="1200" b="1"/>
              <a:t>Examples:</a:t>
            </a:r>
          </a:p>
          <a:p>
            <a:pPr marL="171450" indent="-171450">
              <a:buFont typeface="Arial"/>
              <a:buChar char="•"/>
            </a:pPr>
            <a:r>
              <a:rPr lang="en-GB" sz="1200" b="1"/>
              <a:t>Q1)</a:t>
            </a:r>
            <a:r>
              <a:rPr lang="en-GB" sz="1200"/>
              <a:t> Bar chart or a heat map.</a:t>
            </a:r>
          </a:p>
          <a:p>
            <a:pPr marL="628650" lvl="1" indent="-171450">
              <a:buFont typeface="Courier New"/>
              <a:buChar char="o"/>
            </a:pPr>
            <a:r>
              <a:rPr lang="en-GB" sz="1200"/>
              <a:t>We're comparing regional data, and these two are the most suitable of this data type.</a:t>
            </a:r>
          </a:p>
          <a:p>
            <a:pPr marL="628650" lvl="1" indent="-171450">
              <a:buFont typeface="Courier New"/>
              <a:buChar char="o"/>
            </a:pPr>
            <a:r>
              <a:rPr lang="en-GB" sz="1200"/>
              <a:t>Heat map was chosen in consideration of more region values being added in the future. </a:t>
            </a:r>
            <a:br>
              <a:rPr lang="en-GB" sz="1200"/>
            </a:br>
            <a:r>
              <a:rPr lang="en-GB" sz="1200" b="1"/>
              <a:t>We shouldn't have to scroll through data to read it. </a:t>
            </a:r>
            <a:endParaRPr lang="en-GB" sz="1200"/>
          </a:p>
          <a:p>
            <a:pPr marL="628650" lvl="1" indent="-171450">
              <a:buFont typeface="Courier New"/>
              <a:buChar char="o"/>
            </a:pPr>
            <a:r>
              <a:rPr lang="en-GB" sz="1200"/>
              <a:t>For easier value comparison, a ranked (sorted) list box was also added to the side.</a:t>
            </a:r>
          </a:p>
          <a:p>
            <a:pPr marL="171450" indent="-171450">
              <a:buFont typeface="Arial,Sans-Serif"/>
              <a:buChar char="•"/>
            </a:pPr>
            <a:r>
              <a:rPr lang="en-GB" sz="1200" b="1"/>
              <a:t>Q2)</a:t>
            </a:r>
            <a:r>
              <a:rPr lang="en-GB" sz="1200"/>
              <a:t> Pie/Donut chart.</a:t>
            </a:r>
          </a:p>
          <a:p>
            <a:pPr marL="628650" lvl="1" indent="-171450">
              <a:buFont typeface="Courier New,monospace"/>
              <a:buChar char="o"/>
            </a:pPr>
            <a:r>
              <a:rPr lang="en-GB" sz="1200"/>
              <a:t>Only two product lines. Therefore these visuals are the easiest to understand.</a:t>
            </a:r>
            <a:endParaRPr lang="en-US" sz="1200"/>
          </a:p>
          <a:p>
            <a:pPr marL="628650" lvl="1" indent="-171450">
              <a:buFont typeface="Courier New,monospace"/>
              <a:buChar char="o"/>
            </a:pPr>
            <a:r>
              <a:rPr lang="en-GB" sz="1200"/>
              <a:t>Donut was used so data labels are more readable.</a:t>
            </a:r>
            <a:endParaRPr lang="en-GB"/>
          </a:p>
          <a:p>
            <a:pPr marL="171450" indent="-171450">
              <a:buFont typeface="Arial,Sans-Serif"/>
              <a:buChar char="•"/>
            </a:pPr>
            <a:r>
              <a:rPr lang="en-GB" sz="1200" b="1"/>
              <a:t>Q3)</a:t>
            </a:r>
            <a:r>
              <a:rPr lang="en-GB" sz="1200"/>
              <a:t> (Pivot) Table or bar chart.</a:t>
            </a:r>
          </a:p>
          <a:p>
            <a:pPr marL="628650" lvl="1" indent="-171450">
              <a:buFont typeface="Courier New,monospace"/>
              <a:buChar char="o"/>
            </a:pPr>
            <a:r>
              <a:rPr lang="en-GB" sz="1200"/>
              <a:t>Ranked values – These are the 'easiest to understand and compare' visuals of this data type.</a:t>
            </a:r>
            <a:endParaRPr lang="en-US" sz="1200"/>
          </a:p>
          <a:p>
            <a:pPr marL="628650" lvl="1" indent="-171450">
              <a:buFont typeface="Courier New,monospace"/>
              <a:buChar char="o"/>
            </a:pPr>
            <a:r>
              <a:rPr lang="en-GB" sz="1200"/>
              <a:t>Bar chart consumes too much real estate due to 10 columns/rows, pivot table forces totals at the top which is unintuitive, therefore a normal table is used.</a:t>
            </a:r>
            <a:endParaRPr lang="en-GB"/>
          </a:p>
          <a:p>
            <a:pPr marL="171450" indent="-171450">
              <a:buFont typeface="Arial"/>
              <a:buChar char="•"/>
            </a:pPr>
            <a:r>
              <a:rPr lang="en-GB" sz="1200" b="1"/>
              <a:t>Q4) </a:t>
            </a:r>
            <a:r>
              <a:rPr lang="en-GB" sz="1200"/>
              <a:t>Bar chart – '</a:t>
            </a:r>
            <a:r>
              <a:rPr lang="en-GB" sz="1200" i="1"/>
              <a:t>A variety of graphs/charts'</a:t>
            </a:r>
            <a:r>
              <a:rPr lang="en-GB" sz="1200"/>
              <a:t> was specified somewhere in the PDF, so this was chosen.</a:t>
            </a:r>
          </a:p>
        </p:txBody>
      </p:sp>
    </p:spTree>
    <p:extLst>
      <p:ext uri="{BB962C8B-B14F-4D97-AF65-F5344CB8AC3E}">
        <p14:creationId xmlns:p14="http://schemas.microsoft.com/office/powerpoint/2010/main" val="37139117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A0B5B8-07DE-03C6-7820-DF1274A611A1}"/>
              </a:ext>
            </a:extLst>
          </p:cNvPr>
          <p:cNvSpPr>
            <a:spLocks noGrp="1"/>
          </p:cNvSpPr>
          <p:nvPr>
            <p:ph type="title"/>
          </p:nvPr>
        </p:nvSpPr>
        <p:spPr>
          <a:xfrm>
            <a:off x="1371599" y="294538"/>
            <a:ext cx="9895951" cy="1033669"/>
          </a:xfrm>
        </p:spPr>
        <p:txBody>
          <a:bodyPr>
            <a:normAutofit/>
          </a:bodyPr>
          <a:lstStyle/>
          <a:p>
            <a:r>
              <a:rPr lang="en-GB" sz="4000">
                <a:solidFill>
                  <a:srgbClr val="FFFFFF"/>
                </a:solidFill>
              </a:rPr>
              <a:t>Implementation</a:t>
            </a:r>
          </a:p>
        </p:txBody>
      </p:sp>
      <p:sp>
        <p:nvSpPr>
          <p:cNvPr id="3" name="TextBox 2">
            <a:extLst>
              <a:ext uri="{FF2B5EF4-FFF2-40B4-BE49-F238E27FC236}">
                <a16:creationId xmlns:a16="http://schemas.microsoft.com/office/drawing/2014/main" id="{D61C4ACB-0059-FBFC-10E1-97787597DD7C}"/>
              </a:ext>
            </a:extLst>
          </p:cNvPr>
          <p:cNvSpPr txBox="1"/>
          <p:nvPr/>
        </p:nvSpPr>
        <p:spPr>
          <a:xfrm>
            <a:off x="1104769" y="1797154"/>
            <a:ext cx="10162526" cy="52629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a:solidFill>
                  <a:srgbClr val="005971"/>
                </a:solidFill>
              </a:rPr>
              <a:t>Creating Visuals</a:t>
            </a:r>
          </a:p>
          <a:p>
            <a:endParaRPr lang="en-GB" sz="1200" b="1">
              <a:solidFill>
                <a:srgbClr val="005971"/>
              </a:solidFill>
            </a:endParaRPr>
          </a:p>
          <a:p>
            <a:r>
              <a:rPr lang="en-GB" sz="1200"/>
              <a:t>Once again not much to talk about here, the main bulk of the development was polishing the design. Creating the visuals themselves didn't take too much time due to the drag and drop nature of fields and visuals, the rest is just spacing out the visuals and story boarding.</a:t>
            </a:r>
          </a:p>
          <a:p>
            <a:endParaRPr lang="en-GB" sz="1200"/>
          </a:p>
          <a:p>
            <a:r>
              <a:rPr lang="en-GB" b="1">
                <a:solidFill>
                  <a:srgbClr val="005971"/>
                </a:solidFill>
              </a:rPr>
              <a:t>Storyboarding</a:t>
            </a:r>
          </a:p>
          <a:p>
            <a:endParaRPr lang="en-GB" sz="1200">
              <a:solidFill>
                <a:srgbClr val="000000"/>
              </a:solidFill>
            </a:endParaRPr>
          </a:p>
          <a:p>
            <a:r>
              <a:rPr lang="en-GB" sz="1200" err="1">
                <a:solidFill>
                  <a:srgbClr val="000000"/>
                </a:solidFill>
              </a:rPr>
              <a:t>Ometis</a:t>
            </a:r>
            <a:r>
              <a:rPr lang="en-GB" sz="1200">
                <a:solidFill>
                  <a:srgbClr val="000000"/>
                </a:solidFill>
              </a:rPr>
              <a:t> is a UK based business, therefore English is the main language, this means we read from: left to right, top to bottom, in the pattern of a 'Z'. Therefore in most cases, the most important visuals will be on the top left, and the least being at the bottom right of the sheet. </a:t>
            </a:r>
            <a:endParaRPr lang="en-GB"/>
          </a:p>
          <a:p>
            <a:r>
              <a:rPr lang="en-GB" sz="1200">
                <a:solidFill>
                  <a:srgbClr val="000000"/>
                </a:solidFill>
              </a:rPr>
              <a:t>Size and logical grouping are also important to consider as this improves readability - although this seems like a small thing, it can greatly improve user experience due to the time saving nature of comprehensibility. The bigger something is, the more we notice it, therefore the more important the visual the larger it should be. Related visuals should also be grouped up, this makes it easier to understand and reference back to – </a:t>
            </a:r>
            <a:r>
              <a:rPr lang="en-GB" sz="1200" err="1">
                <a:solidFill>
                  <a:srgbClr val="000000"/>
                </a:solidFill>
              </a:rPr>
              <a:t>e.g</a:t>
            </a:r>
            <a:r>
              <a:rPr lang="en-GB" sz="1200">
                <a:solidFill>
                  <a:srgbClr val="000000"/>
                </a:solidFill>
              </a:rPr>
              <a:t> related metrics and text fields should be clustered together, and charts and graphs together.</a:t>
            </a:r>
          </a:p>
          <a:p>
            <a:endParaRPr lang="en-GB" sz="1200"/>
          </a:p>
          <a:p>
            <a:r>
              <a:rPr lang="en-GB" sz="1200"/>
              <a:t>With all this in mind I placed KPI cards at the top left, KPIs are the most defining elements of an executive style dashboard, however they need other visuals to provide context hence why I've left them with a size smaller, this is also supported by the fact that charts and graphs take up more space to be readable than text.</a:t>
            </a:r>
            <a:br>
              <a:rPr lang="en-GB" sz="1200"/>
            </a:br>
            <a:r>
              <a:rPr lang="en-GB" sz="1200"/>
              <a:t>Moving onwards is the region heat map, this dashboard is for a commercial business, therefore profit is the most defining factor for success. The more territories a business occupies; the larger the room for potential profit, therefore this is the second most important (and largest) visual, it's also placed at the centre where our eyes are naturally placed. The visuals for Q2-4 have roughly the same importance, the table was placed at the lower left so it's aligned with the other text based fields, whilst the product lines on the top right, as Q2 was linked to the region map, therefore making it the most logical position for reading, assuming that the end-user looks at the product line performance for each region.</a:t>
            </a:r>
          </a:p>
          <a:p>
            <a:endParaRPr lang="en-GB" sz="1200"/>
          </a:p>
          <a:p>
            <a:r>
              <a:rPr lang="en-GB" sz="1200"/>
              <a:t>The line chart was later added for the challenge activities. It was made larger than Q2-Q4 due to it having forecasts and trendlines which are a form of KPI. As for why it's at the bottom right despite its higher importance? It aligns better than when placed at the bar chart position, creating less visual noise.</a:t>
            </a:r>
          </a:p>
          <a:p>
            <a:endParaRPr lang="en-GB" sz="1200"/>
          </a:p>
        </p:txBody>
      </p:sp>
    </p:spTree>
    <p:extLst>
      <p:ext uri="{BB962C8B-B14F-4D97-AF65-F5344CB8AC3E}">
        <p14:creationId xmlns:p14="http://schemas.microsoft.com/office/powerpoint/2010/main" val="22266412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A0B5B8-07DE-03C6-7820-DF1274A611A1}"/>
              </a:ext>
            </a:extLst>
          </p:cNvPr>
          <p:cNvSpPr>
            <a:spLocks noGrp="1"/>
          </p:cNvSpPr>
          <p:nvPr>
            <p:ph type="title"/>
          </p:nvPr>
        </p:nvSpPr>
        <p:spPr>
          <a:xfrm>
            <a:off x="1371599" y="294538"/>
            <a:ext cx="9895951" cy="1033669"/>
          </a:xfrm>
        </p:spPr>
        <p:txBody>
          <a:bodyPr>
            <a:normAutofit/>
          </a:bodyPr>
          <a:lstStyle/>
          <a:p>
            <a:r>
              <a:rPr lang="en-GB" sz="4000">
                <a:solidFill>
                  <a:srgbClr val="FFFFFF"/>
                </a:solidFill>
              </a:rPr>
              <a:t>Polish Pt 1: Improving the Current Dashboard</a:t>
            </a:r>
            <a:endParaRPr lang="en-US"/>
          </a:p>
        </p:txBody>
      </p:sp>
      <p:sp>
        <p:nvSpPr>
          <p:cNvPr id="3" name="TextBox 2">
            <a:extLst>
              <a:ext uri="{FF2B5EF4-FFF2-40B4-BE49-F238E27FC236}">
                <a16:creationId xmlns:a16="http://schemas.microsoft.com/office/drawing/2014/main" id="{D61C4ACB-0059-FBFC-10E1-97787597DD7C}"/>
              </a:ext>
            </a:extLst>
          </p:cNvPr>
          <p:cNvSpPr txBox="1"/>
          <p:nvPr/>
        </p:nvSpPr>
        <p:spPr>
          <a:xfrm>
            <a:off x="781180" y="1985044"/>
            <a:ext cx="3408909" cy="443198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a:solidFill>
                  <a:srgbClr val="005971"/>
                </a:solidFill>
              </a:rPr>
              <a:t>Branding</a:t>
            </a:r>
          </a:p>
          <a:p>
            <a:endParaRPr lang="en-GB" sz="1200" b="1">
              <a:solidFill>
                <a:srgbClr val="005971"/>
              </a:solidFill>
            </a:endParaRPr>
          </a:p>
          <a:p>
            <a:r>
              <a:rPr lang="en-GB" sz="1200"/>
              <a:t>With the template of the dashboard complete it's time to move onto improving how the dashboard looks.</a:t>
            </a:r>
          </a:p>
          <a:p>
            <a:br>
              <a:rPr lang="en-GB" sz="1200"/>
            </a:br>
            <a:r>
              <a:rPr lang="en-GB" sz="1200"/>
              <a:t> The easiest thing to start with is colour. As this dashboard was designed for the employer (</a:t>
            </a:r>
            <a:r>
              <a:rPr lang="en-GB" sz="1200" err="1"/>
              <a:t>Ometis</a:t>
            </a:r>
            <a:r>
              <a:rPr lang="en-GB" sz="1200"/>
              <a:t>) we can derive a colour palette from their existing branding, these would be the bright orange and darker turquoise commonly seen on their website. White will be used as the base coat background as it allows for the most contrast between colours, which improves visibility when paired with black/monochromatic font.</a:t>
            </a:r>
            <a:endParaRPr lang="en-GB"/>
          </a:p>
          <a:p>
            <a:endParaRPr lang="en-GB" sz="1200"/>
          </a:p>
          <a:p>
            <a:r>
              <a:rPr lang="en-GB" sz="1200"/>
              <a:t>Key elements would then be highlighted in either orange or turquoise to indicate key information, these would be KPI values, top customers, the heat map,  or contrast for the donut chart. To finalise the branding, I added the </a:t>
            </a:r>
            <a:r>
              <a:rPr lang="en-GB" sz="1200" err="1"/>
              <a:t>Ometis</a:t>
            </a:r>
            <a:r>
              <a:rPr lang="en-GB" sz="1200"/>
              <a:t> logo to the top right of the dashboard.</a:t>
            </a:r>
            <a:endParaRPr lang="en-GB"/>
          </a:p>
        </p:txBody>
      </p:sp>
      <p:sp>
        <p:nvSpPr>
          <p:cNvPr id="4" name="TextBox 3">
            <a:extLst>
              <a:ext uri="{FF2B5EF4-FFF2-40B4-BE49-F238E27FC236}">
                <a16:creationId xmlns:a16="http://schemas.microsoft.com/office/drawing/2014/main" id="{D2FFE660-58E7-DF5C-73A1-2AC83F63BBAD}"/>
              </a:ext>
            </a:extLst>
          </p:cNvPr>
          <p:cNvSpPr txBox="1"/>
          <p:nvPr/>
        </p:nvSpPr>
        <p:spPr>
          <a:xfrm>
            <a:off x="4465921" y="1974605"/>
            <a:ext cx="7041456"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a:solidFill>
                  <a:srgbClr val="005971"/>
                </a:solidFill>
              </a:rPr>
              <a:t>Improving User Experience</a:t>
            </a:r>
          </a:p>
          <a:p>
            <a:endParaRPr lang="en-GB" sz="1200" b="1">
              <a:solidFill>
                <a:srgbClr val="005971"/>
              </a:solidFill>
            </a:endParaRPr>
          </a:p>
          <a:p>
            <a:r>
              <a:rPr lang="en-GB" sz="1200"/>
              <a:t>There are several methods to go about this but the simplest is consistency. I went through all the visuals and ensured that the font-size, colour, and background borders all had the same formatting. From there I moved onto metric consistency – numerical data will all have the same decimal places where applicable, currency will use '£' since </a:t>
            </a:r>
            <a:r>
              <a:rPr lang="en-GB" sz="1200" err="1"/>
              <a:t>Ometis</a:t>
            </a:r>
            <a:r>
              <a:rPr lang="en-GB" sz="1200"/>
              <a:t> is UK based, and data labels use the same formatting. That being said, I had some issues with expressions so I wasn't able do this for every piece of data and visual (e.g. Heat map legend).</a:t>
            </a:r>
          </a:p>
          <a:p>
            <a:endParaRPr lang="en-GB" sz="1200"/>
          </a:p>
          <a:p>
            <a:r>
              <a:rPr lang="en-GB" sz="1200"/>
              <a:t>Removing redundant data improves readability. If the title states what the visual is, then it's unlikely you will need axis titles, (some) legends, or data labels if the axis is readable. Ensure that all visuals have an appropriate amount of data to extract information from, too little leaves the question of why you have the visual in the first place, therefore enable data labels if needed (donut chart), whereas some visuals are better off having them turned off due to an overabundance of data (line graph). Another way to improve readability are axis ranges. By exaggerating axis ranges, it becomes much easier to compare values on the same graph. This was applied for the min value (of the bar chart) using an expression that takes the minimum value of the top 5 customers, and rounding down (floor) to the nearest million.</a:t>
            </a:r>
          </a:p>
          <a:p>
            <a:endParaRPr lang="en-GB" sz="1200"/>
          </a:p>
          <a:p>
            <a:r>
              <a:rPr lang="en-GB" sz="1200"/>
              <a:t>White spacing can also help, and it limits information bloat. Fortunately, by default visuals have spacing due to their 'snap to grid' characteristics. For visuals which seem compact, padding can be added using CSS. This was applied to the heat map on the left and right (CSS style on the KPI card next to the buttons).</a:t>
            </a:r>
          </a:p>
        </p:txBody>
      </p:sp>
    </p:spTree>
    <p:extLst>
      <p:ext uri="{BB962C8B-B14F-4D97-AF65-F5344CB8AC3E}">
        <p14:creationId xmlns:p14="http://schemas.microsoft.com/office/powerpoint/2010/main" val="36298208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A0B5B8-07DE-03C6-7820-DF1274A611A1}"/>
              </a:ext>
            </a:extLst>
          </p:cNvPr>
          <p:cNvSpPr>
            <a:spLocks noGrp="1"/>
          </p:cNvSpPr>
          <p:nvPr>
            <p:ph type="title"/>
          </p:nvPr>
        </p:nvSpPr>
        <p:spPr>
          <a:xfrm>
            <a:off x="1371599" y="294538"/>
            <a:ext cx="9895951" cy="1033669"/>
          </a:xfrm>
        </p:spPr>
        <p:txBody>
          <a:bodyPr>
            <a:normAutofit/>
          </a:bodyPr>
          <a:lstStyle/>
          <a:p>
            <a:r>
              <a:rPr lang="en-GB" sz="4000">
                <a:solidFill>
                  <a:srgbClr val="FFFFFF"/>
                </a:solidFill>
              </a:rPr>
              <a:t>Polish Pt 2: Stretch</a:t>
            </a:r>
            <a:endParaRPr lang="en-US"/>
          </a:p>
        </p:txBody>
      </p:sp>
      <p:sp>
        <p:nvSpPr>
          <p:cNvPr id="3" name="TextBox 2">
            <a:extLst>
              <a:ext uri="{FF2B5EF4-FFF2-40B4-BE49-F238E27FC236}">
                <a16:creationId xmlns:a16="http://schemas.microsoft.com/office/drawing/2014/main" id="{D61C4ACB-0059-FBFC-10E1-97787597DD7C}"/>
              </a:ext>
            </a:extLst>
          </p:cNvPr>
          <p:cNvSpPr txBox="1"/>
          <p:nvPr/>
        </p:nvSpPr>
        <p:spPr>
          <a:xfrm>
            <a:off x="700818" y="1773258"/>
            <a:ext cx="11043874" cy="35086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dirty="0">
                <a:solidFill>
                  <a:srgbClr val="005971"/>
                </a:solidFill>
              </a:rPr>
              <a:t>KPIs</a:t>
            </a:r>
          </a:p>
          <a:p>
            <a:endParaRPr lang="en-GB" sz="1200" b="1">
              <a:solidFill>
                <a:srgbClr val="005971"/>
              </a:solidFill>
            </a:endParaRPr>
          </a:p>
          <a:p>
            <a:r>
              <a:rPr lang="en-GB" sz="1200" dirty="0"/>
              <a:t>The first line of action would be to add the final visual, the 'gross sales by year'; which is suitable for a line graph due to it having fluctuating data. Asides from the forecast of next year's gross sales, I also added an average trendline which will help indicate whether performance of gross sales is doing better or worse than normal. In the same vein, a reference line was added to the top 5 customers showing the average gross sales amongst customers.</a:t>
            </a:r>
          </a:p>
          <a:p>
            <a:endParaRPr lang="en-GB" sz="1200" dirty="0"/>
          </a:p>
          <a:p>
            <a:r>
              <a:rPr lang="en-GB" sz="1200" dirty="0"/>
              <a:t>Originally the 4 KPI cards underneath 'Total Gross Sales' KPI card was for sales quantity. This was later changed to its current state for better KPI tracking. These visuals would indicate the overall financial performance by comparing the gross sales of the current year to the previous fiscal year. Year over year growth would compare months of the last year to the current year to determine periods of growth or regression, whereas the current to previous year would be treated as a target to be met. To improve on these visuals, I added conditional formatting for better readability – red suggests poor performance and green good, similarly icons were used for further emphasis. The conditional formatting for the current year was set based on: </a:t>
            </a:r>
            <a:br>
              <a:rPr lang="en-GB" sz="1200" dirty="0"/>
            </a:br>
            <a:endParaRPr lang="en-GB" sz="1200" dirty="0"/>
          </a:p>
          <a:p>
            <a:r>
              <a:rPr lang="en-GB" sz="1200" i="1" dirty="0"/>
              <a:t>(Previous Year / Number of month) * Current month</a:t>
            </a:r>
          </a:p>
          <a:p>
            <a:endParaRPr lang="en-GB" sz="1200" i="1" dirty="0"/>
          </a:p>
          <a:p>
            <a:r>
              <a:rPr lang="en-GB" sz="1200" dirty="0"/>
              <a:t>This would set a goal to be met on a monthly basis, to tell whether the business is on track using previous year gross sales, as soon as the goal is met or exceeded, the current year performance will be green. Similarly year over year growth does this but when above 0%. That being said, these KPI cards could be improved, as their current expressions do use not variable values making them unadaptable to live data – this means, in its current state a developer must manually update the expressions every month for accurate KPI tracking.</a:t>
            </a:r>
          </a:p>
        </p:txBody>
      </p:sp>
      <p:sp>
        <p:nvSpPr>
          <p:cNvPr id="4" name="TextBox 3">
            <a:extLst>
              <a:ext uri="{FF2B5EF4-FFF2-40B4-BE49-F238E27FC236}">
                <a16:creationId xmlns:a16="http://schemas.microsoft.com/office/drawing/2014/main" id="{D4CE655D-603C-0720-56BE-D8242608A7DE}"/>
              </a:ext>
            </a:extLst>
          </p:cNvPr>
          <p:cNvSpPr txBox="1"/>
          <p:nvPr/>
        </p:nvSpPr>
        <p:spPr>
          <a:xfrm>
            <a:off x="700817" y="5445547"/>
            <a:ext cx="11043874"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dirty="0">
                <a:solidFill>
                  <a:srgbClr val="005971"/>
                </a:solidFill>
              </a:rPr>
              <a:t>Dashboard States</a:t>
            </a:r>
          </a:p>
          <a:p>
            <a:endParaRPr lang="en-GB" sz="1200" b="1">
              <a:solidFill>
                <a:srgbClr val="005971"/>
              </a:solidFill>
            </a:endParaRPr>
          </a:p>
          <a:p>
            <a:r>
              <a:rPr lang="en-GB" sz="1200" dirty="0"/>
              <a:t>The final hurdle is to implement a method to toggle between gross sales and profit. As the dashboard is designed to be executive style, this should ideally be done on a single sheet. This could be achieved through action buttons that would change a global variable to indicate a state change of the dashboard. The visuals of the dashboard were then repurposed using the new global variable as its measure.</a:t>
            </a:r>
            <a:endParaRPr lang="en-GB" dirty="0"/>
          </a:p>
        </p:txBody>
      </p:sp>
    </p:spTree>
    <p:extLst>
      <p:ext uri="{BB962C8B-B14F-4D97-AF65-F5344CB8AC3E}">
        <p14:creationId xmlns:p14="http://schemas.microsoft.com/office/powerpoint/2010/main" val="11248045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A0B5B8-07DE-03C6-7820-DF1274A611A1}"/>
              </a:ext>
            </a:extLst>
          </p:cNvPr>
          <p:cNvSpPr>
            <a:spLocks noGrp="1"/>
          </p:cNvSpPr>
          <p:nvPr>
            <p:ph type="title"/>
          </p:nvPr>
        </p:nvSpPr>
        <p:spPr>
          <a:xfrm>
            <a:off x="1371599" y="294538"/>
            <a:ext cx="9895951" cy="1033669"/>
          </a:xfrm>
        </p:spPr>
        <p:txBody>
          <a:bodyPr>
            <a:normAutofit/>
          </a:bodyPr>
          <a:lstStyle/>
          <a:p>
            <a:r>
              <a:rPr lang="en-GB" sz="4000">
                <a:solidFill>
                  <a:srgbClr val="FFFFFF"/>
                </a:solidFill>
              </a:rPr>
              <a:t>Testing/Debugging</a:t>
            </a:r>
            <a:endParaRPr lang="en-US"/>
          </a:p>
        </p:txBody>
      </p:sp>
      <p:sp>
        <p:nvSpPr>
          <p:cNvPr id="3" name="TextBox 2">
            <a:extLst>
              <a:ext uri="{FF2B5EF4-FFF2-40B4-BE49-F238E27FC236}">
                <a16:creationId xmlns:a16="http://schemas.microsoft.com/office/drawing/2014/main" id="{D61C4ACB-0059-FBFC-10E1-97787597DD7C}"/>
              </a:ext>
            </a:extLst>
          </p:cNvPr>
          <p:cNvSpPr txBox="1"/>
          <p:nvPr/>
        </p:nvSpPr>
        <p:spPr>
          <a:xfrm>
            <a:off x="1376166" y="1953729"/>
            <a:ext cx="8889047"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a:solidFill>
                  <a:srgbClr val="005971"/>
                </a:solidFill>
              </a:rPr>
              <a:t>Testing &amp; Patching the Dashboard</a:t>
            </a:r>
          </a:p>
          <a:p>
            <a:endParaRPr lang="en-GB" sz="1200" b="1"/>
          </a:p>
          <a:p>
            <a:r>
              <a:rPr lang="en-GB" sz="1200"/>
              <a:t>After creating a product, it should always be tested, as the end-user shouldn't encounter and subsequently deal with problems with the dashboard shouldn't have in the first place. Two main forms of testing exist, black-box and white-box testing. </a:t>
            </a:r>
            <a:endParaRPr lang="en-GB"/>
          </a:p>
          <a:p>
            <a:endParaRPr lang="en-GB" sz="1200"/>
          </a:p>
          <a:p>
            <a:r>
              <a:rPr lang="en-GB" sz="1200"/>
              <a:t>As the sole developer I will be responsible for the white-box testing, as I'm the only person with a full grasp of how the dashboard and its internal components work. The testing carried out mainly focused on accuracy of data with and without filters applied, this will ensure that the correct visual data is displayed to the end-user. To do this we need to identify where any numerical errors are present within expressions. One such case was found on the 'Current Year' gross sales, where the numbers on the visual weren't aligned with when manually calculated – it turns out that I had used 'sales' instead of 'gross sales' in the expression.</a:t>
            </a:r>
            <a:endParaRPr lang="en-GB"/>
          </a:p>
          <a:p>
            <a:endParaRPr lang="en-GB" sz="1200"/>
          </a:p>
          <a:p>
            <a:r>
              <a:rPr lang="en-GB" sz="1200"/>
              <a:t>On the other hand, I would need someone who was not involved with the development to act as the black-box tester. Ideally an end-user candidate would take this role, but I'm not familiar with any executive-level management, so I asked a friend with no experience with data analytics to test the product, which would facilitate the usability of the dashboard for new users.</a:t>
            </a:r>
            <a:endParaRPr lang="en-GB"/>
          </a:p>
          <a:p>
            <a:endParaRPr lang="en-GB" sz="1200"/>
          </a:p>
          <a:p>
            <a:r>
              <a:rPr lang="en-GB" sz="1200"/>
              <a:t>Normally a series of activities would be given to the tester to facilitate various use case scenarios, but we have an activity sheet from the PDF, so that was used instead. Overall, there were no issues asides from when the dashboard was loaded up, however this was a visual bug caused by the '</a:t>
            </a:r>
            <a:r>
              <a:rPr lang="en-GB" sz="1200" err="1"/>
              <a:t>vToggle_measure</a:t>
            </a:r>
            <a:r>
              <a:rPr lang="en-GB" sz="1200"/>
              <a:t>' not initially being assigned a value, this could be avoided by toggling on 'Gross Sales' or 'Profit'. This was later addressed by giving '</a:t>
            </a:r>
            <a:r>
              <a:rPr lang="en-GB" sz="1200" err="1"/>
              <a:t>vToggle_measure</a:t>
            </a:r>
            <a:r>
              <a:rPr lang="en-GB" sz="1200"/>
              <a:t>' an initial value of 'Sum(</a:t>
            </a:r>
            <a:r>
              <a:rPr lang="en-GB" sz="1200" err="1"/>
              <a:t>GrossSales</a:t>
            </a:r>
            <a:r>
              <a:rPr lang="en-GB" sz="1200"/>
              <a:t>)'.</a:t>
            </a:r>
          </a:p>
        </p:txBody>
      </p:sp>
    </p:spTree>
    <p:extLst>
      <p:ext uri="{BB962C8B-B14F-4D97-AF65-F5344CB8AC3E}">
        <p14:creationId xmlns:p14="http://schemas.microsoft.com/office/powerpoint/2010/main" val="31950807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20</Slides>
  <Notes>0</Notes>
  <HiddenSlides>0</HiddenSlide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Q1)  Which Region had the highest (Gross) sales?</vt:lpstr>
      <vt:lpstr>Q2)  Which was the best-selling product line in that region?</vt:lpstr>
      <vt:lpstr>Q3)  Who are the top 10 sales reps globally?</vt:lpstr>
      <vt:lpstr>Q4)  Who was the biggest  customer globally?</vt:lpstr>
      <vt:lpstr>Does this dashboard follow the guidelines?</vt:lpstr>
      <vt:lpstr>SC1)  Can you project next year's sales?</vt:lpstr>
      <vt:lpstr>SC2)  Can you answer the previous questions but for profit?</vt:lpstr>
      <vt:lpstr>SC2.1)  Which Region had the highest profit?</vt:lpstr>
      <vt:lpstr>SC2.2)  Which was the best-selling (profit) product line in that region?</vt:lpstr>
      <vt:lpstr>SC2.3)  Who are the top 10 sales reps for profit globally?</vt:lpstr>
      <vt:lpstr>SC2.4)  Who was the biggest customer for profit globally?</vt:lpstr>
      <vt:lpstr>SC2.5)  Can you project next year's profit?</vt:lpstr>
      <vt:lpstr>Reflection</vt:lpstr>
      <vt:lpstr>Development Process</vt:lpstr>
      <vt:lpstr>Breaking Down the Problem Statement</vt:lpstr>
      <vt:lpstr>Planning</vt:lpstr>
      <vt:lpstr>Implementation</vt:lpstr>
      <vt:lpstr>Polish Pt 1: Improving the Current Dashboard</vt:lpstr>
      <vt:lpstr>Polish Pt 2: Stretch</vt:lpstr>
      <vt:lpstr>Testing/Debugging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175</cp:revision>
  <dcterms:created xsi:type="dcterms:W3CDTF">2024-11-19T23:18:30Z</dcterms:created>
  <dcterms:modified xsi:type="dcterms:W3CDTF">2024-11-21T15:06:29Z</dcterms:modified>
</cp:coreProperties>
</file>